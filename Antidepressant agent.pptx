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1"/>
  </p:notesMasterIdLst>
  <p:sldIdLst>
    <p:sldId id="256" r:id="rId2"/>
    <p:sldId id="404" r:id="rId3"/>
    <p:sldId id="405" r:id="rId4"/>
    <p:sldId id="400" r:id="rId5"/>
    <p:sldId id="401" r:id="rId6"/>
    <p:sldId id="257" r:id="rId7"/>
    <p:sldId id="258" r:id="rId8"/>
    <p:sldId id="260" r:id="rId9"/>
    <p:sldId id="261" r:id="rId10"/>
    <p:sldId id="262" r:id="rId11"/>
    <p:sldId id="268" r:id="rId12"/>
    <p:sldId id="267" r:id="rId13"/>
    <p:sldId id="263" r:id="rId14"/>
    <p:sldId id="264" r:id="rId15"/>
    <p:sldId id="265" r:id="rId16"/>
    <p:sldId id="266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87" r:id="rId26"/>
    <p:sldId id="277" r:id="rId27"/>
    <p:sldId id="288" r:id="rId28"/>
    <p:sldId id="278" r:id="rId29"/>
    <p:sldId id="279" r:id="rId30"/>
    <p:sldId id="290" r:id="rId31"/>
    <p:sldId id="291" r:id="rId32"/>
    <p:sldId id="280" r:id="rId33"/>
    <p:sldId id="281" r:id="rId34"/>
    <p:sldId id="282" r:id="rId35"/>
    <p:sldId id="283" r:id="rId36"/>
    <p:sldId id="292" r:id="rId37"/>
    <p:sldId id="285" r:id="rId38"/>
    <p:sldId id="309" r:id="rId39"/>
    <p:sldId id="286" r:id="rId40"/>
    <p:sldId id="310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11" r:id="rId53"/>
    <p:sldId id="306" r:id="rId54"/>
    <p:sldId id="307" r:id="rId55"/>
    <p:sldId id="308" r:id="rId56"/>
    <p:sldId id="348" r:id="rId57"/>
    <p:sldId id="313" r:id="rId58"/>
    <p:sldId id="347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43" r:id="rId71"/>
    <p:sldId id="344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88" r:id="rId86"/>
    <p:sldId id="340" r:id="rId87"/>
    <p:sldId id="387" r:id="rId88"/>
    <p:sldId id="349" r:id="rId89"/>
    <p:sldId id="350" r:id="rId90"/>
    <p:sldId id="351" r:id="rId91"/>
    <p:sldId id="390" r:id="rId92"/>
    <p:sldId id="391" r:id="rId93"/>
    <p:sldId id="352" r:id="rId94"/>
    <p:sldId id="353" r:id="rId95"/>
    <p:sldId id="354" r:id="rId96"/>
    <p:sldId id="355" r:id="rId97"/>
    <p:sldId id="356" r:id="rId98"/>
    <p:sldId id="357" r:id="rId99"/>
    <p:sldId id="358" r:id="rId100"/>
    <p:sldId id="359" r:id="rId101"/>
    <p:sldId id="360" r:id="rId102"/>
    <p:sldId id="361" r:id="rId103"/>
    <p:sldId id="362" r:id="rId104"/>
    <p:sldId id="363" r:id="rId105"/>
    <p:sldId id="364" r:id="rId106"/>
    <p:sldId id="365" r:id="rId107"/>
    <p:sldId id="366" r:id="rId108"/>
    <p:sldId id="393" r:id="rId109"/>
    <p:sldId id="367" r:id="rId110"/>
    <p:sldId id="368" r:id="rId111"/>
    <p:sldId id="369" r:id="rId112"/>
    <p:sldId id="370" r:id="rId113"/>
    <p:sldId id="371" r:id="rId114"/>
    <p:sldId id="372" r:id="rId115"/>
    <p:sldId id="373" r:id="rId116"/>
    <p:sldId id="394" r:id="rId117"/>
    <p:sldId id="395" r:id="rId118"/>
    <p:sldId id="396" r:id="rId119"/>
    <p:sldId id="402" r:id="rId1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4" d="100"/>
          <a:sy n="64" d="100"/>
        </p:scale>
        <p:origin x="-1566" y="-1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35C6E4-7281-4AB6-8242-AC84CF03936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F8CAB-99A5-4FCE-AD05-C1BE47425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31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F8CAB-99A5-4FCE-AD05-C1BE47425A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87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F8CAB-99A5-4FCE-AD05-C1BE47425A3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02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F8CAB-99A5-4FCE-AD05-C1BE47425A3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83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F8CAB-99A5-4FCE-AD05-C1BE47425A3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74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F8CAB-99A5-4FCE-AD05-C1BE47425A3B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13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F8CAB-99A5-4FCE-AD05-C1BE47425A3B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86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C39CE-CC1E-4FAA-9DB5-5FC2A50E856E}" type="datetime1">
              <a:rPr lang="en-US" smtClean="0"/>
              <a:t>11/11/2024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950E7-8310-4ACB-8AE1-DE720DAFB948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945D685-23A2-4DB2-8B9B-933D0B22C7C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EF74-6296-4B8F-A2B3-64F7F6837F14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80C60-1ABA-41BD-B4F6-EE9E05FA8DA8}" type="datetime1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FB064-3146-410F-BB6F-7F82D947818C}" type="datetime1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4319-050E-4284-B7E2-AD96F3CE51C7}" type="datetime1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F47B-288D-408A-9BF0-B629F61BFE39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912A1-4F0F-41F6-B2D7-38BC3B94BE1A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4B478-0056-4D2D-A348-004B12B950C7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D304-87C3-49A1-969B-426D441BD6F3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39FC8A3-262F-466F-8EE3-FDB64A58FF57}" type="datetime1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945D685-23A2-4DB2-8B9B-933D0B22C7C2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/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097E-F6FF-4349-87DC-2125261E5F5A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81000" y="685800"/>
            <a:ext cx="8077200" cy="5486400"/>
          </a:xfrm>
          <a:prstGeom prst="rect">
            <a:avLst/>
          </a:prstGeom>
          <a:solidFill>
            <a:schemeClr val="bg2"/>
          </a:solidFill>
          <a:scene3d>
            <a:camera prst="perspective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 AGENT</a:t>
            </a:r>
            <a:endParaRPr lang="en-US" sz="4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128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4319-050E-4284-B7E2-AD96F3CE51C7}" type="datetime1">
              <a:rPr lang="en-US" smtClean="0"/>
              <a:t>11/11/2024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52400" y="685800"/>
            <a:ext cx="8077200" cy="5486400"/>
          </a:xfrm>
          <a:prstGeom prst="rect">
            <a:avLst/>
          </a:prstGeom>
          <a:solidFill>
            <a:schemeClr val="bg2"/>
          </a:solidFill>
          <a:scene3d>
            <a:camera prst="perspective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20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4000" dirty="0" smtClean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COURSE OUTLINE</a:t>
            </a:r>
            <a:endParaRPr lang="en-US" sz="2000" dirty="0" smtClean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 </a:t>
            </a: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 DEPRESSION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BRIEF HISTORY OF MAJOR DEPRESSION DISORDERS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USE OF ANTIDEPRESSANT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PATHOPHYSIOLOGY OF MAJOR DEPRESSION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NEUROTROPHIC HYPOTHESIS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MONOAMINES HYPOTHESIS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NEUROENDOCRINE FACTORS IN THE PATHOPHYSIOLOGY OF DEPRESSION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BASIC PHARMACOLOGY OF ANTIDEPRESSANT.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059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4319-050E-4284-B7E2-AD96F3CE51C7}" type="datetime1">
              <a:rPr lang="en-US" smtClean="0"/>
              <a:t>11/11/2024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76200" y="660816"/>
            <a:ext cx="8610600" cy="5486400"/>
          </a:xfrm>
          <a:prstGeom prst="rect">
            <a:avLst/>
          </a:prstGeom>
          <a:solidFill>
            <a:schemeClr val="bg2"/>
          </a:solidFill>
          <a:scene3d>
            <a:camera prst="perspective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4000" dirty="0" smtClean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COURSE OUTLINE</a:t>
            </a:r>
            <a:r>
              <a:rPr lang="en-US" sz="2000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2000" dirty="0" smtClean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PHAMACOKINECTICS </a:t>
            </a: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OF ANTIDEPRESSANT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PHACODYNAMICS OF ANTIDEPRESSANT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PHARMACOLOGY OF ANTIDEPRESSANT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FACTORS THAT INFLUENCE ANTIDEPRESSANT SELECTION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DOSING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ADVERSE EFFECTS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OVERDOSE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DRUG INTERACTION</a:t>
            </a:r>
          </a:p>
        </p:txBody>
      </p:sp>
    </p:spTree>
    <p:extLst>
      <p:ext uri="{BB962C8B-B14F-4D97-AF65-F5344CB8AC3E}">
        <p14:creationId xmlns:p14="http://schemas.microsoft.com/office/powerpoint/2010/main" val="361690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dirty="0" smtClean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4400" dirty="0" smtClean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COURSE </a:t>
            </a:r>
            <a:r>
              <a:rPr lang="en-US" sz="4400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OUTLINE</a:t>
            </a:r>
            <a:br>
              <a:rPr lang="en-US" sz="4400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 </a:t>
            </a: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 DEPRESSION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BRIEF HISTORY OF MAJOR DEPRESSION DISORDERS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USE OF ANTIDEPRESSANT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PATHOPHYSIOLOGY OF MAJOR DEPRESSION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NEUROTROPHIC HYPOTHESIS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MONOAMINES 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HYPOTHESIS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NEUROENDOCRINE FACTORS IN </a:t>
            </a:r>
            <a:r>
              <a:rPr 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THE PATHOPHYSIOLOGY 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DEPRESSION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BASIC PHARMACOLOGY OF ANTIDEPRESSANT.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7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COURSE OUTLINE</a:t>
            </a:r>
            <a:br>
              <a:rPr lang="en-US" sz="4000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PHAMACOKINECTICS OF ANTIDEPRESSANT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PHACODYNAMICS OF ANTIDEPRESSANT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PHARMACOLOGY OF ANTIDEPRESSANT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FACTORS THAT INFLUENCE ANTIDEPRESSANT SELECTION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DOSING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ADVERSE EFFECTS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OVERDOSE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DRUG INTERACTION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12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effectLst/>
                <a:latin typeface="Times New Roman" pitchFamily="18" charset="0"/>
                <a:cs typeface="Times New Roman" pitchFamily="18" charset="0"/>
              </a:rPr>
              <a:t>INTRODUCTION TO DEPRESSION</a:t>
            </a:r>
            <a:endParaRPr lang="en-US" sz="4000" dirty="0">
              <a:solidFill>
                <a:schemeClr val="bg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epression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characterized by disturbances in sleep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appetite.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well as deficits in cognition and energy.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Thoughts of guilt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worthlessness, and suicide 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common in depressed people.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diagnosis of depression still rests primarily on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clinical interview.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Major depressive disorder (MDD) 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characterized by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depressed mood most of the time for at least 2 weeks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and/or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loss of interest or pleasure in most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activities.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00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  <a:latin typeface="Times New Roman" pitchFamily="18" charset="0"/>
                <a:cs typeface="Times New Roman" pitchFamily="18" charset="0"/>
              </a:rPr>
              <a:t>INTRODUCTION TO DEPRESSION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953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Disease mostly common in depressed people are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Coronary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arterydisease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Diabetes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Stroke.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epression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may considerably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worsen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prognosis for patients with a variety of comorbid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medical conditions.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875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BRIEF HISTORY OF MAJOR DEPRESSION </a:t>
            </a:r>
            <a:endParaRPr 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According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a 2007 report by the Centers for Disease Control and Prevention, antidepressant drugs were the most commonly prescribed medications in the USA at the time of the survey.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MDD represents one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the most common causes of disability in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developed world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addition, major depression is commonly associated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 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variety of medical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conditions,from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chronic pain to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coronary artery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disease.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depression coexists with other medical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conditions,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patient’s disease burden increases, and the quality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life.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often the prognosis for effective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treatment decreases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significantly.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52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USE OF ANTIDEPRESSANT</a:t>
            </a:r>
            <a:endParaRPr 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ntidepressants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have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received Food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Drug Administration (FDA) approvals for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treatment of panic disorders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Antidepressants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are commonly used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treat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pain disorders such as neuropathic pain and the pain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associated with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fibromyalgia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ntidepressants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are used for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treating premenstrual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dysphoric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disorder (PMDD), mitigating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vasomotor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symptoms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menopause.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Antidepressants are used for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treating stress urinary incontinence.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heir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primary use remains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treatment for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MDD</a:t>
            </a:r>
            <a:r>
              <a:rPr lang="en-US" sz="2000" dirty="0"/>
              <a:t>.</a:t>
            </a:r>
          </a:p>
          <a:p>
            <a:pPr marL="13716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02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PATHOPHYSIOLOGY OF MAJOR DEPRESSION</a:t>
            </a:r>
            <a:endParaRPr 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deficit in function or amount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monoamines (the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monoamine hypothesis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is central to the biology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depression</a:t>
            </a:r>
          </a:p>
          <a:p>
            <a:pPr algn="just">
              <a:lnSpc>
                <a:spcPct val="150000"/>
              </a:lnSpc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eurotrophic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endocrine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factors play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major role (the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neurotrophic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hypothesis) 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Histologic studies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structural and functional brain imaging research,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genetic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findings, and steroid research all suggest a complex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pathophysiology for major depression disorder with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important implications for drug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treatment.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03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NEUROTROPHIC HYPOTHESIS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There is substantial evidence that nerve growth factors such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brain-derived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neurotrophic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factor (BDNF)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are critical 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regulation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neural plasticity, resilience,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neurogenesis.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evidence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suggests that depression is associated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loss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neurotrophic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support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Effective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antidepressant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therapies increase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neurogenesis and synaptic connectivity in cortical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areas such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hippocampus</a:t>
            </a: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BDNF is thought to exert its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influence 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neuronal survival and growth effects by activating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tyrosine kinase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receptor B in both neurons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glia.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89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4319-050E-4284-B7E2-AD96F3CE51C7}" type="datetime1">
              <a:rPr lang="en-US" smtClean="0"/>
              <a:t>11/11/2024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775"/>
            <a:ext cx="9144000" cy="69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401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NEUROTROPHIC HYPOTHESIS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Over 30 structural imaging studies suggest that major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depression 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associated with a 5–10% loss of volume in the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hippocampus,although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some studies have not replicated this finding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Depression and chronic stress states have also been associated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 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substantial loss of volume in the anterior cingulate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medial orbital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frontal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cortex.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Loss of volume in structures such as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hippocampus also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appears to increase as a function of the duration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illness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the amount of time that the depression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remains untreated.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0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NEUROTROPHIC HYPOTHESIS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Direct infusion of BDNF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into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midbrain, hippocampus, and lateral ventricles of rodents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has an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antidepressant-like effect in animal models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All known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classes of antidepressants are associated with an increase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BDNF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levels in animal models with chronic (but not acute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 administration.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Mutations 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BDNF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gene have been found to be associated with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altered anxiety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depressive behavior in both animal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human studies.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05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MONOAMINES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HYPOTHESIS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Monoamines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hyposynthesis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suggests that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depression is related to a deficiency in the amount 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function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cortical and limbic serotonin (5-HT), norepinephrine (NE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),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dopamine (DA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Reserpine treatment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which is known to deplete monoamines, 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associated with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depression in a subset of patients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Depressed patients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who respond to serotonergic antidepressants such as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fluoxetine often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rapidly suffer relapse when given diets free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tryptophan, 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precursor of serotonin synthesis.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42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MONOAMINES</a:t>
            </a:r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HYPOTHESIS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Patients who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respond to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noradrenergic antidepressants such as desipramine are less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likely to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relapse on a tryptophan-free diet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epleting catecholamines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depressed patients who have previously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responded to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noradrenergic agents likewise tends to be associated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 relapse.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Administration of an inhibitor of norepinephrine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synthesis 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also associated with a rapid return of depressive symptoms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patients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who respond to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noradrenergic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But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not necessarily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patients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who had responded to serotonergic antidepressants.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45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MONOAMINES</a:t>
            </a: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HYPOTHESIS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 monoamine hypothesis also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comes from genetic studies.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functional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polymorphism exists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the promoter region of the serotonin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transporter gene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which regulates how much of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transporter protein is available.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Subjects who are homozygous for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s(short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allele may be more vulnerable to developing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major depression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suicidal behavior in response to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stress.</a:t>
            </a:r>
          </a:p>
          <a:p>
            <a:pPr algn="just">
              <a:lnSpc>
                <a:spcPct val="150000"/>
              </a:lnSpc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Conversely,subjects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 the l (long) allele tend to be more resistant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stress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may be more likely to respond to serotonergic antidepressants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08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MONOAMINES</a:t>
            </a: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HYPOTHESIS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reduction in the primary serotonin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metabolite 5-hydroxyindoleacetic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acid in the cerebrospinal fluid 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associated with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violent and impulsive behavior, including violent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suicide attempts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37160" indent="0" algn="just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52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0" y="5715000"/>
            <a:ext cx="9144000" cy="1143000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AMINE HYPOSYNTHESIS OF MAJOR DEPRESSION</a:t>
            </a:r>
            <a:endParaRPr 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9120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72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NEUROENDOCRINE FACTORS IN THE</a:t>
            </a:r>
            <a:b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PATHOPHYSIOLOGY OF DEPRESSION</a:t>
            </a:r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Depression is known to be associated with a number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hormonal abnormalities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Among the most replicated of these findings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 abnormalities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the HPA axis in patients with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MDD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Major depression disorder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associated with elevated cortisol levels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nonsuppression of adrenocorticotropic hormone (ACTH) release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dexamethasone suppression test, and chronically elevated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levels of corticotrophins-releasing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hormone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Thyroid dysregulation has also been reported 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depressed patients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Up to 25% of depressed patients are reported to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have abnormal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thyroid function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37160" indent="0" algn="just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37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NEUROENDOCRINE FACTORS IN THE</a:t>
            </a:r>
            <a:b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PATHOPHYSIOLOGY OF DEPRESSION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7091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These include a blunting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response of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thyrotropin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thyrotropin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-releasing hormone,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elevations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circulating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thyroxine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during depressed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states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Thyroid hormones are also commonly used 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conjunction with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standard antidepressants to augment therapeutic effects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latter.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sex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steroids are also implicated in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pathophysiology of depression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Estrogen deficiency states, which occur 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postpartum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postmenopausal periods, are thought to play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role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the etiology of depression in some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women.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Severe testosterone deficiency in men is sometimes associated with depressive symptoms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80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BASIC PHARMACOLOGY OF</a:t>
            </a:r>
            <a:b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18" y="1371600"/>
            <a:ext cx="8991600" cy="5181600"/>
          </a:xfrm>
        </p:spPr>
        <p:txBody>
          <a:bodyPr>
            <a:normAutofit lnSpcReduction="10000"/>
          </a:bodyPr>
          <a:lstStyle/>
          <a:p>
            <a:pPr marL="137160" indent="0" algn="just">
              <a:lnSpc>
                <a:spcPct val="170000"/>
              </a:lnSpc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SELECTIVE SEROTONIN REUPTAKE INHIBITORS</a:t>
            </a: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selective serotonin reuptake inhibitors (SSRIs) represent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chemically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diverse class of agents that have as their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primary action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inhibition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the serotonin transporter (SERT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There are currently six available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SSRIs,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they are the most common antidepressants in clinical use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 addition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their use in major depression, SSRIs have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indications 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GAD, PTSD, OCD, panic disorder, PMDD,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bulimia.</a:t>
            </a:r>
          </a:p>
          <a:p>
            <a:pPr algn="just">
              <a:lnSpc>
                <a:spcPct val="16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Fluoxetine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, sertraline,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citalopram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exist as isomers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 formulated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the racemic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forms.</a:t>
            </a:r>
          </a:p>
          <a:p>
            <a:pPr algn="just">
              <a:lnSpc>
                <a:spcPct val="16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7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26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BASIC PHARMACOLOGY OF</a:t>
            </a:r>
            <a:b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Escitalopram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the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enantiomer of citalopram. As with all antidepressants, SSRIs are highly lipophilic.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development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fluoxetine emerged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out of the search for chemicals that had high affinity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monoamine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receptors but lacked the affinity for histamine,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acetylcholine,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α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adrenoceptors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that is seen with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tricyclic antidepressants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(TCAs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popularity of SSRIs stems largely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from their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ease of use, safety in overdose, relative tolerability, cost 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all except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escitalopram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are generically available), and broad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spectrum of use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7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BASIC PHARMACOLOGY OF</a:t>
            </a:r>
            <a:b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915400" cy="5181600"/>
          </a:xfrm>
        </p:spPr>
        <p:txBody>
          <a:bodyPr>
            <a:normAutofit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SEROTONIN-NOREPINEPHRINE REUPTAKE INHIBITORS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Two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classes of antidepressants act as combined serotonin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norepinephrine reuptake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inhibitors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which are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elective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serotonin norepinephrine reuptake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inhibitors (SNRIs)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TCAs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SELECTIVE SEROTONIN-NOREPINEPHRINE REUPTAKE INHIBITORS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SNRIs include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venlafaxine,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metabolite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desvenlafaxine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duloxetine. 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Another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SNRI,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milnacipran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been approved for the treatment of fibromyalgia in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USA  but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has been studied extensively as an antidepressant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SNRIs are also used in the treatment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generalized anxiety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stress urinary incontinence,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vasomotor symptoms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menopause.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45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4319-050E-4284-B7E2-AD96F3CE51C7}" type="datetime1">
              <a:rPr lang="en-US" smtClean="0"/>
              <a:t>11/11/2024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25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640" y="0"/>
            <a:ext cx="917564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05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BASIC PHARMACOLOGY OF</a:t>
            </a:r>
            <a:b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458200" cy="48006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SNRIs are chemically unrelated to each other.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Venlafaxine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was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discovered in the process of evaluating chemicals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that inhibit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binding of imipramine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Venlafaxine’s in vivo effects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 similar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those of imipramine but with a more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favorable adverse-effect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profile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 SNRIs bind the serotonin 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SERT)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norepinephrine (NET) transporters, as do the TCAs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However, unlike the TCAs, the SNRIs do not have much affinity for other receptors.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21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6482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EF74-6296-4B8F-A2B3-64F7F6837F14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27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0"/>
            <a:ext cx="457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26319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BASIC PHARMACOLOGY OF</a:t>
            </a:r>
            <a:b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Venlafaxine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desvenlafaxine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are bicyclic compounds, Whereas duloxetine is a three-ring structure unrelated to the TCAs.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Milnacipran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contains 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cyclopropane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ring and is provided as a racemic mixture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TRICYCLIC ANTIDEPRESSANT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TCAs were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dominant class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antidepressants until the introduction of SSRIs 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1980s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1990s.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Nine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TCAs are available in the USA,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they all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have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iminodibenzyl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(tricyclic) core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chemical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differences between the TCAs are relatively subtle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197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BASIC PHARMACOLOGY OF</a:t>
            </a:r>
            <a:b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9067800" cy="54102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example, the prototype TCA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imipramine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its metabolite,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desipramine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differ by only a methyl group in 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propylamine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side chain.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However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this minor difference results in a substantial change in their pharmacologic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profiles.</a:t>
            </a:r>
          </a:p>
          <a:p>
            <a:pPr>
              <a:lnSpc>
                <a:spcPct val="17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Imipramine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highly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anticholinergic and is a relatively strong serotonin as well as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norepinephrine reuptake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inhibitor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contrast,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desipramine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much less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anticholinergic and is a more potent and somewhat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more selective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norepinephrine reuptake inhibitor than 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imipramine.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TCAs are used primarily 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depression that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unresponsive to more commonly used antidepressants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such as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SSRIs or SNRIs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Other uses for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TCAs include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treatment of pain conditions, enuresis, and insomnia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26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153400" cy="116205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BASIC PHARMACOLOGY OF</a:t>
            </a:r>
            <a:b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233055"/>
            <a:ext cx="4191000" cy="516774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5-HT 2 </a:t>
            </a: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ANTAGONISTS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Two antidepressants are thought to act primarily as antagonists at the 5-HT 2 receptor: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trazodone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nefazodone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Trazodone’s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structure includes 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triazolo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moiety that is thought to impart antidepressant effects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Its primary metabolite, m-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chlorphenylpiperazine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(m-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cpp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), is a potent 5-HT 2 antagonist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219200"/>
            <a:ext cx="4419600" cy="5029200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F47B-288D-408A-9BF0-B629F61BFE39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863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BASIC PHARMACOLOGY OF</a:t>
            </a:r>
            <a:b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36" y="1600200"/>
            <a:ext cx="4953000" cy="45259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most common use of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trazodone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 current practice is as an unlabeled hypnotic, since it is highly sedating and not associated with tolerance 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dependence</a:t>
            </a:r>
          </a:p>
          <a:p>
            <a:pPr algn="just">
              <a:lnSpc>
                <a:spcPct val="160000"/>
              </a:lnSpc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Nefazodone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chemically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related to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trazodone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primary metabolites,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m-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cpp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hydroxynefazodone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both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inhibitors of</a:t>
            </a:r>
          </a:p>
          <a:p>
            <a:pPr algn="just">
              <a:lnSpc>
                <a:spcPct val="16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4191000" cy="4525963"/>
          </a:xfrm>
        </p:spPr>
        <p:txBody>
          <a:bodyPr>
            <a:normAutofit lnSpcReduction="10000"/>
          </a:bodyPr>
          <a:lstStyle/>
          <a:p>
            <a:pPr marL="137160" indent="0" algn="just">
              <a:lnSpc>
                <a:spcPct val="16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5-HT 2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receptor</a:t>
            </a: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Though still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available generically,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nefazodone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longer commonly prescribed.</a:t>
            </a: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primary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indication for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both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nefazodone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trazodone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are major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depression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Although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both have also been used in the treatment of anxiety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EF74-6296-4B8F-A2B3-64F7F6837F14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63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BASIC PHARMACOLOGY OF</a:t>
            </a:r>
            <a:b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0"/>
            <a:ext cx="9144000" cy="4842164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158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STRUCTURES OF TRICYCLIC ANTIDEPRESSANT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3238"/>
            <a:ext cx="9144000" cy="4983761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7155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BASIC PHARMACOLOGY OF</a:t>
            </a:r>
            <a:b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37160" indent="0" algn="just">
              <a:lnSpc>
                <a:spcPct val="16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TETRACYCLIC AND UNICYCLIC ANTIDEPRESSANTS</a:t>
            </a: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number of antidepressants do not fit neatly into the other classes.</a:t>
            </a: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Among these are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bupropion, mirtazapine,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amoxapine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pPr marL="137160" indent="0" algn="just">
              <a:lnSpc>
                <a:spcPct val="160000"/>
              </a:lnSpc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maprotiline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37160" indent="0" algn="just">
              <a:lnSpc>
                <a:spcPct val="16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BUPROPION</a:t>
            </a: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Bupropion has 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unicyclic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aminoketone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structure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unique structure results in a different side-effect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profile than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most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antidepressants.</a:t>
            </a: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Bupropion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somewhat resembles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amphetamine in chemical structure and, like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stimulant, has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central nervous system (CNS) activating properties.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85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BASIC PHARMACOLOGY OF</a:t>
            </a:r>
            <a:b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709160"/>
          </a:xfrm>
        </p:spPr>
        <p:txBody>
          <a:bodyPr>
            <a:normAutofit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MIRTAZAPINE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Mirtazapine is one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the few antidepressants not commonly associated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 sexual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side effects.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has a tetracyclic chemical structure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belongs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piperazino-azepine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group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compounds.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Mirtazapine,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amoxapine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maprotiline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have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tetracyclic structures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Amoxapine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the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-methylated metabolite of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loxapine,an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older antipsychotic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drug</a:t>
            </a:r>
          </a:p>
          <a:p>
            <a:pPr algn="just">
              <a:lnSpc>
                <a:spcPct val="150000"/>
              </a:lnSpc>
            </a:pP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31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4319-050E-4284-B7E2-AD96F3CE51C7}" type="datetime1">
              <a:rPr lang="en-US" smtClean="0"/>
              <a:t>11/11/2024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36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434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BASIC PHARMACOLOGY OF</a:t>
            </a:r>
            <a:b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Amoxapine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maprotiline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share structural similarities and side effects comparable to the TCAs.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 a result, these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tetracyclics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are not commonly prescribed in current practice.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MONOAMINE OXIDASE INHIBITORS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Monoamine oxidase inhibitors (MAOIs) are arguably the first modern class of antidepressants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(MAOIs) were introduced in the 1950s but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 now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rarely used in clinical practice because of toxicity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potentially lethal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food and drug interactions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826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4319-050E-4284-B7E2-AD96F3CE51C7}" type="datetime1">
              <a:rPr lang="en-US" smtClean="0"/>
              <a:t>11/11/2024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38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433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398" y="0"/>
            <a:ext cx="4800601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1162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BASIC PHARMACOLOGY OF</a:t>
            </a:r>
            <a:b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Current MAOIs </a:t>
            </a: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include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Hydrazine derivatives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phenelzine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isocarboxazid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on-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hydrazines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tranylcypromine,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selegiline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moclobemide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hydrazines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tranylcypromine bind irreversibly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nonselectively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 MAO-A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–B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MAOIs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may have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more selective or reversible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properties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such as tranylcypromine resemble amphetamine 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chemical structure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MAOIs such as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selegiline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have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amphetamine-like metabolites.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 a result, these MAOIs tend to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have substantial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CNS-stimulating effects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140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BASIC PHARMACOLOGY OF</a:t>
            </a:r>
            <a:b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Their primary use now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 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treatment of depression unresponsive to other antidepressants.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However, MAOIs have also been used historically to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treat anxiety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states, including social anxiety and panic disorder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addition 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selegiline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used for the treatment of Parkinson’s disease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689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effectLst/>
                <a:latin typeface="Times New Roman" pitchFamily="18" charset="0"/>
                <a:cs typeface="Times New Roman" pitchFamily="18" charset="0"/>
              </a:rPr>
              <a:t>PHARMACOKINECTICS</a:t>
            </a:r>
            <a:endParaRPr lang="en-US" sz="4000" dirty="0">
              <a:solidFill>
                <a:schemeClr val="bg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antidepressants share several pharmacokinetic features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Most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have fairly rapid oral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absorption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chieve peak plasma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levels within 2–3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hours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tightly bound to plasma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proteins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ndergo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hepatic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metabolism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enally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cleared.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However, even within classes, the pharmacokinetics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individual antidepressants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varies considerably.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91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  <a:effectLst/>
                <a:latin typeface="Times New Roman" pitchFamily="18" charset="0"/>
                <a:cs typeface="Times New Roman" pitchFamily="18" charset="0"/>
              </a:rPr>
              <a:t>PHARMACOKINECTICS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" indent="0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SELECTIVE SEROTONIN REUPTAKE INHIBITOR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prototype SSRI, fluoxetine, differs from other SSRIs 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some important aspects . 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Fluoxetine is metabolized to an active product,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norfluoxetine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which may have plasma concentrations greater than those of fluoxetine.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elimination half-life of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norfluoxetine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about three times longer than fluoxetine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contributes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the longest half-life of all the SSRIs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 a result,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fluoxetine has to be discontinued 4 weeks or longer before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 MAOI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can be administered to mitigate the risk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serotonin syndrome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298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PHARMACOKINECTICS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Fluoxetine and paroxetine are potent inhibitors of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CYP2D6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isoenzyme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this contributes to potential drug interactions 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contrast, fluvoxamine is an inhibitor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CYP3A4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whereas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citalopram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escitalopram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sertraline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have more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modest CYP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interactions.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708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PHARMACOKINECTICS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0"/>
            <a:ext cx="8915400" cy="4953000"/>
          </a:xfrm>
        </p:spPr>
        <p:txBody>
          <a:bodyPr>
            <a:normAutofit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SEROTONIN-NOREPINEPHRINE REUPTAKE INHIBITORS</a:t>
            </a:r>
          </a:p>
          <a:p>
            <a:pPr marL="137160" indent="0">
              <a:lnSpc>
                <a:spcPct val="150000"/>
              </a:lnSpc>
              <a:buNone/>
            </a:pPr>
            <a:r>
              <a:rPr lang="en-US" sz="2000" b="1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SELECTIVE SEROTONIN-NOREPINEPHRINE REUPTAKE </a:t>
            </a:r>
            <a:r>
              <a:rPr lang="en-US" sz="20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INHIBITORS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Venlafaxine is extensively metabolized in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liver via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CYP2D6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isoenzyme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desmethylvenlafaxine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desvenlafaxine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Both have similar half-lives of about 11 hours.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Despite the relatively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short half-lives, both drugs are available 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formulations that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allow once-daily dosing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Venlafaxine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desvenlafaxine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have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lowest protein binding of all antidepressants (27–30%).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37160" indent="0">
              <a:lnSpc>
                <a:spcPct val="15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000" b="1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1423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PHARMACOKINECTICS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Unlike most antidepressants,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desvenlafaxine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conjugated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does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not undergo extensive oxidative metabolism.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least 45%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desvenlafaxine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excreted unchanged in the urine compared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 4–8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% of venlafaxine.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Duloxetine is well absorbed and has a half-life of about 12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hours but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dosed once daily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is tightly bound to protein (97%)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undergoes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extensive oxidative metabolism via CYP2D6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CYP1A2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Hepatic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impairment significantly alters duloxetine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levels unlike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desvenlafaxine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7160" indent="0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886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PHARMACOKINECTICS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TRICYCLIC ANTIDEPRESSANTS</a:t>
            </a:r>
            <a:endParaRPr lang="en-US" sz="20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TCAs tend to be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well absorbed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have long half-lives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 a result,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most are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dosed once daily at night because of their sedating effects.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TCAs undergo extensive metabolism via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demethylation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aromatic hydroxylation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glucuronide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conjugation.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Only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about 5%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TCAs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are excreted unchanged in the urine.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TCAs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substrates of the CYP2D6 system, and the serum levels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agents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tend to be substantially influenced by concurrent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administration of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drugs such as fluoxetine</a:t>
            </a:r>
            <a:r>
              <a:rPr lang="en-US" sz="2000" dirty="0"/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109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PHARMACOKINECTICS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addition, genetic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polymorphism for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CYP2D6 may result in low or extensive metabolism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TCAs.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secondary amine TCAs, including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desipramine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nortriptyline,lack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active metabolites and have fairly linear kinetics.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These TCAs have a wide therapeutic window, and serum levels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 reliable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predicting response and toxicity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5-HT 2 ANTAGONISTS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Trazodone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nefazodone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are rapidly absorbed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undergo extensive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hepatic metabolism</a:t>
            </a:r>
            <a:endParaRPr lang="en-US" sz="20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" indent="0" algn="just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966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PHARMACOKINECTICS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Trazodone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nefazodone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are rapidly absorbed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undergo extensive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hepatic metabolism.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Both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drugs are extensively bound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protein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have limited bioavailability because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extensive metabolism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Their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short half-lives generally require split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dosing when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used as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antidepressants.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However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trazodone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often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prescribed as a single dose at night as a hypnotic in lower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doses than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are used in the treatment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depression.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919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27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PHARMACOKINECTICS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5626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Both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trazodone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nefazodone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have active metabolites that also exhibit 5-HT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 antagonism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Nefazodone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 potent inhibitor of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CYP3A4 system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may interact with drugs metabolized by this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enzyme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TETRACYCLIC AND UNICYCLIC AGENTS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BUPROPION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Bupropion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rapidly absorbed and has a mean protein binding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85%.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undergoes extensive hepatic metabolism and has 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substantial first-pass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effect.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has three active metabolites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including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hydroxybupropion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the latter is being developed as an antidepressant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982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PHARMACOKINECTICS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Bupropion has a biphasic elimination with the first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phase lasting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about 1 hour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second phase lasting 14 hours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7160" indent="0">
              <a:buNone/>
            </a:pPr>
            <a:r>
              <a:rPr lang="en-US" sz="20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AMOXAPINE</a:t>
            </a:r>
            <a:endParaRPr lang="en-US" sz="2000" b="1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Amoxapine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also rapidly absorbed with protein binding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about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85%.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half-life is variable, and the drug is often given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divided doses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Amoxapine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undergoes extensive hepatic metabolism.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One of the active metabolites, 7-hydroxyamoxapine, 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potent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 2 blocker and is associated with antipsychotic effects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MAPROTILINE</a:t>
            </a:r>
          </a:p>
          <a:p>
            <a:pPr algn="just">
              <a:lnSpc>
                <a:spcPct val="150000"/>
              </a:lnSpc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Maprotiline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similarly well absorbed orally and 88% bound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protein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undergoes extensive hepatic metabolism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071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PHARMACOKINECTICS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MIRTAZAPINE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Mirtazapine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demethylated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followed by hydroxylation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glucuronide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conjugation.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Several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CYP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isozymes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are involved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metabolism of mirtazapine, including 2D6, 3A4, and 1A2.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half-life of mirtazapine is 20–40 hours,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usually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dosed once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the evening because of its sedating effects.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556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248400"/>
            <a:ext cx="9144000" cy="609600"/>
          </a:xfrm>
        </p:spPr>
        <p:txBody>
          <a:bodyPr>
            <a:normAutofit/>
          </a:bodyPr>
          <a:lstStyle/>
          <a:p>
            <a:pPr algn="l"/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PHARMACOKINETIC PROFILES OF SELECTED ANTIDEPRESSANTS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2484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371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PHARMACOKINECTICS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 marL="137160" indent="0" algn="just">
              <a:lnSpc>
                <a:spcPct val="17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MONOAMINE OXIDASE INHIBITORS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different MAOIs are metabolized via different pathways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but tend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have extensive first-pass effects that may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substantially decrease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bioavailability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Tranylcypromine is ring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hydroxylated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–acetylated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hereas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acetylation appears to be a minor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pathway for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phenelzine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70000"/>
              </a:lnSpc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Selegiline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demethylated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then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hydroxylated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7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MAOIs are well absorbed from the gastrointestinal tract because of the prominent first-pass effects and their tendency to inhibit MAO in the gut (resulting in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tyramine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pressor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effects),</a:t>
            </a:r>
          </a:p>
          <a:p>
            <a:pPr algn="just">
              <a:lnSpc>
                <a:spcPct val="17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17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761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PHARMACOKINECTICS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lternative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routes of administration are being developed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example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selegiline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available in both transdermal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sublingual forms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that bypass both gut and liver.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routes decrease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risk of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food interactions and provide substantially increased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bioavailability.</a:t>
            </a:r>
          </a:p>
          <a:p>
            <a:pPr marL="137160" indent="0" algn="just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756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 previously noted, all currently available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antidepressants enhance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monoamine neurotransmission by one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several mechanisms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most common mechanism is inhibition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activity of SERT, NET, or both monoamine transporters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echanism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increasing the availability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monoamines 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inhibition of their enzymatic degradation (the MAOIs).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Additional strategies for enhancing monoamine tone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include binding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presynaptic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autoreceptors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(mirtazapine) 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specific postsynaptic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receptors (5-HT 2 antagonists and mirtazapine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956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82" y="1524000"/>
            <a:ext cx="4038600" cy="480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Ultimately, the increased availability of monoamines for binding in the synaptic cleft results in a cascade of events that enhance the transcription of some proteins and the inhibition of others.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It is the net production of these proteins, including BDNF, glucocorticoid receptors, </a:t>
            </a: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1000" y="1600200"/>
            <a:ext cx="4495800" cy="4525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β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adrenoceptors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other proteins, that appears to determine the benefits as well as the toxicity of a given agent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EF74-6296-4B8F-A2B3-64F7F6837F14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619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86400"/>
          </a:xfrm>
        </p:spPr>
        <p:txBody>
          <a:bodyPr>
            <a:noAutofit/>
          </a:bodyPr>
          <a:lstStyle/>
          <a:p>
            <a:pPr marL="137160" indent="0"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SELECTIVE SEROTONIN REUPTAKE INHIBITORS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serotonin transporter (SERT) is a glycoprotein with 12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transmembrane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regions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embedded in the axon terminal and cell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body membranes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serotonergic neurons.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extracellular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serotonin binds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receptors on the transporter, conformational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changes occur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the transporter and serotonin, Na + ,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moved into the cell. Binding of intracellular K + then results in return of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transporter to its original conformation and the release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serotonin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inside the cell.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SSRIs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allosterically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inhibit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transporter by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binding the receptor at a site other than active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binding site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serotonin.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therapeutic doses, about 80% of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activity of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transporter is inhibited.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Functional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polymorphisms exist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 SERT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that determine the activity of the transporter.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SSRIs have modest effects on other neurotransmitters.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682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" b="1561"/>
          <a:stretch>
            <a:fillRect/>
          </a:stretch>
        </p:blipFill>
        <p:spPr>
          <a:xfrm>
            <a:off x="0" y="457200"/>
            <a:ext cx="9067800" cy="632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-20782" y="0"/>
            <a:ext cx="9144000" cy="530352"/>
          </a:xfrm>
        </p:spPr>
        <p:txBody>
          <a:bodyPr>
            <a:noAutofit/>
          </a:bodyPr>
          <a:lstStyle/>
          <a:p>
            <a:r>
              <a:rPr lang="en-US" sz="18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 EFFECTS ON SEVERAL RECEPTORS AND TRANSPORTERS.</a:t>
            </a:r>
            <a:endParaRPr lang="en-US" sz="1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912A1-4F0F-41F6-B2D7-38BC3B94BE1A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1571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Unlike TCAs and SNRIs, there is little evidence that  SSRIs have prominent effects on β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adrenoceptors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or the norepinephrine transporter, NET.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Binding to the serotonin transporter is associated with tonic inhibition of the dopamine system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Although there is substantial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interindividual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variability in this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effect,the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SSRIs do not bind aggressively to histamine, muscarinic, or other receptors.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9362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709160"/>
          </a:xfrm>
        </p:spPr>
        <p:txBody>
          <a:bodyPr>
            <a:normAutofit/>
          </a:bodyPr>
          <a:lstStyle/>
          <a:p>
            <a:pPr marL="137160" indent="0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DRUGS THAT BLOCK BOTH SEROTONIN AND NOREPINEPHRINE TRANSPORTERS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large number of antidepressants have mixed inhibitory effects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 both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serotonin and norepinephrine transporters.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newer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agents 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class (venlafaxine and duloxetine) are denoted by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acronym SNRIs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whereas the agents in the older group are termed TCAs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7160" indent="0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SEROTONIN-NOREPINEPHRINE REUPTAKE INHIBITORS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SNRIs bind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both the serotonin and the norepinephrine transporters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739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0292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NET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structurally very similar to the 5-HT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transporter,like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serotonin transporter</a:t>
            </a: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 is a 12-transmembrane domain complex that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allosterically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binds norepinephrine.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NET also has 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moderate affinity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dopamine.</a:t>
            </a: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Venlafaxine is a weak inhibitor of NET, whereas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desvenlafaxine,duloxetine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milnacipran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are more balanced inhibitors of both SERT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NET.</a:t>
            </a: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Nonetheless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the affinity of most SNRIs tends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be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much greater for SERT than for NET.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480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70916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SNRIs differ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from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TCAs in that they lack the potent antihistamine,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α-adrenergic blocking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anticholinergic effects of the TCAs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 a result,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SNRIs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tend to be favored over the TCAs in the treatment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MDD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pain syndromes because of their better tolerability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7160" indent="0" algn="just">
              <a:lnSpc>
                <a:spcPct val="160000"/>
              </a:lnSpc>
              <a:buNone/>
            </a:pPr>
            <a:r>
              <a:rPr lang="en-US" sz="20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TRICYCLIC ANTIDEPRESSANTS</a:t>
            </a: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Within the TCAs, there is considerable variability in affinity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SERT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versus NET.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example, clomipramine has relatively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very little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affinity for NET but potently binds SERT</a:t>
            </a:r>
            <a:endParaRPr lang="en-US" sz="20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09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selectivity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serotonin transporter contributes to clomipramine’s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known benefits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the treatment of OCD.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other hand,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secondary amine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TCAs,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desipramine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nortriptyline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are relatively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more selective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NET.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Although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tertiary amine TCA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imipramine has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more serotonin effects initially, its metabolite,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desipramine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then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balances this effect with more NET inhibition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658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Common adverse effects of the TCAs, including dry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mouth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constipation, are attributable to the potent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antimuscarinic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effects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many of these drugs.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TCAs also tend to be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potent antagonists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the histamine H 1 receptor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TCAs such as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doxepin are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sometimes prescribed as hypnotics and used in treatments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pruritus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because of their antihistamine properties.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blockade of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α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adrenoceptors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can result in substantial orthostatic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hypotension,particularly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older patients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163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5-HT 2 ANTAGONISTS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principle action of both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nefazodone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trazodone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appears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be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blockade of the 5-HT 2A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receptor.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Inhibition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this receptor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both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animal and human studies is associated with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substantial antianxiety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antipsychotic, and antidepressant effects.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Conversely,agonists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the 5-HT 2A receptor,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lysergic acid (LSD)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mescaline, are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often hallucinogenic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anxiogenic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5-HT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2A receptor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 G protein-coupled receptor and 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distributed throughout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neocortex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7160" indent="0" algn="just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808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Nefazodone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a weak inhibitor of both SERT and NET but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 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potent antagonist of the postsynaptic 5-HT 2A receptor, as 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its metabolites.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Trazodone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also a weak but selective inhibitor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SERT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 little effect on NET.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primary metabolite, m-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cpp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 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potent 5-HT 2 antagonist, and much of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trazodone’s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benefits as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 antidepressant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might be attributed to this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effect.</a:t>
            </a:r>
          </a:p>
          <a:p>
            <a:pPr algn="just">
              <a:lnSpc>
                <a:spcPct val="150000"/>
              </a:lnSpc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Trazodone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also has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weak-to-moderate presynaptic α-adrenergic–blocking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properties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 modest antagonist of the H 1 receptor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640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Bupropion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its major metabolite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hydroxybupropion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modest-to-moderate inhibitors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norepinephrine and dopamine reuptake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animal studies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more significant effect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bupropion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presynaptic release of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catecholamines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upropion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appears to substantially increase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presynaptic availability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norepinephrine, and dopamine to a lesser extent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Bupropion has virtually no direct effects on the serotonin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system.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891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Mirtazapine has a complex pharmacology.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an antagonist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presynaptic α 2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autoreceptor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enhances the release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both norepinephrine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5-HT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addition, mirtazapine is an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antagonist of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5-HT 2 and 5-HT 3 receptors.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Finally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mirtazapine is 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potent 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 antagonist, which is associated with the drug’s sedative effects.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actions of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amoxapine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maprotiline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resemble those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TCAs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such as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desipramine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/>
              <a:t>Both are potent NET inhibitors and less potent SERT inhibitors.</a:t>
            </a: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5765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Both are potent NET inhibitors and less potent SERT inhibitors.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 addition, both possess anticholinergic properties.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Unlike the TCAs or other antidepressants,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amoxapine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a moderate inhibitor of the postsynaptic D 2 receptor.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 such,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amoxapine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possesses some antipsychotic properties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MONOAMINE OXIDASE INHIBITORS</a:t>
            </a:r>
            <a:endParaRPr lang="en-US" sz="20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MAOIs act by mitigating the actions of monoamine oxidase 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neuron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increasing monoamine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content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There are two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forms of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monoamine oxidase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215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MAOIs are classified by their specificity for MAO-A or -B and whether their effects are reversible or irreversible.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MAO-A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MAO-A is present in both dopamine and norepinephrine neurons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found primarily in the brain,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gut,placenta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and liver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its primary substrates are norepinephrine, epinephrine, and serotonin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MAO-B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MAO-B is found primarily in serotonergic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histaminergic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neurons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It is </a:t>
            </a:r>
            <a:r>
              <a:rPr lang="en-US" sz="2000" dirty="0"/>
              <a:t>distributed in the </a:t>
            </a:r>
            <a:r>
              <a:rPr lang="en-US" sz="2000" dirty="0" err="1"/>
              <a:t>brain,liver</a:t>
            </a:r>
            <a:r>
              <a:rPr lang="en-US" sz="2000" dirty="0"/>
              <a:t>, and platelets</a:t>
            </a: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664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PHARMACODYNAMICS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534400" cy="50292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MAO-B acts primarily on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tyramine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phenylethylamine,and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benzylamine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Both MAO-A and -B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metabolize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tryptamine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dopamine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Phenelzine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tranylcypromine are examples of irreversible, nonselective MAOIs.</a:t>
            </a:r>
          </a:p>
          <a:p>
            <a:pPr algn="just">
              <a:lnSpc>
                <a:spcPct val="160000"/>
              </a:lnSpc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Moclobemide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can be displaced from MAO-A by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tyramine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this mitigates the risk of food interactions.</a:t>
            </a: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contrast,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selegiline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an irreversible MAO-B–specific agent at low doses.</a:t>
            </a: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Selegiline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useful in the treatment of Parkinson’s disease at these low doses, but at higher doses it becomes a nonselective MAOI similar to other agents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64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PHARMACOLOGY OF</a:t>
            </a:r>
            <a:b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5105400"/>
          </a:xfrm>
        </p:spPr>
        <p:txBody>
          <a:bodyPr>
            <a:normAutofit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INDICATION: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DEPRESSION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not clear whether antidepressants are useful for all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subtypes of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depression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example, patients with bipolar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depression may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not benefit much from antidepressants even when added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mood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stabilizers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fact, the antidepressants are sometimes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associated with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switches into mania or more rapid cycling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Psychotherapeutic interventions such as cognitive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behavior therapy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appear to be as effective as antidepressant treatment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mild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moderate forms of depression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121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PHARMACOLOGY OF</a:t>
            </a:r>
            <a:b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7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However, cognitive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behavior therapy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tends to take longer to be effective and 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generally more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expensive than antidepressant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treatment 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Psychotherapy is often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combined with antidepressant treatment, and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combination appears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more effective than either strategy alone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7160" indent="0" algn="just">
              <a:lnSpc>
                <a:spcPct val="170000"/>
              </a:lnSpc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ANXIETY DISORDER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After major depression, anxiety disorders represent the most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common application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antidepressants.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Panic disorder is characterized by recurrent episodes of brief overwhelming anxiety, which often occur without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precipitant.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Patients may begin to fear having an attack, or they avoid situations in which they might have an attack. </a:t>
            </a:r>
          </a:p>
          <a:p>
            <a:pPr algn="just">
              <a:lnSpc>
                <a:spcPct val="17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7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971800" y="6324600"/>
            <a:ext cx="2133600" cy="365125"/>
          </a:xfrm>
        </p:spPr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8071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PHARMACOLOGY OF</a:t>
            </a:r>
            <a:b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number of SSRIs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SNRIs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have been approved for all the major anxiety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disorders,including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PTSD, OCD, social anxiety disorder, GAD,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panic disorder</a:t>
            </a:r>
            <a:r>
              <a:rPr lang="en-US" sz="2000" dirty="0" smtClean="0"/>
              <a:t>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contrast,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GAD 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characterized by a chronic, free-floating anxiety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undue worry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that tends to be chronic in nature.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Although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older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antidepressants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drugs of the sedative-hypnotic class are still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occasionally used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the treatment of anxiety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disorders,SSRIs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  SNRIs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have largely replaced them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benzodiazepines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provide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much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more rapid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relief of both generalized anxiety and panic than do any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antidepressants.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25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PHARMACOLOGY OF</a:t>
            </a:r>
            <a:b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antidepressants appear to be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at least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 effective and perhaps more effective than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benzodiazepines 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long-term treatment of these anxiety disorders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ntidepressants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do not carry the risks of dependence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tolerance that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may occur with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benzodiazepines.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OCD is known to respond to serotonergic antidepressants.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characterized by repetitive anxiety-provoking thoughts 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obsessions) or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repetitive behaviors aimed at reducing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anxiety 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Clomipramine and several of the SSRIs are approved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treatment of OCD, and they are moderately effective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235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PHARMACOLOGY OF</a:t>
            </a:r>
            <a:b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839200" cy="486156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Behavior therapy is usually combined with the antidepressant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additional benefits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SOCIAL ANXIETY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Social anxiety disorder is an uncommonly diagnosed but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fairly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common condition in which the patient experiences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severe anxiety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social interactions.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anxiety may limit their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ability to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function adequately in their jobs or interpersonal relationships.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Several SSRIs and venlafaxine are approved for the treatment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social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anxiety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efficacy of the SSRIs in the treatment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social anxiety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greater in some studies than their efficacy in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treatment of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MDD.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0655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PHARMACOLOGY OF</a:t>
            </a:r>
            <a:b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PTSD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PTSD 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manifested when a traumatic or life-threatening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event results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intrusive anxiety-provoking thoughts or imagery,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hypervigilance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nightmares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avoidance of situations that remind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patient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the trauma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SSRIs are considered first-line treatment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PTSD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can benefit a number of symptoms including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anxious thoughts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hypervigilance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Other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treatments, including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psychotherapeutic interventions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are usually required in addition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antidepressants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243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PHARMACOLOGY OF</a:t>
            </a:r>
            <a:b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839200" cy="5029200"/>
          </a:xfrm>
        </p:spPr>
        <p:txBody>
          <a:bodyPr>
            <a:normAutofit fontScale="92500" lnSpcReduction="10000"/>
          </a:bodyPr>
          <a:lstStyle/>
          <a:p>
            <a:pPr marL="137160" indent="0" algn="just">
              <a:lnSpc>
                <a:spcPct val="160000"/>
              </a:lnSpc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PAIN DISORDERS</a:t>
            </a: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has been known for over 40 years that antidepressants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possess analgesic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properties independent of their mood effects.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TCAs have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been used in the treatment of neuropathic and other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pain conditions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since the 1960s.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Medications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that possess both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norepinephrine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5-HT reuptake blocking properties 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often useful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treating pain disorders.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Ascending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corticospinal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monoamine pathways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appear to be important in the endogenous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analgesic system.</a:t>
            </a: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Also, chronic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pain conditions 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commonly associated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 major depression.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1023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PHARMACOLOGY OF</a:t>
            </a:r>
            <a:b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2010, duloxetine was approved for the treatment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chronic joint and muscle pain. </a:t>
            </a:r>
          </a:p>
          <a:p>
            <a:pPr algn="just">
              <a:lnSpc>
                <a:spcPct val="150000"/>
              </a:lnSpc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Milnacipran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been approved for the treatment of fibromyalgia.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Other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SNRIs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desvenlafaxine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are being investigated for a variety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pain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conditions from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postherpetic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neuralgia to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chronic back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7160" indent="0"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PREMENSTRUAL DYSPHORIC DISORDER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Approximately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5% of women in the child-bearing years will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have prominent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mood and physical symptoms during the late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luteal phase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almost every cycle; these may include anxiety,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depressed mood,,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a variety of other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physical symptoms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4759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PHARMACOLOGY OF</a:t>
            </a:r>
            <a:b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These symptoms are more severe than those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typically seen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premenstrual syndrome (PMS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SSRIs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 known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be beneficial to many women with PMDD,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fluoxetine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sertraline have been approved for this indication.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rapid effects of SSRIs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PMDD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may be associated with rapid increases in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pregnenolone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levels.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SMOKING CESSATION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Approximately twice as many people treated with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bupropion as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 placebo have a reduced urge to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smoke</a:t>
            </a: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Bupropion appears to be about as effective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 nicotine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patches in smoking cessation</a:t>
            </a:r>
            <a:endParaRPr lang="en-US" sz="20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9906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PHARMACOLOGY OF</a:t>
            </a:r>
            <a:b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addition ,patients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taking bupropion appear to experience fewer mood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symptoms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possibly less weight gain while withdrawing from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nicotine dependence.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mechanism by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which bupropion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helpful in this application is unknown, but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drug may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mimic nicotine’s effects on dopamine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norepinephrine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may antagonize nicotinic receptors.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Nicotine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also known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have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antidepressant effects in some people, and bupropion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may substitute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this effect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Nortriptyline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has been shown to be helpful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smoking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cessation, but the effects have not been as consistent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 those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seen with bupropion.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240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PHARMACOLOGY OF</a:t>
            </a:r>
            <a:b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EATING DISORDERS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Bulimia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nervosa and anorexia nervosa are potentially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devastating disorders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Bulimia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characterized by episodic intake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large amounts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food (binges) followed by ritualistic purging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through emesis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the use of laxatives, or other methods.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Medical complications of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purging, such as hypokalemia, are common and dangerous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Anorexia is often chronic and may be fatal in 10%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or more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cases.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0219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PHARMACOLOGY OF</a:t>
            </a:r>
            <a:b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530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Anorexia is a disorder in which reduced food intake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results 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loss of weight of 15% or more of ideal body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weight. 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person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has a morbid fear of gaining weight and a highly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distorted body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image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Antidepressants appear to be helpful in the treatment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bulimia but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anorexia.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Fluoxetine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was approved for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treatment of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bulimia 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1996.</a:t>
            </a: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Bupropion may have some benefits in treating obesity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primary treatment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anorexia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at this time is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refeeding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family therapy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cognitive behavioral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therapy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7591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CLINICAL PHARMACOLOGY OF</a:t>
            </a:r>
            <a:b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OTHER USES FOR ANTIDEPRESSANTS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serotonergic antidepressants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appear to be helpful for treating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vasomotor symptoms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perimenopause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SSRIs are sometimes used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treat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premature ejaculation.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3817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FACTORS TO CONSIDER IN CHOOSING AN ANTIDEPRESSANT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00200"/>
            <a:ext cx="4267200" cy="4525963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choice of an antidepressant depends first on the indication.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Not all conditions are equally responsive to all antidepressants.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However, in the treatment of MDD, it is difficult to demonstrate that one antidepressant is consistently more effective than another.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choice of an antidepressant for the treatment of depression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rests primarily on practical considerations such as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Cost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Availability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Adverse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effects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Potential drug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interactions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patient’s history of response or lack thereof, and  patient preference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EF74-6296-4B8F-A2B3-64F7F6837F14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0652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FACTORS TO CONSIDER IN CHOOSING AN ANTIDEPRESSANT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 marL="137160" indent="0" algn="just">
              <a:lnSpc>
                <a:spcPct val="17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Other factors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such as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atient’s age: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example, older patients are particularly sensitive to the anticholinergic effects of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TCAs.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other hand, the CYP3A4-inhibiting effects of the SSRI fluvoxamine may make this a problematic choice in some older patients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ecause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fluvoxamine may interact with many other medications that an older patient may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require.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8690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FACTORS TO CONSIDER IN CHOOSING AN ANTIDEPRESSANT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GENDER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some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suggestion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that female patients may respond to and tolerate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serotonergic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better than noradrenergic or TCA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antidepressants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supporting this gender difference have not been consistent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MEDICAL STATUS MAY ALSO GUIDE ANTIDEPRESSANT SELECTION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Patients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 narrow-angle glaucoma may have an exacerbation with noradrenergic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antidepressants,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hereas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bupropion and other antidepressants are known to lower the seizure threshold 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epilepsy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patient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14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DOSING</a:t>
            </a:r>
            <a:endParaRPr 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optimal dose of an antidepressant depends on the indication and on the patient.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SSRIs, SNRIs, and a number of newer agents, the starting dose for the treatment of depression is usually a therapeutic dose.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dose is generally titrated to the maximum dosage recommended or to the highest dosage tolerated if the patient is not responsive to lower doses.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patients may benefit from doses lower than the usual minimum recommended therapeutic dose.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TCAs and MAOIs typically require titration to a therapeutic dosage over several weeks.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Dosing of the TCAs may be guided by monitoring TCA serum levels.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3513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5715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anxiety disorders may require higher doses of antidepressants than are used in the treatment of major depression.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example, patients treated for OCD often require maximum or somewhat higher than maximum recommended MDD doses to achieve optimal benefits.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Likewise, the minimum dose of paroxetine for the effective treatment of panic disorder is higher than the minimum dose required for the effective treatment of depression.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treatment of pain disorders, modest doses of TCAs are often sufficient.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25–50 mg/d of imipramine might be beneficial in the treatment of pain associated with a neuropathy, but this would be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subtherapeutic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dose in the treatment of MDD.</a:t>
            </a:r>
          </a:p>
          <a:p>
            <a:pPr algn="just"/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2600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ADVERSE EFFECT</a:t>
            </a:r>
            <a:endParaRPr 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some potential adverse effects are common to all antidepressants.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their adverse effects are specific to a subclass of agents and to their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pharmacodynamic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effects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minority of patients may experience a treatment-emergent increase in suicidal ideation with antidepressants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absence of treatment of a major depressive episode in all age groups is a particularly important risk factor in completed suicides. 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1480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4319-050E-4284-B7E2-AD96F3CE51C7}" type="datetime1">
              <a:rPr lang="en-US" smtClean="0"/>
              <a:t>11/11/2024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91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3999" cy="647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739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Antidepressant dose ranges.</a:t>
            </a:r>
          </a:p>
        </p:txBody>
      </p:sp>
    </p:spTree>
    <p:extLst>
      <p:ext uri="{BB962C8B-B14F-4D97-AF65-F5344CB8AC3E}">
        <p14:creationId xmlns:p14="http://schemas.microsoft.com/office/powerpoint/2010/main" val="261622988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4319-050E-4284-B7E2-AD96F3CE51C7}" type="datetime1">
              <a:rPr lang="en-US" smtClean="0"/>
              <a:t>11/11/2024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92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98731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ADVERSE EFFECT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SELECTIVE SEROTONIN REUPTAKE INHIBITORS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adverse effects of the most commonly prescribed antidepressants—the SSRIs—can be predicted from their potent inhibition of SERT.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SSRIs enhance serotonergic tone, not just in the brain but throughout the body.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serotonergic activity in the gut is commonly associated with nausea, gastrointestinal upset, diarrhea, and other gastrointestinal symptoms.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serotonergic tone at the level of the spinal cord and above is associated with diminished sexual function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071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ADVERSE EFFECT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adverse effects related to the serotonergic effects of SSRIs include an increase in headaches and insomnia or hypersomnia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patients gain weight while taking SSRIs, particularly paroxetine.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Sudden discontinuation of short half-life SSRIs such as paroxetine and sertraline is associated with a discontinuation syndrome in some patients characterized by dizziness,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paresthesias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other symptoms beginning 1 or 2 days after stopping the drug and persisting for 1 week or longer.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3716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ADVERSE EFFECT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SEROTONIN-NOREPINEPHRINE REUPTAKE INHIBITORS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SNRIs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many of the serotonergic adverse effects associated with SSRIs.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SNRIs may also have noradrenergic effects, including increased blood pressure and heart rate, and CNS activation, such as insomnia, anxiety, and agitation.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more reports of cardiac toxicity with venlafaxine overdose than with either the other SNRIs or SSRIs.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Duloxetine is rarely associated with hepatic toxicity in patients with a history of liver damage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9153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ADVERSE EFFECT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8461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TRICYCLIC ANTIDEPRESSANTS</a:t>
            </a:r>
          </a:p>
          <a:p>
            <a:pPr algn="just">
              <a:lnSpc>
                <a:spcPct val="10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Anticholinergic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 are perhaps the most common in TCA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effects result in dry mouth, constipation, urinary retention, blurred vision, and confusion.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more common with tertiary amine TCAs such as amitriptyline and imipramine than with the secondary amine TCAs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desipramine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nortriptyline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potent α-blocking property of TCAs often results in orthostatic hypotension.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 1 antagonism by the TCAs is associated with weight gain and sedation. 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Sexual effects are common, particularly with highly serotonergic TCAs such as clomipramine. 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TCAs have a prominent discontinuation syndrome characterized by cholinergic rebound and flulike symptoms. </a:t>
            </a:r>
          </a:p>
          <a:p>
            <a:pPr algn="just"/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9728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ADVERSE EFFECT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5-HT 2 ANTAGONISTS 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adverse effects associated with the 5-HT 2 antagonists are sedation and gastrointestinal disturbances. 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Sedative effects, particularly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trazodone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can be quite pronounced.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nefazodone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trazodone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α-blocking agents and may result in a dose-related orthostatic hypotension in some patients.</a:t>
            </a:r>
          </a:p>
          <a:p>
            <a:pPr algn="just">
              <a:lnSpc>
                <a:spcPct val="17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Nefazodone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been associated with hepatotoxicity, including rare fatalities and cases of fulminant hepatic failure requiring transplantation</a:t>
            </a:r>
          </a:p>
          <a:p>
            <a:pPr>
              <a:lnSpc>
                <a:spcPct val="170000"/>
              </a:lnSpc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3565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ADVERSE EFFECT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TETRACYCLICS AND UNICYCLICS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Amoxapine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sometimes associated with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parkinsonian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syndrome due to its D 2 -blocking action.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Mirtazapine has significant sedative effect. </a:t>
            </a:r>
          </a:p>
          <a:p>
            <a:pPr algn="just"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Maprotiline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 moderately high affinity for NET and may cause TCA-like adverse effects and, rarely, seizures.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Bupropion is occasionally associated with agitation, insomnia, and anorexia.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3222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ADVERSE EFFECT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MONOAMINE OXIDASE INHIBITORS 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adverse effects of the MAOIs leading to discontinuation of these drugs are orthostatic hypotension and weight gain.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the irreversible nonselective MAOIs are associated with the highest rates of sexual effects of all the antidepressants.</a:t>
            </a:r>
          </a:p>
          <a:p>
            <a:pPr algn="just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Anorgasmia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fairly common with therapeutic doses of some MAOIs.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amphetamine-like properties of some MAOIs contributes to activation, insomnia, and restlessness in some patients.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7591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ADVERSE EFFECT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Phenelzine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tends to be more sedating than either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selegiline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tranylcypromine.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is also sometimes associated with higher doses of MAOIs. because they block metabolism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tyramine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similar ingested amines, MAOIs may cause dangerous interactions with certain foods and with serotonergic drugs 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MAOIs have been associated with a sudden discontinuation syndrome manifested in a delirium-like presentation with psychosis, excitement, and confusion. 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2171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OVERDOSE</a:t>
            </a:r>
            <a:endParaRPr 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Overdose is the most common method used in suicide attempts, and antidepressants, especially the TCAs, are frequently involved.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Overdose can induce lethal arrhythmias, including ventricular tachycardia and fibrillation.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addition, blood pressure changes and anticholinergic effects including altered mental status and seizures are sometimes seen in TCA overdoses.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typically involves cardiac monitoring, airway support, and gastric lavage.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Sodium bicarbonate is often administered to uncouple the TCA from cardiac sodium channels.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1450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OVERDOSE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overdose with an MAOI can produce a variety of effects including autonomic instability,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hyperadrenergic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symptoms, psychotic symptoms, confusion, delirium, fever, and seizures.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of MAOI overdoses usually involves cardiac monitoring, vital signs support, and lavage.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TCAs and MAOIs, the other antidepressants are generally much safer in overdose.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Fatalities with SSRI overdose alone are extremely uncommon.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SNRIs tend to be much safer in overdose than the TCAs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3903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OVERDOSE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venlafaxine has been associated with some cardiac toxicity in overdose and appears to be less safe than SSRIs.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Bupropion is associated with seizures in overdose, and mirtazapine may be associated with sedation, disorientation, and tachycardia.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newer agents, fatal overdoses often involve the combination of the antidepressant with other drugs, including alcohol.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of overdose with the newer antidepressants usually involves emptying of gastric contents and vital sign support as the initial intervention. 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0054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DRUG INTERACTIONS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Antidepressants are commonly prescribed with other psychotropic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nonpsychotropic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agents. There is potential for drug interactions with all antidepressants.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serious of these involve the MAOIs and to a lesser extent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TCAs.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SELECTIVE SEROTONIN REUPTAKE INHIBITORS 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interactions with SSRIs are pharmacokinetic interactions.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paroxetine and fluoxetine are potent CYP2D6 inhibitors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 with 2D6 substrates such as TCAs can lead to dramatic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4065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DRUG INTERACTIONS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unpredictable elevations in the tricyclic drug concentration.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 may be toxicity from the TCA.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fluvoxamine, a CYP3A4 inhibitor, may elevate the levels of concurrently administered substrates for this enzyme such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diltiazem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induce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bradycardia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hypotension.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SSRIs, such as citalopram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escitalopram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are relatively free of pharmacokinetic interactions.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serious interaction with the SSRIs are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pharmacodynamic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interactions with MAOIs that produce a serotonin syndrome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8716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DRUG INTERACTIONS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839200" cy="470916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SELECTIVE SEROTONIN-NOREPINEPHRINE REUPTAKE INHIBITORS 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SNRIs have relatively fewer CYP450 interactions than the SSRIs.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Venlafaxine is a substrate but not an inhibitor of CYP2D6 or other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isoenzymes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Desvenlafaxine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minor substrate for CYP3A4.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Duloxetine is a moderate inhibitor of CYP2D6 and so may elevate TCA and levels of other CYP2D6 substrates.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all serotonergic antidepressants, SNRIs are contraindicated in combination with MAOIs.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0919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399"/>
            <a:ext cx="8229600" cy="100445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DRUG INTERACTIONS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3340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Tricyclic Antidepressants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Elevations of TCA levels may occur when combined with CYP2D6 inhibitors or from constitutional factors.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7% of the Caucasian population in the USA has a CYP2D6 polymorphism that is associated with slow metabolism of TCAs and other 2D6 substrates.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Combination of a known CYP2D6 inhibitor and a TCA in a patient who is a slow metabolizer may result in additive effects.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may also be additive TCA effects such as anticholinergic or antihistamine effects when combined with other agents that share these properties such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benztropine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diphenhydramine.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9978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>
            <a:normAutofit/>
          </a:bodyPr>
          <a:lstStyle/>
          <a:p>
            <a:pPr algn="l"/>
            <a:r>
              <a:rPr lang="en-US" sz="2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Some antidepressant–CYP450 drug interactions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FB064-3146-410F-BB6F-7F82D947818C}" type="datetime1">
              <a:rPr lang="en-US" smtClean="0"/>
              <a:t>11/11/2024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108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01"/>
            <a:ext cx="914400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9740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DRUG INTERACTIONS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antihypertensive drugs may exacerbate the orthostatic hypotension induced by TCAs.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5-HT 2 ANTAGONISTS </a:t>
            </a:r>
          </a:p>
          <a:p>
            <a:pPr algn="just">
              <a:lnSpc>
                <a:spcPct val="150000"/>
              </a:lnSpc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Nefazodone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inhibitor of the CYP3A4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isoenzyme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it can raise the level and thus exacerbate adverse effects of many 3A4- dependent drugs.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example,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triazolam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levels are increased by concurrent administration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nefazodone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 a reduction 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triazolam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dosage by 75% is recommended.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Likewise, administration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nefazodone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simvastatin has been associated with 20-fold increase in plasma levels of simvastatin.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7389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DRUG INTERACTIONS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Trazodone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substrate but not a potent inhibitor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CYP3A4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combining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trazodone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potent inhibitors of CYP3A4, such as ritonavir or ketoconazole, may lead to substantial increases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trazodone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TETRACYCLIC AND UNICYCLIC ANTIDEPRESSANTS 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Bupropion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metabolized primarily by CYP2B6, and its metabolism may be altered by drugs such as cyclophosphamide, which is a substrate of 2B6.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metabolite of bupropion,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hydroxybupropion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a moderate inhibitor of CYP2D6 and so can raise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desipramine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Bupropion should be avoided in patients taking MAOIs. 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1222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DRUG INTERACTIONS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Mirtazapine is a substrate for several CYP450 enzymes including 2D6, 3A4, and 1A2.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Consequently, drugs that inhibit these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isozymes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raise mirtazapine levels. </a:t>
            </a:r>
          </a:p>
          <a:p>
            <a:pPr algn="just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Amoxapine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maprotiline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share most drug interactions common to the TCA group.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Both are CYP2D6 substrates and should be used with caution in combination with inhibitors such as fluoxetine.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Amoxapine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maprotiline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both have anticholinergic and antihistaminic properties that may be additive with drugs that share a similar profile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6133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DRUG INTERACTIONS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MONOAMINE OXIDASE INHIBITORS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MAOIs are associated with two classes of serious drug interactions. The first of these is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pharmacodynamic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interaction of MAOIs with serotonergic agents including SSRIs, SNRIs, and most TCAs along with some analgesic agents such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meperidine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combinations of an MAOI with a serotonergic agent may result in a life-threatening serotonin syndrome.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serotonin syndrome is thought to be caused by overstimulation of 5-HT receptors in the central gray nuclei and the medulla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37762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DRUG INTERACTIONS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 range from mild to lethal and include a triad of cognitive (delirium, coma), autonomic (hypertension, tachycardia,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diaphoreses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somatic (myoclonus,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hyperreflexia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tremor) effects.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serotonergic antidepressants should be discontinued at least 2 weeks before starting an MAOI.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Fluoxetine, because of its long half-life, should be discontinued for 4–5 weeks before an MAOI is initiated.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Conversely, an MAOI must be discontinued for at least 2 weeks before starting a serotonergic agent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3845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DRUG INTERACTIONS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067800" cy="5562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serious interaction with MAOIs occurs when an MAOI is combined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tyramine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diet or with sympathomimetic substrates of MAO.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MAOI prevents the breakdown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tyramine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gut, and this results in high serum levels that enhance peripheral noradrenergic effects, including raising blood pressure dramatically.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Patients on an MAOI who ingest large amounts of dietary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tyramine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experience malignant hypertension and subsequently a stroke or myocardial infarction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patients taking MAOIs require a low-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tyramine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diet and should avoid foods such as aged cheeses, tap beer, soy products, and dried sausages, which contain high amounts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tyramine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8159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DRUG INTERACTIONS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anose="02020603050405020304" pitchFamily="18" charset="0"/>
              </a:rPr>
              <a:t>Similar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sympathomimetics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may cause significant hypertension when combined with MAOIs.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over-the-counter cold preparations that contain pseudoephedrine and phenylpropanolamine are contraindicated in patients taking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MAOIs.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9E4-751D-4B2A-8E24-396470517CD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9911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4319-050E-4284-B7E2-AD96F3CE51C7}" type="datetime1">
              <a:rPr lang="en-US" smtClean="0"/>
              <a:t>11/11/2024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116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27073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4319-050E-4284-B7E2-AD96F3CE51C7}" type="datetime1">
              <a:rPr lang="en-US" smtClean="0"/>
              <a:t>11/11/2024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117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212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4319-050E-4284-B7E2-AD96F3CE51C7}" type="datetime1">
              <a:rPr lang="en-US" smtClean="0"/>
              <a:t>11/11/2024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118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29286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09800"/>
            <a:ext cx="8229600" cy="2514600"/>
          </a:xfrm>
        </p:spPr>
        <p:txBody>
          <a:bodyPr>
            <a:noAutofit/>
          </a:bodyPr>
          <a:lstStyle/>
          <a:p>
            <a:r>
              <a:rPr lang="hy-AM" sz="7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֍</a:t>
            </a:r>
            <a:r>
              <a:rPr lang="en-US" sz="7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r>
              <a:rPr lang="hy-AM" sz="7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֍</a:t>
            </a:r>
            <a:r>
              <a:rPr lang="en-US" sz="7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7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FB064-3146-410F-BB6F-7F82D947818C}" type="datetime1">
              <a:rPr lang="en-US" smtClean="0"/>
              <a:t>11/11/2024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D685-23A2-4DB2-8B9B-933D0B22C7C2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396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1546</TotalTime>
  <Words>8150</Words>
  <Application>Microsoft Office PowerPoint</Application>
  <PresentationFormat>On-screen Show (4:3)</PresentationFormat>
  <Paragraphs>877</Paragraphs>
  <Slides>119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0" baseType="lpstr">
      <vt:lpstr>Apex</vt:lpstr>
      <vt:lpstr>   </vt:lpstr>
      <vt:lpstr>PowerPoint Presentation</vt:lpstr>
      <vt:lpstr>PowerPoint Presentation</vt:lpstr>
      <vt:lpstr> COURSE OUTLINE </vt:lpstr>
      <vt:lpstr> COURSE OUTLINE </vt:lpstr>
      <vt:lpstr>INTRODUCTION TO DEPRESSION</vt:lpstr>
      <vt:lpstr>INTRODUCTION TO DEPRESSION</vt:lpstr>
      <vt:lpstr>BRIEF HISTORY OF MAJOR DEPRESSION </vt:lpstr>
      <vt:lpstr>USE OF ANTIDEPRESSANT</vt:lpstr>
      <vt:lpstr>PATHOPHYSIOLOGY OF MAJOR DEPRESSION</vt:lpstr>
      <vt:lpstr>NEUROTROPHIC HYPOTHESIS</vt:lpstr>
      <vt:lpstr>PowerPoint Presentation</vt:lpstr>
      <vt:lpstr>NEUROTROPHIC HYPOTHESIS</vt:lpstr>
      <vt:lpstr>NEUROTROPHIC HYPOTHESIS</vt:lpstr>
      <vt:lpstr>MONOAMINES HYPOTHESIS</vt:lpstr>
      <vt:lpstr>MONOAMINES HYPOTHESIS</vt:lpstr>
      <vt:lpstr>MONOAMINES HYPOTHESIS</vt:lpstr>
      <vt:lpstr>MONOAMINES HYPOTHESIS</vt:lpstr>
      <vt:lpstr>THE AMINE HYPOSYNTHESIS OF MAJOR DEPRESSION</vt:lpstr>
      <vt:lpstr>NEUROENDOCRINE FACTORS IN THE PATHOPHYSIOLOGY OF DEPRESSION</vt:lpstr>
      <vt:lpstr>NEUROENDOCRINE FACTORS IN THE PATHOPHYSIOLOGY OF DEPRESSION</vt:lpstr>
      <vt:lpstr>BASIC PHARMACOLOGY OF ANTIDEPRESSANTS</vt:lpstr>
      <vt:lpstr>BASIC PHARMACOLOGY OF ANTIDEPRESSANTS</vt:lpstr>
      <vt:lpstr>BASIC PHARMACOLOGY OF ANTIDEPRESSANTS</vt:lpstr>
      <vt:lpstr>PowerPoint Presentation</vt:lpstr>
      <vt:lpstr>BASIC PHARMACOLOGY OF ANTIDEPRESSANTS</vt:lpstr>
      <vt:lpstr>PowerPoint Presentation</vt:lpstr>
      <vt:lpstr>BASIC PHARMACOLOGY OF ANTIDEPRESSANTS</vt:lpstr>
      <vt:lpstr>BASIC PHARMACOLOGY OF ANTIDEPRESSANTS</vt:lpstr>
      <vt:lpstr>BASIC PHARMACOLOGY OF ANTIDEPRESSANTS</vt:lpstr>
      <vt:lpstr>BASIC PHARMACOLOGY OF ANTIDEPRESSANTS</vt:lpstr>
      <vt:lpstr>BASIC PHARMACOLOGY OF ANTIDEPRESSANTS</vt:lpstr>
      <vt:lpstr>STRUCTURES OF TRICYCLIC ANTIDEPRESSANT</vt:lpstr>
      <vt:lpstr>BASIC PHARMACOLOGY OF ANTIDEPRESSANTS</vt:lpstr>
      <vt:lpstr>BASIC PHARMACOLOGY OF ANTIDEPRESSANTS</vt:lpstr>
      <vt:lpstr>PowerPoint Presentation</vt:lpstr>
      <vt:lpstr>BASIC PHARMACOLOGY OF ANTIDEPRESSANTS</vt:lpstr>
      <vt:lpstr>PowerPoint Presentation</vt:lpstr>
      <vt:lpstr>BASIC PHARMACOLOGY OF ANTIDEPRESSANTS</vt:lpstr>
      <vt:lpstr>BASIC PHARMACOLOGY OF ANTIDEPRESSANTS</vt:lpstr>
      <vt:lpstr>PHARMACOKINECTICS</vt:lpstr>
      <vt:lpstr>PHARMACOKINECTICS</vt:lpstr>
      <vt:lpstr>PHARMACOKINECTICS</vt:lpstr>
      <vt:lpstr>PHARMACOKINECTICS</vt:lpstr>
      <vt:lpstr>PHARMACOKINECTICS</vt:lpstr>
      <vt:lpstr>PHARMACOKINECTICS</vt:lpstr>
      <vt:lpstr>PHARMACOKINECTICS</vt:lpstr>
      <vt:lpstr>PHARMACOKINECTICS</vt:lpstr>
      <vt:lpstr>PHARMACOKINECTICS</vt:lpstr>
      <vt:lpstr>PHARMACOKINECTICS</vt:lpstr>
      <vt:lpstr>PHARMACOKINECTICS</vt:lpstr>
      <vt:lpstr>PHARMACOKINETIC PROFILES OF SELECTED ANTIDEPRESSANTS</vt:lpstr>
      <vt:lpstr>PHARMACOKINECTICS</vt:lpstr>
      <vt:lpstr>PHARMACOKINECTICS</vt:lpstr>
      <vt:lpstr>PHARMACODYNAMICS</vt:lpstr>
      <vt:lpstr>PHARMACODYNAMICS</vt:lpstr>
      <vt:lpstr>PHARMACODYNAMICS</vt:lpstr>
      <vt:lpstr>PowerPoint Presentation</vt:lpstr>
      <vt:lpstr>PHARMACODYNAMICS</vt:lpstr>
      <vt:lpstr>PHARMACODYNAMICS</vt:lpstr>
      <vt:lpstr>PHARMACODYNAMICS</vt:lpstr>
      <vt:lpstr>PHARMACODYNAMICS</vt:lpstr>
      <vt:lpstr>PHARMACODYNAMICS</vt:lpstr>
      <vt:lpstr>PHARMACODYNAMICS</vt:lpstr>
      <vt:lpstr>PHARMACODYNAMICS</vt:lpstr>
      <vt:lpstr>PHARMACODYNAMICS</vt:lpstr>
      <vt:lpstr>PHARMACODYNAMICS</vt:lpstr>
      <vt:lpstr>PHARMACODYNAMICS</vt:lpstr>
      <vt:lpstr>PHARMACODYNAMICS</vt:lpstr>
      <vt:lpstr>PHARMACODYNAMICS</vt:lpstr>
      <vt:lpstr>PHARMACODYNAMICS</vt:lpstr>
      <vt:lpstr>CLINICAL PHARMACOLOGY OF ANTIDEPRESSANTS</vt:lpstr>
      <vt:lpstr>CLINICAL PHARMACOLOGY OF ANTIDEPRESSANTS</vt:lpstr>
      <vt:lpstr>CLINICAL PHARMACOLOGY OF ANTIDEPRESSANTS</vt:lpstr>
      <vt:lpstr>CLINICAL PHARMACOLOGY OF ANTIDEPRESSANTS</vt:lpstr>
      <vt:lpstr>CLINICAL PHARMACOLOGY OF ANTIDEPRESSANTS</vt:lpstr>
      <vt:lpstr>CLINICAL PHARMACOLOGY OF ANTIDEPRESSANTS</vt:lpstr>
      <vt:lpstr>CLINICAL PHARMACOLOGY OF ANTIDEPRESSANTS</vt:lpstr>
      <vt:lpstr>CLINICAL PHARMACOLOGY OF ANTIDEPRESSANTS</vt:lpstr>
      <vt:lpstr>CLINICAL PHARMACOLOGY OF ANTIDEPRESSANTS</vt:lpstr>
      <vt:lpstr>CLINICAL PHARMACOLOGY OF ANTIDEPRESSANTS</vt:lpstr>
      <vt:lpstr>CLINICAL PHARMACOLOGY OF ANTIDEPRESSANTS</vt:lpstr>
      <vt:lpstr>CLINICAL PHARMACOLOGY OF ANTIDEPRESSANTS</vt:lpstr>
      <vt:lpstr>CLINICAL PHARMACOLOGY OF ANTIDEPRESSANTS</vt:lpstr>
      <vt:lpstr>FACTORS TO CONSIDER IN CHOOSING AN ANTIDEPRESSANT</vt:lpstr>
      <vt:lpstr>FACTORS TO CONSIDER IN CHOOSING AN ANTIDEPRESSANT</vt:lpstr>
      <vt:lpstr>FACTORS TO CONSIDER IN CHOOSING AN ANTIDEPRESSANT</vt:lpstr>
      <vt:lpstr>DOSING</vt:lpstr>
      <vt:lpstr>DOSING</vt:lpstr>
      <vt:lpstr>ADVERSE EFFECT</vt:lpstr>
      <vt:lpstr>PowerPoint Presentation</vt:lpstr>
      <vt:lpstr>PowerPoint Presentation</vt:lpstr>
      <vt:lpstr>ADVERSE EFFECT</vt:lpstr>
      <vt:lpstr>ADVERSE EFFECT</vt:lpstr>
      <vt:lpstr>ADVERSE EFFECT</vt:lpstr>
      <vt:lpstr>ADVERSE EFFECT</vt:lpstr>
      <vt:lpstr>ADVERSE EFFECT</vt:lpstr>
      <vt:lpstr>ADVERSE EFFECT</vt:lpstr>
      <vt:lpstr>ADVERSE EFFECT</vt:lpstr>
      <vt:lpstr>ADVERSE EFFECT</vt:lpstr>
      <vt:lpstr>OVERDOSE</vt:lpstr>
      <vt:lpstr>OVERDOSE</vt:lpstr>
      <vt:lpstr>OVERDOSE</vt:lpstr>
      <vt:lpstr>DRUG INTERACTIONS</vt:lpstr>
      <vt:lpstr>DRUG INTERACTIONS</vt:lpstr>
      <vt:lpstr>DRUG INTERACTIONS</vt:lpstr>
      <vt:lpstr>DRUG INTERACTIONS</vt:lpstr>
      <vt:lpstr>Some antidepressant–CYP450 drug interactions</vt:lpstr>
      <vt:lpstr>DRUG INTERACTIONS</vt:lpstr>
      <vt:lpstr>DRUG INTERACTIONS</vt:lpstr>
      <vt:lpstr>DRUG INTERACTIONS</vt:lpstr>
      <vt:lpstr>DRUG INTERACTIONS</vt:lpstr>
      <vt:lpstr>DRUG INTERACTIONS</vt:lpstr>
      <vt:lpstr>DRUG INTERACTIONS</vt:lpstr>
      <vt:lpstr>DRUG INTERACTIONS</vt:lpstr>
      <vt:lpstr>PowerPoint Presentation</vt:lpstr>
      <vt:lpstr>PowerPoint Presentation</vt:lpstr>
      <vt:lpstr>PowerPoint Presentation</vt:lpstr>
      <vt:lpstr>֍THANK YOU֍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Sunlight-PC</dc:creator>
  <cp:lastModifiedBy>Sunlight-PC</cp:lastModifiedBy>
  <cp:revision>101</cp:revision>
  <dcterms:created xsi:type="dcterms:W3CDTF">2024-10-24T17:23:03Z</dcterms:created>
  <dcterms:modified xsi:type="dcterms:W3CDTF">2024-11-11T10:17:48Z</dcterms:modified>
</cp:coreProperties>
</file>