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2" r:id="rId5"/>
    <p:sldId id="261" r:id="rId6"/>
    <p:sldId id="263" r:id="rId7"/>
    <p:sldId id="264" r:id="rId8"/>
    <p:sldId id="268" r:id="rId9"/>
    <p:sldId id="266" r:id="rId10"/>
    <p:sldId id="267" r:id="rId11"/>
    <p:sldId id="269" r:id="rId12"/>
    <p:sldId id="276" r:id="rId13"/>
    <p:sldId id="277" r:id="rId14"/>
    <p:sldId id="278" r:id="rId15"/>
    <p:sldId id="279" r:id="rId16"/>
    <p:sldId id="270" r:id="rId17"/>
    <p:sldId id="271" r:id="rId18"/>
    <p:sldId id="272" r:id="rId19"/>
    <p:sldId id="273" r:id="rId20"/>
    <p:sldId id="274" r:id="rId21"/>
    <p:sldId id="275" r:id="rId22"/>
    <p:sldId id="280" r:id="rId23"/>
    <p:sldId id="306" r:id="rId24"/>
    <p:sldId id="303" r:id="rId25"/>
    <p:sldId id="304" r:id="rId26"/>
    <p:sldId id="305" r:id="rId27"/>
    <p:sldId id="284" r:id="rId28"/>
    <p:sldId id="310" r:id="rId29"/>
    <p:sldId id="311" r:id="rId30"/>
    <p:sldId id="312" r:id="rId31"/>
    <p:sldId id="313" r:id="rId32"/>
    <p:sldId id="285" r:id="rId33"/>
    <p:sldId id="287" r:id="rId34"/>
    <p:sldId id="286" r:id="rId35"/>
    <p:sldId id="289" r:id="rId36"/>
    <p:sldId id="288" r:id="rId37"/>
    <p:sldId id="291" r:id="rId38"/>
    <p:sldId id="292" r:id="rId39"/>
    <p:sldId id="294" r:id="rId40"/>
    <p:sldId id="293" r:id="rId41"/>
    <p:sldId id="298" r:id="rId42"/>
    <p:sldId id="297" r:id="rId43"/>
    <p:sldId id="295" r:id="rId44"/>
    <p:sldId id="28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59232A-FD70-4D4B-9F2A-C5800BEFA043}">
          <p14:sldIdLst>
            <p14:sldId id="256"/>
            <p14:sldId id="258"/>
            <p14:sldId id="260"/>
            <p14:sldId id="262"/>
            <p14:sldId id="261"/>
            <p14:sldId id="263"/>
            <p14:sldId id="264"/>
            <p14:sldId id="268"/>
            <p14:sldId id="266"/>
            <p14:sldId id="267"/>
            <p14:sldId id="269"/>
            <p14:sldId id="276"/>
            <p14:sldId id="277"/>
            <p14:sldId id="278"/>
            <p14:sldId id="279"/>
            <p14:sldId id="270"/>
            <p14:sldId id="271"/>
            <p14:sldId id="272"/>
            <p14:sldId id="273"/>
            <p14:sldId id="274"/>
            <p14:sldId id="275"/>
            <p14:sldId id="280"/>
            <p14:sldId id="306"/>
          </p14:sldIdLst>
        </p14:section>
        <p14:section name="Untitled Section" id="{B1F34E81-506C-44F7-95CA-0FE57FEFBA13}">
          <p14:sldIdLst>
            <p14:sldId id="303"/>
            <p14:sldId id="304"/>
            <p14:sldId id="305"/>
            <p14:sldId id="284"/>
            <p14:sldId id="310"/>
            <p14:sldId id="311"/>
            <p14:sldId id="312"/>
            <p14:sldId id="313"/>
            <p14:sldId id="285"/>
            <p14:sldId id="287"/>
            <p14:sldId id="286"/>
            <p14:sldId id="289"/>
            <p14:sldId id="288"/>
            <p14:sldId id="291"/>
            <p14:sldId id="292"/>
            <p14:sldId id="294"/>
            <p14:sldId id="293"/>
            <p14:sldId id="298"/>
            <p14:sldId id="297"/>
            <p14:sldId id="295"/>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5E530-FC5B-48A0-A2F0-469E9673FC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8B9359-3E76-499F-B70E-963AC085CC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4E7F0E-9722-4960-A5DC-46C615544214}"/>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9B2202B8-85E3-4ABD-9484-DA47A4282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488F0-2B35-4CEB-8507-2F95241A5B79}"/>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2162925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D1BD-031C-49EC-BD2B-F3C5DEF9A5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20DFCC-65E2-4320-9652-6FC1B59782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918029-DA69-4723-B7B0-FA9F1CE716F3}"/>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D8F736D7-781C-456B-9879-E3F8B5C3A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26F11-CEFF-40A9-95DC-6430AA7C4054}"/>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100302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C111-297D-4E1F-898E-70B212EF76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24B466-D9FF-4894-856D-AD9EB27E72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2D971F6-FF24-4AC1-962F-13F2449A9F64}"/>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0FEB8FFE-879E-4393-B563-5FEDEA7533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995C79-7631-423E-8CEB-F24CCD1B93C6}"/>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1191606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EDD4-E49B-4547-91C9-7AA71747D1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91E95F-D26E-4301-AFDA-2FE7FD195BF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B47B52-48A8-4730-B673-4A470C45CA8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D546D7-70ED-40DE-BC9D-F4B155A2C468}"/>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6" name="Footer Placeholder 5">
            <a:extLst>
              <a:ext uri="{FF2B5EF4-FFF2-40B4-BE49-F238E27FC236}">
                <a16:creationId xmlns:a16="http://schemas.microsoft.com/office/drawing/2014/main" id="{04A5B2C8-A802-45E3-AF65-0797BB8ACA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5D095C-12EC-4F52-8B25-D06D18FDC269}"/>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761204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A841-B6C3-4735-B7A1-045F12D006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28A0D1-2D00-49B1-BDE7-804A77DD04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F006594-4CB2-46DF-A6F4-38A598E8638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16A82D-58ED-416D-85F0-E83D8CB3D5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85378EF-511E-485F-A114-31BF8640432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033A7C-6C15-464A-B73E-E6E3158D01AE}"/>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8" name="Footer Placeholder 7">
            <a:extLst>
              <a:ext uri="{FF2B5EF4-FFF2-40B4-BE49-F238E27FC236}">
                <a16:creationId xmlns:a16="http://schemas.microsoft.com/office/drawing/2014/main" id="{54A9E66E-F41D-4B50-901B-E25829FE80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C1B635-EA86-4DBD-BED9-FC1FBB9FBC7C}"/>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353579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1271-2542-4903-B5D5-D5ADDC68D1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48457A-79DF-48F9-A582-612F00EB43B1}"/>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4" name="Footer Placeholder 3">
            <a:extLst>
              <a:ext uri="{FF2B5EF4-FFF2-40B4-BE49-F238E27FC236}">
                <a16:creationId xmlns:a16="http://schemas.microsoft.com/office/drawing/2014/main" id="{294460EE-1253-4209-B117-74278127F9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165B34-3ED4-4BF2-A182-2311E5ED54A8}"/>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1489934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832AD4-96D4-4FDD-93B8-474FC9F6B453}"/>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3" name="Footer Placeholder 2">
            <a:extLst>
              <a:ext uri="{FF2B5EF4-FFF2-40B4-BE49-F238E27FC236}">
                <a16:creationId xmlns:a16="http://schemas.microsoft.com/office/drawing/2014/main" id="{8B5007F1-9116-4EFE-8EFD-67C583A647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64AF96-BC75-4050-BE90-5832E1F8D2C9}"/>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295668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1A595-AF59-427F-8D13-D70AA61B6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CA2FFA-8B9B-476A-BD2F-CD48DA506D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276EC4-74F7-4F7E-88E7-49A159B9E2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C4B723-2A41-44B1-BA0F-0E24B529FFA7}"/>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6" name="Footer Placeholder 5">
            <a:extLst>
              <a:ext uri="{FF2B5EF4-FFF2-40B4-BE49-F238E27FC236}">
                <a16:creationId xmlns:a16="http://schemas.microsoft.com/office/drawing/2014/main" id="{95ADA055-E214-4A1B-BD94-10B5CD8EB2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EE4762-F478-4558-B90E-DE9CCD194DD6}"/>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588930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CB9E7-9EFB-4C9B-BD38-4411B8D342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CD9274-AD8A-4EBF-882E-583BD55185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609912-5300-4D63-BE36-ED62D03045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4BB7B8-1E81-4BA3-924B-3D77DED2FF06}"/>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6" name="Footer Placeholder 5">
            <a:extLst>
              <a:ext uri="{FF2B5EF4-FFF2-40B4-BE49-F238E27FC236}">
                <a16:creationId xmlns:a16="http://schemas.microsoft.com/office/drawing/2014/main" id="{AD0309F8-52C8-41A5-B4ED-1A7759F96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31E24D-F17C-48EF-87DE-5EA2D67C8320}"/>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244117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F4CC-3899-42B7-B388-D430D0DD2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23C39C-2A8A-49AF-8FE5-816F863F8A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8F6CAC-D394-48D5-8504-990DBC78537C}"/>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052DAF5F-15DE-4561-B36B-029A9AC33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CDE0F-A74C-42B6-9636-3B73FB476658}"/>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630108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F01559-A661-45C5-9EB4-EA3DA12ECC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63E291-0B3F-4811-AAA7-E4E524904A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37AC9-805E-45B2-9933-6023642B924F}"/>
              </a:ext>
            </a:extLst>
          </p:cNvPr>
          <p:cNvSpPr>
            <a:spLocks noGrp="1"/>
          </p:cNvSpPr>
          <p:nvPr>
            <p:ph type="dt" sz="half" idx="10"/>
          </p:nvPr>
        </p:nvSpPr>
        <p:spPr/>
        <p:txBody>
          <a:body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E30E6B32-84E3-4033-B6AB-F409D2029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287B2-5B3E-493F-961A-292CF3F15FF2}"/>
              </a:ext>
            </a:extLst>
          </p:cNvPr>
          <p:cNvSpPr>
            <a:spLocks noGrp="1"/>
          </p:cNvSpPr>
          <p:nvPr>
            <p:ph type="sldNum" sz="quarter" idx="12"/>
          </p:nvPr>
        </p:nvSpPr>
        <p:spPr/>
        <p:txBody>
          <a:bodyPr/>
          <a:lstStyle/>
          <a:p>
            <a:fld id="{12C38BD2-01AA-4928-B80B-29BFB6F21019}" type="slidenum">
              <a:rPr lang="en-US" smtClean="0"/>
              <a:t>‹#›</a:t>
            </a:fld>
            <a:endParaRPr lang="en-US"/>
          </a:p>
        </p:txBody>
      </p:sp>
    </p:spTree>
    <p:extLst>
      <p:ext uri="{BB962C8B-B14F-4D97-AF65-F5344CB8AC3E}">
        <p14:creationId xmlns:p14="http://schemas.microsoft.com/office/powerpoint/2010/main" val="3565804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CBAE2-E248-4899-A0AF-8877D61D3F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ACFD18-1533-4E76-8949-F270F8C5A0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C0522-DD5B-4677-AE15-382C71C62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9D69D0-8D39-4C05-AA53-AA10EA3AD604}" type="datetimeFigureOut">
              <a:rPr lang="en-US" smtClean="0"/>
              <a:t>11/6/2018</a:t>
            </a:fld>
            <a:endParaRPr lang="en-US"/>
          </a:p>
        </p:txBody>
      </p:sp>
      <p:sp>
        <p:nvSpPr>
          <p:cNvPr id="5" name="Footer Placeholder 4">
            <a:extLst>
              <a:ext uri="{FF2B5EF4-FFF2-40B4-BE49-F238E27FC236}">
                <a16:creationId xmlns:a16="http://schemas.microsoft.com/office/drawing/2014/main" id="{1F27862E-8657-41A2-B712-EB58A98C47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410615-0E05-4B83-BE4F-78896BDA91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C38BD2-01AA-4928-B80B-29BFB6F21019}" type="slidenum">
              <a:rPr lang="en-US" smtClean="0"/>
              <a:t>‹#›</a:t>
            </a:fld>
            <a:endParaRPr lang="en-US"/>
          </a:p>
        </p:txBody>
      </p:sp>
    </p:spTree>
    <p:extLst>
      <p:ext uri="{BB962C8B-B14F-4D97-AF65-F5344CB8AC3E}">
        <p14:creationId xmlns:p14="http://schemas.microsoft.com/office/powerpoint/2010/main" val="3730443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2A990-7712-4DB3-A983-B1CB85A43607}"/>
              </a:ext>
            </a:extLst>
          </p:cNvPr>
          <p:cNvSpPr>
            <a:spLocks noGrp="1"/>
          </p:cNvSpPr>
          <p:nvPr>
            <p:ph type="ctrTitle"/>
          </p:nvPr>
        </p:nvSpPr>
        <p:spPr/>
        <p:txBody>
          <a:bodyPr/>
          <a:lstStyle/>
          <a:p>
            <a:r>
              <a:rPr lang="en-US" dirty="0">
                <a:solidFill>
                  <a:srgbClr val="FF0000"/>
                </a:solidFill>
              </a:rPr>
              <a:t>ANTIDEPRESSANT</a:t>
            </a:r>
          </a:p>
        </p:txBody>
      </p:sp>
      <p:sp>
        <p:nvSpPr>
          <p:cNvPr id="3" name="Subtitle 2">
            <a:extLst>
              <a:ext uri="{FF2B5EF4-FFF2-40B4-BE49-F238E27FC236}">
                <a16:creationId xmlns:a16="http://schemas.microsoft.com/office/drawing/2014/main" id="{963E4A18-6AA7-4B73-BA52-149EBEEFACB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511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C181-BE12-45D2-9948-5CE4003AA892}"/>
              </a:ext>
            </a:extLst>
          </p:cNvPr>
          <p:cNvSpPr>
            <a:spLocks noGrp="1"/>
          </p:cNvSpPr>
          <p:nvPr>
            <p:ph type="title"/>
          </p:nvPr>
        </p:nvSpPr>
        <p:spPr/>
        <p:txBody>
          <a:bodyPr>
            <a:normAutofit fontScale="90000"/>
          </a:bodyPr>
          <a:lstStyle/>
          <a:p>
            <a:r>
              <a:rPr lang="en-US" dirty="0">
                <a:solidFill>
                  <a:srgbClr val="FF0000"/>
                </a:solidFill>
              </a:rPr>
              <a:t>Diagnostic statistical manual of Mental disorders, fifth edition DSM 5</a:t>
            </a:r>
          </a:p>
        </p:txBody>
      </p:sp>
      <p:sp>
        <p:nvSpPr>
          <p:cNvPr id="3" name="Content Placeholder 2">
            <a:extLst>
              <a:ext uri="{FF2B5EF4-FFF2-40B4-BE49-F238E27FC236}">
                <a16:creationId xmlns:a16="http://schemas.microsoft.com/office/drawing/2014/main" id="{15232391-1917-45FA-9DE4-7D02B3132EB7}"/>
              </a:ext>
            </a:extLst>
          </p:cNvPr>
          <p:cNvSpPr>
            <a:spLocks noGrp="1"/>
          </p:cNvSpPr>
          <p:nvPr>
            <p:ph idx="1"/>
          </p:nvPr>
        </p:nvSpPr>
        <p:spPr>
          <a:xfrm>
            <a:off x="5183188" y="987425"/>
            <a:ext cx="6172200" cy="5672682"/>
          </a:xfrm>
        </p:spPr>
        <p:txBody>
          <a:bodyPr>
            <a:normAutofit lnSpcReduction="10000"/>
          </a:bodyPr>
          <a:lstStyle/>
          <a:p>
            <a:r>
              <a:rPr lang="en-US" dirty="0">
                <a:solidFill>
                  <a:srgbClr val="FF0000"/>
                </a:solidFill>
              </a:rPr>
              <a:t>Depressed mood</a:t>
            </a:r>
          </a:p>
          <a:p>
            <a:r>
              <a:rPr lang="en-US" dirty="0">
                <a:solidFill>
                  <a:srgbClr val="FF0000"/>
                </a:solidFill>
              </a:rPr>
              <a:t>Diminished interest or pleasure in all or most activities (anhedonia)</a:t>
            </a:r>
          </a:p>
          <a:p>
            <a:r>
              <a:rPr lang="en-US" dirty="0"/>
              <a:t>Unintentional significant weight loss or gain</a:t>
            </a:r>
          </a:p>
          <a:p>
            <a:r>
              <a:rPr lang="en-US" dirty="0"/>
              <a:t>Insomnia or hypersomnia</a:t>
            </a:r>
          </a:p>
          <a:p>
            <a:r>
              <a:rPr lang="en-US" dirty="0"/>
              <a:t>Agitation or psychomotor retardation</a:t>
            </a:r>
          </a:p>
          <a:p>
            <a:r>
              <a:rPr lang="en-US" dirty="0"/>
              <a:t>Fatigue or loss of energy</a:t>
            </a:r>
          </a:p>
          <a:p>
            <a:r>
              <a:rPr lang="en-US" dirty="0"/>
              <a:t>Diminished ability to concentrate</a:t>
            </a:r>
          </a:p>
          <a:p>
            <a:r>
              <a:rPr lang="en-US" dirty="0">
                <a:solidFill>
                  <a:srgbClr val="FF0000"/>
                </a:solidFill>
              </a:rPr>
              <a:t>Recurrent thoughts of death</a:t>
            </a:r>
          </a:p>
          <a:p>
            <a:endParaRPr lang="en-US" dirty="0"/>
          </a:p>
          <a:p>
            <a:pPr marL="0" indent="0">
              <a:buNone/>
            </a:pPr>
            <a:endParaRPr lang="en-US" dirty="0"/>
          </a:p>
          <a:p>
            <a:endParaRPr lang="en-US" dirty="0"/>
          </a:p>
        </p:txBody>
      </p:sp>
      <p:sp>
        <p:nvSpPr>
          <p:cNvPr id="4" name="Text Placeholder 3">
            <a:extLst>
              <a:ext uri="{FF2B5EF4-FFF2-40B4-BE49-F238E27FC236}">
                <a16:creationId xmlns:a16="http://schemas.microsoft.com/office/drawing/2014/main" id="{446DE0F8-F99C-4D8F-A62A-C004D2988EC7}"/>
              </a:ext>
            </a:extLst>
          </p:cNvPr>
          <p:cNvSpPr>
            <a:spLocks noGrp="1"/>
          </p:cNvSpPr>
          <p:nvPr>
            <p:ph type="body" sz="half" idx="2"/>
          </p:nvPr>
        </p:nvSpPr>
        <p:spPr/>
        <p:txBody>
          <a:bodyPr/>
          <a:lstStyle/>
          <a:p>
            <a:endParaRPr lang="en-US" dirty="0"/>
          </a:p>
          <a:p>
            <a:r>
              <a:rPr lang="en-US" dirty="0"/>
              <a:t>The diagnosis of a Major Depression Episode (MDE) requires five or more symptoms to be present within a 2-week period.</a:t>
            </a:r>
          </a:p>
          <a:p>
            <a:endParaRPr lang="en-US" dirty="0"/>
          </a:p>
          <a:p>
            <a:endParaRPr lang="en-US" dirty="0"/>
          </a:p>
          <a:p>
            <a:r>
              <a:rPr lang="en-US" dirty="0"/>
              <a:t>Symptoms cause clinically significant </a:t>
            </a:r>
            <a:r>
              <a:rPr lang="en-US" dirty="0" err="1"/>
              <a:t>impairement</a:t>
            </a:r>
            <a:r>
              <a:rPr lang="en-US" dirty="0"/>
              <a:t> in social, work, or other important areas of functioning almost everyday.</a:t>
            </a:r>
          </a:p>
        </p:txBody>
      </p:sp>
    </p:spTree>
    <p:extLst>
      <p:ext uri="{BB962C8B-B14F-4D97-AF65-F5344CB8AC3E}">
        <p14:creationId xmlns:p14="http://schemas.microsoft.com/office/powerpoint/2010/main" val="24866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442F9-25AF-4D85-BDDF-F1CF234B09A0}"/>
              </a:ext>
            </a:extLst>
          </p:cNvPr>
          <p:cNvSpPr>
            <a:spLocks noGrp="1"/>
          </p:cNvSpPr>
          <p:nvPr>
            <p:ph type="title"/>
          </p:nvPr>
        </p:nvSpPr>
        <p:spPr>
          <a:xfrm>
            <a:off x="838200" y="218365"/>
            <a:ext cx="10515600" cy="1472324"/>
          </a:xfrm>
        </p:spPr>
        <p:txBody>
          <a:bodyPr>
            <a:normAutofit fontScale="90000"/>
          </a:bodyPr>
          <a:lstStyle/>
          <a:p>
            <a:r>
              <a:rPr lang="en-US" dirty="0">
                <a:solidFill>
                  <a:srgbClr val="FF0000"/>
                </a:solidFill>
                <a:latin typeface="+mn-lt"/>
              </a:rPr>
              <a:t>The ICD-10 Classification of Mental and Behavioral Disorders. Clinical descriptions and diagnostic guidelines</a:t>
            </a:r>
          </a:p>
        </p:txBody>
      </p:sp>
      <p:sp>
        <p:nvSpPr>
          <p:cNvPr id="3" name="Content Placeholder 2">
            <a:extLst>
              <a:ext uri="{FF2B5EF4-FFF2-40B4-BE49-F238E27FC236}">
                <a16:creationId xmlns:a16="http://schemas.microsoft.com/office/drawing/2014/main" id="{E6F20EB1-70EE-459F-941E-54C84AFEE668}"/>
              </a:ext>
            </a:extLst>
          </p:cNvPr>
          <p:cNvSpPr>
            <a:spLocks noGrp="1"/>
          </p:cNvSpPr>
          <p:nvPr>
            <p:ph sz="half" idx="1"/>
          </p:nvPr>
        </p:nvSpPr>
        <p:spPr/>
        <p:txBody>
          <a:bodyPr/>
          <a:lstStyle/>
          <a:p>
            <a:r>
              <a:rPr lang="en-US" dirty="0"/>
              <a:t>Persistent sadness or low mood-and/or</a:t>
            </a:r>
          </a:p>
          <a:p>
            <a:r>
              <a:rPr lang="en-US" dirty="0"/>
              <a:t>Loss of interest or pleasure</a:t>
            </a:r>
          </a:p>
          <a:p>
            <a:r>
              <a:rPr lang="en-US" dirty="0"/>
              <a:t>Fatigue or low energy</a:t>
            </a:r>
          </a:p>
          <a:p>
            <a:r>
              <a:rPr lang="en-US" dirty="0"/>
              <a:t>Disturbed sleep</a:t>
            </a:r>
          </a:p>
          <a:p>
            <a:r>
              <a:rPr lang="en-US" dirty="0"/>
              <a:t>Poor concentration or indecisiveness</a:t>
            </a:r>
          </a:p>
          <a:p>
            <a:r>
              <a:rPr lang="en-US" dirty="0"/>
              <a:t>Low self confidence</a:t>
            </a:r>
          </a:p>
        </p:txBody>
      </p:sp>
      <p:sp>
        <p:nvSpPr>
          <p:cNvPr id="4" name="Content Placeholder 3">
            <a:extLst>
              <a:ext uri="{FF2B5EF4-FFF2-40B4-BE49-F238E27FC236}">
                <a16:creationId xmlns:a16="http://schemas.microsoft.com/office/drawing/2014/main" id="{98D99AEB-8C9C-4D00-BB18-FF90D6A8CAF1}"/>
              </a:ext>
            </a:extLst>
          </p:cNvPr>
          <p:cNvSpPr>
            <a:spLocks noGrp="1"/>
          </p:cNvSpPr>
          <p:nvPr>
            <p:ph sz="half" idx="2"/>
          </p:nvPr>
        </p:nvSpPr>
        <p:spPr/>
        <p:txBody>
          <a:bodyPr/>
          <a:lstStyle/>
          <a:p>
            <a:r>
              <a:rPr lang="en-US" dirty="0"/>
              <a:t>Poor or increased appetite</a:t>
            </a:r>
          </a:p>
          <a:p>
            <a:r>
              <a:rPr lang="en-US" dirty="0"/>
              <a:t>Suicidal thoughts or acts</a:t>
            </a:r>
          </a:p>
          <a:p>
            <a:r>
              <a:rPr lang="en-US" dirty="0"/>
              <a:t>Guilt or  self blame</a:t>
            </a:r>
          </a:p>
          <a:p>
            <a:r>
              <a:rPr lang="en-US" dirty="0"/>
              <a:t>Agitation </a:t>
            </a:r>
          </a:p>
        </p:txBody>
      </p:sp>
      <p:sp>
        <p:nvSpPr>
          <p:cNvPr id="5" name="Rectangle 4">
            <a:extLst>
              <a:ext uri="{FF2B5EF4-FFF2-40B4-BE49-F238E27FC236}">
                <a16:creationId xmlns:a16="http://schemas.microsoft.com/office/drawing/2014/main" id="{1933BC9D-9100-4F11-A7BB-80214C94F51F}"/>
              </a:ext>
            </a:extLst>
          </p:cNvPr>
          <p:cNvSpPr/>
          <p:nvPr/>
        </p:nvSpPr>
        <p:spPr>
          <a:xfrm>
            <a:off x="2852381" y="5719763"/>
            <a:ext cx="7451679"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Not </a:t>
            </a:r>
            <a:r>
              <a:rPr lang="en-US" dirty="0" err="1"/>
              <a:t>depreesed</a:t>
            </a:r>
            <a:r>
              <a:rPr lang="en-US" dirty="0"/>
              <a:t>(fewer than four symptoms), mild depression (four symptoms), moderate depression (5-6symptoms), severe depression (7 or more symptoms with or without psychotic symptoms) </a:t>
            </a:r>
          </a:p>
        </p:txBody>
      </p:sp>
    </p:spTree>
    <p:extLst>
      <p:ext uri="{BB962C8B-B14F-4D97-AF65-F5344CB8AC3E}">
        <p14:creationId xmlns:p14="http://schemas.microsoft.com/office/powerpoint/2010/main" val="94181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FD58-4335-486B-965D-FC2290482BA4}"/>
              </a:ext>
            </a:extLst>
          </p:cNvPr>
          <p:cNvSpPr>
            <a:spLocks noGrp="1"/>
          </p:cNvSpPr>
          <p:nvPr>
            <p:ph type="title"/>
          </p:nvPr>
        </p:nvSpPr>
        <p:spPr>
          <a:xfrm>
            <a:off x="838200" y="365125"/>
            <a:ext cx="10515600" cy="781287"/>
          </a:xfrm>
        </p:spPr>
        <p:txBody>
          <a:bodyPr/>
          <a:lstStyle/>
          <a:p>
            <a:r>
              <a:rPr lang="en-US" dirty="0">
                <a:solidFill>
                  <a:srgbClr val="FF0000"/>
                </a:solidFill>
              </a:rPr>
              <a:t>DSM V</a:t>
            </a:r>
          </a:p>
        </p:txBody>
      </p:sp>
      <p:pic>
        <p:nvPicPr>
          <p:cNvPr id="1026" name="Picture 2" descr="https://www.medicographia.com/wp-content/uploads/2015/04/84.jpg">
            <a:extLst>
              <a:ext uri="{FF2B5EF4-FFF2-40B4-BE49-F238E27FC236}">
                <a16:creationId xmlns:a16="http://schemas.microsoft.com/office/drawing/2014/main" id="{199494C0-3D1E-4FF1-9311-088E8A0BEB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160060"/>
            <a:ext cx="10393907" cy="489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731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7171F-D545-4965-B20C-1AB081863E1B}"/>
              </a:ext>
            </a:extLst>
          </p:cNvPr>
          <p:cNvSpPr>
            <a:spLocks noGrp="1"/>
          </p:cNvSpPr>
          <p:nvPr>
            <p:ph type="title"/>
          </p:nvPr>
        </p:nvSpPr>
        <p:spPr/>
        <p:txBody>
          <a:bodyPr/>
          <a:lstStyle/>
          <a:p>
            <a:r>
              <a:rPr lang="en-US">
                <a:solidFill>
                  <a:srgbClr val="FF0000"/>
                </a:solidFill>
              </a:rPr>
              <a:t>Forms of depressive </a:t>
            </a:r>
            <a:r>
              <a:rPr lang="en-US" dirty="0">
                <a:solidFill>
                  <a:srgbClr val="FF0000"/>
                </a:solidFill>
              </a:rPr>
              <a:t>states</a:t>
            </a:r>
          </a:p>
        </p:txBody>
      </p:sp>
      <p:sp>
        <p:nvSpPr>
          <p:cNvPr id="3" name="Content Placeholder 2">
            <a:extLst>
              <a:ext uri="{FF2B5EF4-FFF2-40B4-BE49-F238E27FC236}">
                <a16:creationId xmlns:a16="http://schemas.microsoft.com/office/drawing/2014/main" id="{13ED36AC-72DE-414F-8394-84FFB5532595}"/>
              </a:ext>
            </a:extLst>
          </p:cNvPr>
          <p:cNvSpPr>
            <a:spLocks noGrp="1"/>
          </p:cNvSpPr>
          <p:nvPr>
            <p:ph idx="1"/>
          </p:nvPr>
        </p:nvSpPr>
        <p:spPr/>
        <p:txBody>
          <a:bodyPr>
            <a:normAutofit/>
          </a:bodyPr>
          <a:lstStyle/>
          <a:p>
            <a:pPr marL="0" indent="0">
              <a:buNone/>
            </a:pPr>
            <a:r>
              <a:rPr lang="en-US" dirty="0" err="1"/>
              <a:t>a.Manic</a:t>
            </a:r>
            <a:r>
              <a:rPr lang="en-US" dirty="0"/>
              <a:t>-depressive psychosis</a:t>
            </a:r>
          </a:p>
          <a:p>
            <a:pPr marL="0" indent="0">
              <a:buNone/>
            </a:pPr>
            <a:r>
              <a:rPr lang="en-US" dirty="0"/>
              <a:t>Unipolar </a:t>
            </a:r>
          </a:p>
          <a:p>
            <a:pPr marL="0" indent="0">
              <a:buNone/>
            </a:pPr>
            <a:r>
              <a:rPr lang="en-US" dirty="0"/>
              <a:t>Only an endogenous depressive illness occurs</a:t>
            </a:r>
          </a:p>
          <a:p>
            <a:pPr marL="0" indent="0">
              <a:buNone/>
            </a:pPr>
            <a:r>
              <a:rPr lang="en-US" dirty="0"/>
              <a:t>Bipolar</a:t>
            </a:r>
          </a:p>
          <a:p>
            <a:r>
              <a:rPr lang="en-US" dirty="0"/>
              <a:t>one or more bouts of mania occur with or without depression. </a:t>
            </a:r>
          </a:p>
          <a:p>
            <a:pPr marL="0" indent="0">
              <a:buNone/>
            </a:pPr>
            <a:r>
              <a:rPr lang="en-US" dirty="0" err="1"/>
              <a:t>b.Mixed</a:t>
            </a:r>
            <a:r>
              <a:rPr lang="en-US" dirty="0"/>
              <a:t> affective states</a:t>
            </a:r>
          </a:p>
          <a:p>
            <a:r>
              <a:rPr lang="en-US" dirty="0"/>
              <a:t> Both depression and mania occur within a single episode of the illness.</a:t>
            </a:r>
          </a:p>
        </p:txBody>
      </p:sp>
    </p:spTree>
    <p:extLst>
      <p:ext uri="{BB962C8B-B14F-4D97-AF65-F5344CB8AC3E}">
        <p14:creationId xmlns:p14="http://schemas.microsoft.com/office/powerpoint/2010/main" val="296050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01828-AC78-4080-ABA0-95A08F86EE65}"/>
              </a:ext>
            </a:extLst>
          </p:cNvPr>
          <p:cNvSpPr>
            <a:spLocks noGrp="1"/>
          </p:cNvSpPr>
          <p:nvPr>
            <p:ph type="title"/>
          </p:nvPr>
        </p:nvSpPr>
        <p:spPr/>
        <p:txBody>
          <a:bodyPr/>
          <a:lstStyle/>
          <a:p>
            <a:r>
              <a:rPr lang="en-US" dirty="0">
                <a:solidFill>
                  <a:srgbClr val="FF0000"/>
                </a:solidFill>
              </a:rPr>
              <a:t>The manic state</a:t>
            </a:r>
          </a:p>
        </p:txBody>
      </p:sp>
      <p:sp>
        <p:nvSpPr>
          <p:cNvPr id="3" name="Content Placeholder 2">
            <a:extLst>
              <a:ext uri="{FF2B5EF4-FFF2-40B4-BE49-F238E27FC236}">
                <a16:creationId xmlns:a16="http://schemas.microsoft.com/office/drawing/2014/main" id="{22C6A97F-BE09-4959-B857-542A1E700BA0}"/>
              </a:ext>
            </a:extLst>
          </p:cNvPr>
          <p:cNvSpPr>
            <a:spLocks noGrp="1"/>
          </p:cNvSpPr>
          <p:nvPr>
            <p:ph idx="1"/>
          </p:nvPr>
        </p:nvSpPr>
        <p:spPr/>
        <p:txBody>
          <a:bodyPr/>
          <a:lstStyle/>
          <a:p>
            <a:r>
              <a:rPr lang="en-US" dirty="0"/>
              <a:t>The opposite of the depressed state, being characterized by a flight of ideas, motor and speech hyperactivity, and an increased appetite and sex urge. </a:t>
            </a:r>
          </a:p>
          <a:p>
            <a:r>
              <a:rPr lang="en-US" dirty="0"/>
              <a:t>When such a state is fully developed, it qualifies as a psychosis. </a:t>
            </a:r>
          </a:p>
          <a:p>
            <a:r>
              <a:rPr lang="en-US" dirty="0"/>
              <a:t>After a minimum of sleep, the patient awakes with enthusiasm and expectation.</a:t>
            </a:r>
          </a:p>
          <a:p>
            <a:r>
              <a:rPr lang="en-US" dirty="0"/>
              <a:t>Possess great drive and confidence yet lacks the ability to carry out plans.</a:t>
            </a:r>
          </a:p>
        </p:txBody>
      </p:sp>
    </p:spTree>
    <p:extLst>
      <p:ext uri="{BB962C8B-B14F-4D97-AF65-F5344CB8AC3E}">
        <p14:creationId xmlns:p14="http://schemas.microsoft.com/office/powerpoint/2010/main" val="398646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768C4-078A-4E43-963B-2B9392143F66}"/>
              </a:ext>
            </a:extLst>
          </p:cNvPr>
          <p:cNvSpPr>
            <a:spLocks noGrp="1"/>
          </p:cNvSpPr>
          <p:nvPr>
            <p:ph type="title"/>
          </p:nvPr>
        </p:nvSpPr>
        <p:spPr/>
        <p:txBody>
          <a:bodyPr/>
          <a:lstStyle/>
          <a:p>
            <a:r>
              <a:rPr lang="en-US" dirty="0">
                <a:solidFill>
                  <a:srgbClr val="FF0000"/>
                </a:solidFill>
              </a:rPr>
              <a:t>Genetics</a:t>
            </a:r>
          </a:p>
        </p:txBody>
      </p:sp>
      <p:sp>
        <p:nvSpPr>
          <p:cNvPr id="3" name="Content Placeholder 2">
            <a:extLst>
              <a:ext uri="{FF2B5EF4-FFF2-40B4-BE49-F238E27FC236}">
                <a16:creationId xmlns:a16="http://schemas.microsoft.com/office/drawing/2014/main" id="{2777B273-D8D9-41C8-86D8-C44F64FB91BA}"/>
              </a:ext>
            </a:extLst>
          </p:cNvPr>
          <p:cNvSpPr>
            <a:spLocks noGrp="1"/>
          </p:cNvSpPr>
          <p:nvPr>
            <p:ph idx="1"/>
          </p:nvPr>
        </p:nvSpPr>
        <p:spPr/>
        <p:txBody>
          <a:bodyPr>
            <a:normAutofit fontScale="85000" lnSpcReduction="10000"/>
          </a:bodyPr>
          <a:lstStyle/>
          <a:p>
            <a:r>
              <a:rPr lang="en-US" dirty="0"/>
              <a:t>Twofold to fourfold increased risk in first degree relatives of developing major depressive disorder. </a:t>
            </a:r>
          </a:p>
          <a:p>
            <a:r>
              <a:rPr lang="en-US" dirty="0"/>
              <a:t>Twin studies indicate that the </a:t>
            </a:r>
            <a:r>
              <a:rPr lang="en-US" dirty="0">
                <a:solidFill>
                  <a:srgbClr val="FF0000"/>
                </a:solidFill>
              </a:rPr>
              <a:t>heritability</a:t>
            </a:r>
            <a:r>
              <a:rPr lang="en-US" dirty="0"/>
              <a:t> of major depressive disorder is approximately 37% TO 50%</a:t>
            </a:r>
          </a:p>
          <a:p>
            <a:r>
              <a:rPr lang="en-US" dirty="0"/>
              <a:t>If several twin studies are taken together, 72 percent of monozygotic twins are concordant for bipolar disease, compared with 14 percent of same-sex dizygotic twins; comparative figures for unipolar disease are 40 percent and 11 percent, respectively</a:t>
            </a:r>
          </a:p>
          <a:p>
            <a:endParaRPr lang="en-US" dirty="0"/>
          </a:p>
          <a:p>
            <a:pPr marL="0" indent="0">
              <a:buNone/>
            </a:pPr>
            <a:endParaRPr lang="en-US" dirty="0"/>
          </a:p>
        </p:txBody>
      </p:sp>
      <p:sp>
        <p:nvSpPr>
          <p:cNvPr id="4" name="Text Placeholder 3">
            <a:extLst>
              <a:ext uri="{FF2B5EF4-FFF2-40B4-BE49-F238E27FC236}">
                <a16:creationId xmlns:a16="http://schemas.microsoft.com/office/drawing/2014/main" id="{3882F770-4282-4F4D-BCA6-E36A2B22B747}"/>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377430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8FED-A338-4B4B-95BF-511FFEA09A94}"/>
              </a:ext>
            </a:extLst>
          </p:cNvPr>
          <p:cNvSpPr>
            <a:spLocks noGrp="1"/>
          </p:cNvSpPr>
          <p:nvPr>
            <p:ph type="title"/>
          </p:nvPr>
        </p:nvSpPr>
        <p:spPr/>
        <p:txBody>
          <a:bodyPr/>
          <a:lstStyle/>
          <a:p>
            <a:r>
              <a:rPr lang="en-US" dirty="0">
                <a:solidFill>
                  <a:srgbClr val="FF0000"/>
                </a:solidFill>
              </a:rPr>
              <a:t>Genetics</a:t>
            </a:r>
          </a:p>
        </p:txBody>
      </p:sp>
      <p:sp>
        <p:nvSpPr>
          <p:cNvPr id="3" name="Content Placeholder 2">
            <a:extLst>
              <a:ext uri="{FF2B5EF4-FFF2-40B4-BE49-F238E27FC236}">
                <a16:creationId xmlns:a16="http://schemas.microsoft.com/office/drawing/2014/main" id="{0FDE5A10-7FA8-4E9F-AB56-DA0650A8DBBB}"/>
              </a:ext>
            </a:extLst>
          </p:cNvPr>
          <p:cNvSpPr>
            <a:spLocks noGrp="1"/>
          </p:cNvSpPr>
          <p:nvPr>
            <p:ph idx="1"/>
          </p:nvPr>
        </p:nvSpPr>
        <p:spPr/>
        <p:txBody>
          <a:bodyPr>
            <a:normAutofit fontScale="85000" lnSpcReduction="10000"/>
          </a:bodyPr>
          <a:lstStyle/>
          <a:p>
            <a:r>
              <a:rPr lang="en-US" dirty="0"/>
              <a:t>Adopted children whose biologic parents had affective disorder are at greater risk of developing this disease than adoptees whose biologic parents were not affected(</a:t>
            </a:r>
            <a:r>
              <a:rPr lang="en-US" dirty="0" err="1"/>
              <a:t>Mendlewicz</a:t>
            </a:r>
            <a:r>
              <a:rPr lang="en-US" dirty="0"/>
              <a:t> and Rainer; </a:t>
            </a:r>
            <a:r>
              <a:rPr lang="en-US" dirty="0" err="1"/>
              <a:t>Cadoret</a:t>
            </a:r>
            <a:r>
              <a:rPr lang="en-US" dirty="0"/>
              <a:t>). </a:t>
            </a:r>
          </a:p>
          <a:p>
            <a:r>
              <a:rPr lang="en-US" dirty="0"/>
              <a:t>Genetic-environmental interaction also influences major depressive disorder.</a:t>
            </a:r>
          </a:p>
          <a:p>
            <a:r>
              <a:rPr lang="en-US" dirty="0"/>
              <a:t> For example, the short allele variant of the serotonin transporter gene </a:t>
            </a:r>
            <a:r>
              <a:rPr lang="en-US" dirty="0">
                <a:solidFill>
                  <a:srgbClr val="FF0000"/>
                </a:solidFill>
              </a:rPr>
              <a:t>(5-HTTLPR [SLC6A4])</a:t>
            </a:r>
            <a:r>
              <a:rPr lang="en-US" dirty="0"/>
              <a:t> and adverse life events appear to interact to predict higher rates of major depressive disorder</a:t>
            </a:r>
          </a:p>
          <a:p>
            <a:endParaRPr lang="en-US" dirty="0"/>
          </a:p>
          <a:p>
            <a:pPr marL="0" indent="0">
              <a:buNone/>
            </a:pPr>
            <a:endParaRPr lang="en-US" dirty="0"/>
          </a:p>
        </p:txBody>
      </p:sp>
      <p:sp>
        <p:nvSpPr>
          <p:cNvPr id="4" name="Text Placeholder 3">
            <a:extLst>
              <a:ext uri="{FF2B5EF4-FFF2-40B4-BE49-F238E27FC236}">
                <a16:creationId xmlns:a16="http://schemas.microsoft.com/office/drawing/2014/main" id="{13556ABB-FB35-4ED8-A823-89C21382B22D}"/>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02223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BF85-C920-4994-8988-7F4A6D9DD6C3}"/>
              </a:ext>
            </a:extLst>
          </p:cNvPr>
          <p:cNvSpPr>
            <a:spLocks noGrp="1"/>
          </p:cNvSpPr>
          <p:nvPr>
            <p:ph type="title"/>
          </p:nvPr>
        </p:nvSpPr>
        <p:spPr/>
        <p:txBody>
          <a:bodyPr/>
          <a:lstStyle/>
          <a:p>
            <a:r>
              <a:rPr lang="en-US" dirty="0">
                <a:solidFill>
                  <a:srgbClr val="FF0000"/>
                </a:solidFill>
              </a:rPr>
              <a:t>OTHERS</a:t>
            </a:r>
          </a:p>
        </p:txBody>
      </p:sp>
      <p:sp>
        <p:nvSpPr>
          <p:cNvPr id="3" name="Content Placeholder 2">
            <a:extLst>
              <a:ext uri="{FF2B5EF4-FFF2-40B4-BE49-F238E27FC236}">
                <a16:creationId xmlns:a16="http://schemas.microsoft.com/office/drawing/2014/main" id="{92C6F10A-642F-40F3-962B-E8447B3D473B}"/>
              </a:ext>
            </a:extLst>
          </p:cNvPr>
          <p:cNvSpPr>
            <a:spLocks noGrp="1"/>
          </p:cNvSpPr>
          <p:nvPr>
            <p:ph idx="1"/>
          </p:nvPr>
        </p:nvSpPr>
        <p:spPr/>
        <p:txBody>
          <a:bodyPr>
            <a:normAutofit/>
          </a:bodyPr>
          <a:lstStyle/>
          <a:p>
            <a:r>
              <a:rPr lang="en-US" dirty="0"/>
              <a:t>Family history of mood </a:t>
            </a:r>
          </a:p>
          <a:p>
            <a:r>
              <a:rPr lang="en-US" dirty="0"/>
              <a:t>Anxiety or psychotic disorders</a:t>
            </a:r>
          </a:p>
          <a:p>
            <a:r>
              <a:rPr lang="en-US" dirty="0"/>
              <a:t>History of childhood trauma</a:t>
            </a:r>
          </a:p>
          <a:p>
            <a:r>
              <a:rPr lang="en-US" dirty="0"/>
              <a:t>Genetic polymorphism in the promoter region of the serotonin transporter gene</a:t>
            </a:r>
          </a:p>
        </p:txBody>
      </p:sp>
      <p:sp>
        <p:nvSpPr>
          <p:cNvPr id="4" name="Text Placeholder 3">
            <a:extLst>
              <a:ext uri="{FF2B5EF4-FFF2-40B4-BE49-F238E27FC236}">
                <a16:creationId xmlns:a16="http://schemas.microsoft.com/office/drawing/2014/main" id="{668D0230-8369-4AEE-9DC6-EC601C5D8675}"/>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409973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7C19-3B3A-4D3A-B69C-6FD7914BFB5D}"/>
              </a:ext>
            </a:extLst>
          </p:cNvPr>
          <p:cNvSpPr>
            <a:spLocks noGrp="1"/>
          </p:cNvSpPr>
          <p:nvPr>
            <p:ph type="title"/>
          </p:nvPr>
        </p:nvSpPr>
        <p:spPr/>
        <p:txBody>
          <a:bodyPr>
            <a:normAutofit fontScale="90000"/>
          </a:bodyPr>
          <a:lstStyle/>
          <a:p>
            <a:r>
              <a:rPr lang="en-US" dirty="0">
                <a:solidFill>
                  <a:srgbClr val="FF0000"/>
                </a:solidFill>
              </a:rPr>
              <a:t>Changes in both</a:t>
            </a:r>
            <a:br>
              <a:rPr lang="en-US" dirty="0">
                <a:solidFill>
                  <a:srgbClr val="FF0000"/>
                </a:solidFill>
              </a:rPr>
            </a:br>
            <a:r>
              <a:rPr lang="en-US" dirty="0">
                <a:solidFill>
                  <a:srgbClr val="FF0000"/>
                </a:solidFill>
              </a:rPr>
              <a:t>structural and functional</a:t>
            </a:r>
            <a:br>
              <a:rPr lang="en-US" dirty="0">
                <a:solidFill>
                  <a:srgbClr val="FF0000"/>
                </a:solidFill>
              </a:rPr>
            </a:br>
            <a:r>
              <a:rPr lang="en-US" dirty="0">
                <a:solidFill>
                  <a:srgbClr val="FF0000"/>
                </a:solidFill>
              </a:rPr>
              <a:t>brain imaging</a:t>
            </a:r>
          </a:p>
        </p:txBody>
      </p:sp>
      <p:sp>
        <p:nvSpPr>
          <p:cNvPr id="3" name="Content Placeholder 2">
            <a:extLst>
              <a:ext uri="{FF2B5EF4-FFF2-40B4-BE49-F238E27FC236}">
                <a16:creationId xmlns:a16="http://schemas.microsoft.com/office/drawing/2014/main" id="{E6182C7B-0241-42BB-928D-028F6530598F}"/>
              </a:ext>
            </a:extLst>
          </p:cNvPr>
          <p:cNvSpPr>
            <a:spLocks noGrp="1"/>
          </p:cNvSpPr>
          <p:nvPr>
            <p:ph idx="1"/>
          </p:nvPr>
        </p:nvSpPr>
        <p:spPr/>
        <p:txBody>
          <a:bodyPr>
            <a:normAutofit/>
          </a:bodyPr>
          <a:lstStyle/>
          <a:p>
            <a:r>
              <a:rPr lang="en-US" dirty="0"/>
              <a:t>Reduced brain volume in the</a:t>
            </a:r>
          </a:p>
          <a:p>
            <a:pPr>
              <a:buFontTx/>
              <a:buChar char="-"/>
            </a:pPr>
            <a:r>
              <a:rPr lang="en-US" dirty="0"/>
              <a:t>Left </a:t>
            </a:r>
            <a:r>
              <a:rPr lang="en-US" dirty="0" err="1"/>
              <a:t>subgenual</a:t>
            </a:r>
            <a:r>
              <a:rPr lang="en-US" dirty="0"/>
              <a:t> prefrontal cortex</a:t>
            </a:r>
          </a:p>
          <a:p>
            <a:pPr>
              <a:buFontTx/>
              <a:buChar char="-"/>
            </a:pPr>
            <a:r>
              <a:rPr lang="en-US" dirty="0"/>
              <a:t>Decreased left prefrontal cortex activity in functional scans  during an acute episode.</a:t>
            </a:r>
          </a:p>
        </p:txBody>
      </p:sp>
      <p:sp>
        <p:nvSpPr>
          <p:cNvPr id="4" name="Text Placeholder 3">
            <a:extLst>
              <a:ext uri="{FF2B5EF4-FFF2-40B4-BE49-F238E27FC236}">
                <a16:creationId xmlns:a16="http://schemas.microsoft.com/office/drawing/2014/main" id="{8034CA2F-3EC5-4D54-B713-0038EADDC043}"/>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77321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FE073-F185-447D-9A75-CDED6ADCDD8B}"/>
              </a:ext>
            </a:extLst>
          </p:cNvPr>
          <p:cNvSpPr>
            <a:spLocks noGrp="1"/>
          </p:cNvSpPr>
          <p:nvPr>
            <p:ph type="title"/>
          </p:nvPr>
        </p:nvSpPr>
        <p:spPr/>
        <p:txBody>
          <a:bodyPr/>
          <a:lstStyle/>
          <a:p>
            <a:r>
              <a:rPr lang="en-US" dirty="0">
                <a:solidFill>
                  <a:srgbClr val="FF0000"/>
                </a:solidFill>
              </a:rPr>
              <a:t>Pathophysiology</a:t>
            </a:r>
          </a:p>
        </p:txBody>
      </p:sp>
      <p:sp>
        <p:nvSpPr>
          <p:cNvPr id="3" name="Content Placeholder 2">
            <a:extLst>
              <a:ext uri="{FF2B5EF4-FFF2-40B4-BE49-F238E27FC236}">
                <a16:creationId xmlns:a16="http://schemas.microsoft.com/office/drawing/2014/main" id="{A675997C-1DDB-45CB-A74D-13AD591868C3}"/>
              </a:ext>
            </a:extLst>
          </p:cNvPr>
          <p:cNvSpPr>
            <a:spLocks noGrp="1"/>
          </p:cNvSpPr>
          <p:nvPr>
            <p:ph idx="1"/>
          </p:nvPr>
        </p:nvSpPr>
        <p:spPr/>
        <p:txBody>
          <a:bodyPr/>
          <a:lstStyle/>
          <a:p>
            <a:r>
              <a:rPr lang="en-US" dirty="0"/>
              <a:t>Monoamine theory of depression</a:t>
            </a:r>
          </a:p>
          <a:p>
            <a:r>
              <a:rPr lang="en-US" dirty="0"/>
              <a:t>Neurotrophic hypothesis</a:t>
            </a:r>
          </a:p>
        </p:txBody>
      </p:sp>
      <p:sp>
        <p:nvSpPr>
          <p:cNvPr id="4" name="Text Placeholder 3">
            <a:extLst>
              <a:ext uri="{FF2B5EF4-FFF2-40B4-BE49-F238E27FC236}">
                <a16:creationId xmlns:a16="http://schemas.microsoft.com/office/drawing/2014/main" id="{CF78D056-A166-4F1D-A457-1CC3A371917D}"/>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4197951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0257-00CE-46D2-A7E4-88843D14DF2D}"/>
              </a:ext>
            </a:extLst>
          </p:cNvPr>
          <p:cNvSpPr>
            <a:spLocks noGrp="1"/>
          </p:cNvSpPr>
          <p:nvPr>
            <p:ph type="title"/>
          </p:nvPr>
        </p:nvSpPr>
        <p:spPr/>
        <p:txBody>
          <a:bodyPr/>
          <a:lstStyle/>
          <a:p>
            <a:r>
              <a:rPr lang="en-US" dirty="0">
                <a:solidFill>
                  <a:srgbClr val="FF0000"/>
                </a:solidFill>
              </a:rPr>
              <a:t>Monoamine theory</a:t>
            </a:r>
          </a:p>
        </p:txBody>
      </p:sp>
      <p:sp>
        <p:nvSpPr>
          <p:cNvPr id="3" name="Content Placeholder 2">
            <a:extLst>
              <a:ext uri="{FF2B5EF4-FFF2-40B4-BE49-F238E27FC236}">
                <a16:creationId xmlns:a16="http://schemas.microsoft.com/office/drawing/2014/main" id="{EEB83326-B01A-49B6-88EA-166AA0452759}"/>
              </a:ext>
            </a:extLst>
          </p:cNvPr>
          <p:cNvSpPr>
            <a:spLocks noGrp="1"/>
          </p:cNvSpPr>
          <p:nvPr>
            <p:ph idx="1"/>
          </p:nvPr>
        </p:nvSpPr>
        <p:spPr/>
        <p:txBody>
          <a:bodyPr/>
          <a:lstStyle/>
          <a:p>
            <a:r>
              <a:rPr lang="en-US" dirty="0"/>
              <a:t>That depression is related to a deficiency in the amount or function of cortical and limbic serotonin (5-HT), norepinephrine (NE), and dopamine (DA).</a:t>
            </a:r>
          </a:p>
        </p:txBody>
      </p:sp>
      <p:sp>
        <p:nvSpPr>
          <p:cNvPr id="4" name="Text Placeholder 3">
            <a:extLst>
              <a:ext uri="{FF2B5EF4-FFF2-40B4-BE49-F238E27FC236}">
                <a16:creationId xmlns:a16="http://schemas.microsoft.com/office/drawing/2014/main" id="{0FC77706-A762-46E1-A467-BFB1317C1061}"/>
              </a:ext>
            </a:extLst>
          </p:cNvPr>
          <p:cNvSpPr>
            <a:spLocks noGrp="1"/>
          </p:cNvSpPr>
          <p:nvPr>
            <p:ph type="body" sz="half" idx="2"/>
          </p:nvPr>
        </p:nvSpPr>
        <p:spPr/>
        <p:txBody>
          <a:bodyPr/>
          <a:lstStyle/>
          <a:p>
            <a:r>
              <a:rPr lang="en-US" dirty="0" err="1">
                <a:solidFill>
                  <a:srgbClr val="FF0000"/>
                </a:solidFill>
              </a:rPr>
              <a:t>Neurotransmiters</a:t>
            </a:r>
            <a:endParaRPr lang="en-US" dirty="0">
              <a:solidFill>
                <a:srgbClr val="FF0000"/>
              </a:solidFill>
            </a:endParaRPr>
          </a:p>
        </p:txBody>
      </p:sp>
    </p:spTree>
    <p:extLst>
      <p:ext uri="{BB962C8B-B14F-4D97-AF65-F5344CB8AC3E}">
        <p14:creationId xmlns:p14="http://schemas.microsoft.com/office/powerpoint/2010/main" val="142997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CEF1-A16C-42E0-8D59-0DCAEBAF19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285604-AF89-46CC-A0F2-3D3E5ABAACB0}"/>
              </a:ext>
            </a:extLst>
          </p:cNvPr>
          <p:cNvSpPr>
            <a:spLocks noGrp="1"/>
          </p:cNvSpPr>
          <p:nvPr>
            <p:ph idx="1"/>
          </p:nvPr>
        </p:nvSpPr>
        <p:spPr/>
        <p:txBody>
          <a:bodyPr>
            <a:normAutofit fontScale="92500" lnSpcReduction="20000"/>
          </a:bodyPr>
          <a:lstStyle/>
          <a:p>
            <a:r>
              <a:rPr lang="en-US" dirty="0"/>
              <a:t>Reserpine treatment, which is known to deplete monoamines, is associated with depression in a subset of patients.</a:t>
            </a:r>
          </a:p>
          <a:p>
            <a:r>
              <a:rPr lang="en-US" dirty="0"/>
              <a:t>Similarly, depressed patients who respond to serotonergic antidepressants such as fluoxetine often rapidly suffer relapse when given diets free of tryptophan, a precursor of serotonin synthesis. </a:t>
            </a:r>
          </a:p>
          <a:p>
            <a:r>
              <a:rPr lang="en-US" dirty="0"/>
              <a:t>Patients who respond to noradrenergic antidepressants such as desipramine are less likely to relapse on a tryptophan-free diet. </a:t>
            </a:r>
          </a:p>
        </p:txBody>
      </p:sp>
      <p:sp>
        <p:nvSpPr>
          <p:cNvPr id="4" name="Text Placeholder 3">
            <a:extLst>
              <a:ext uri="{FF2B5EF4-FFF2-40B4-BE49-F238E27FC236}">
                <a16:creationId xmlns:a16="http://schemas.microsoft.com/office/drawing/2014/main" id="{53143817-A33C-4384-A07F-8F854011AE1B}"/>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029727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F1ED-756D-4D31-ABDB-1956688450B6}"/>
              </a:ext>
            </a:extLst>
          </p:cNvPr>
          <p:cNvSpPr>
            <a:spLocks noGrp="1"/>
          </p:cNvSpPr>
          <p:nvPr>
            <p:ph type="title"/>
          </p:nvPr>
        </p:nvSpPr>
        <p:spPr/>
        <p:txBody>
          <a:bodyPr/>
          <a:lstStyle/>
          <a:p>
            <a:r>
              <a:rPr lang="en-US" dirty="0">
                <a:solidFill>
                  <a:srgbClr val="FF0000"/>
                </a:solidFill>
              </a:rPr>
              <a:t>Monoamine theory of </a:t>
            </a:r>
            <a:r>
              <a:rPr lang="en-US" dirty="0" err="1">
                <a:solidFill>
                  <a:srgbClr val="FF0000"/>
                </a:solidFill>
              </a:rPr>
              <a:t>depreesion</a:t>
            </a:r>
            <a:endParaRPr lang="en-US" dirty="0">
              <a:solidFill>
                <a:srgbClr val="FF0000"/>
              </a:solidFill>
            </a:endParaRPr>
          </a:p>
        </p:txBody>
      </p:sp>
      <p:sp>
        <p:nvSpPr>
          <p:cNvPr id="3" name="Content Placeholder 2">
            <a:extLst>
              <a:ext uri="{FF2B5EF4-FFF2-40B4-BE49-F238E27FC236}">
                <a16:creationId xmlns:a16="http://schemas.microsoft.com/office/drawing/2014/main" id="{29CCF558-B4ED-48E3-8DA7-B8EFD58F7612}"/>
              </a:ext>
            </a:extLst>
          </p:cNvPr>
          <p:cNvSpPr>
            <a:spLocks noGrp="1"/>
          </p:cNvSpPr>
          <p:nvPr>
            <p:ph idx="1"/>
          </p:nvPr>
        </p:nvSpPr>
        <p:spPr/>
        <p:txBody>
          <a:bodyPr>
            <a:normAutofit fontScale="77500" lnSpcReduction="20000"/>
          </a:bodyPr>
          <a:lstStyle/>
          <a:p>
            <a:r>
              <a:rPr lang="en-US" dirty="0"/>
              <a:t> A functional polymorphism exists for the promoter region of the serotonin transporter gene, which regulates how much of the transporter protein is available. </a:t>
            </a:r>
          </a:p>
          <a:p>
            <a:r>
              <a:rPr lang="en-US" dirty="0"/>
              <a:t>Subjects who are homozygous for the s (short) allele may be more vulnerable to developing major depression and suicidal behavior in response to stress.</a:t>
            </a:r>
          </a:p>
          <a:p>
            <a:r>
              <a:rPr lang="en-US" dirty="0"/>
              <a:t> In addition, homozygotes for the s allele may also be less likely to respond to and tolerate serotonergic antidepressants.</a:t>
            </a:r>
          </a:p>
          <a:p>
            <a:r>
              <a:rPr lang="en-US" dirty="0"/>
              <a:t> Conversely, subjects with the l (long) allele tend to be more resistant to stress and may be more likely to respond to serotonergic antidepressants.</a:t>
            </a:r>
          </a:p>
        </p:txBody>
      </p:sp>
      <p:sp>
        <p:nvSpPr>
          <p:cNvPr id="4" name="Text Placeholder 3">
            <a:extLst>
              <a:ext uri="{FF2B5EF4-FFF2-40B4-BE49-F238E27FC236}">
                <a16:creationId xmlns:a16="http://schemas.microsoft.com/office/drawing/2014/main" id="{550E74B0-2E5E-4852-B1EA-232E5A99A1C0}"/>
              </a:ext>
            </a:extLst>
          </p:cNvPr>
          <p:cNvSpPr>
            <a:spLocks noGrp="1"/>
          </p:cNvSpPr>
          <p:nvPr>
            <p:ph type="body" sz="half" idx="2"/>
          </p:nvPr>
        </p:nvSpPr>
        <p:spPr/>
        <p:txBody>
          <a:bodyPr/>
          <a:lstStyle/>
          <a:p>
            <a:endParaRPr lang="en-US" dirty="0"/>
          </a:p>
          <a:p>
            <a:r>
              <a:rPr lang="en-US" dirty="0">
                <a:solidFill>
                  <a:schemeClr val="accent6"/>
                </a:solidFill>
              </a:rPr>
              <a:t>Genetics</a:t>
            </a:r>
          </a:p>
        </p:txBody>
      </p:sp>
    </p:spTree>
    <p:extLst>
      <p:ext uri="{BB962C8B-B14F-4D97-AF65-F5344CB8AC3E}">
        <p14:creationId xmlns:p14="http://schemas.microsoft.com/office/powerpoint/2010/main" val="3904942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2B6A-45C3-4739-8DE6-B6C04BF3EE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0F256B-971B-44B0-AF30-8D5C91DD2B9B}"/>
              </a:ext>
            </a:extLst>
          </p:cNvPr>
          <p:cNvSpPr>
            <a:spLocks noGrp="1"/>
          </p:cNvSpPr>
          <p:nvPr>
            <p:ph idx="1"/>
          </p:nvPr>
        </p:nvSpPr>
        <p:spPr/>
        <p:txBody>
          <a:bodyPr/>
          <a:lstStyle/>
          <a:p>
            <a:r>
              <a:rPr lang="en-US" dirty="0"/>
              <a:t>Some studies have found evidence of alteration in serotonin receptor numbers (5-HT 1A and 5-HT 2C ) or norepinephrine (α 2 ) receptors in depressed and suicidal patients, but these findings have not been</a:t>
            </a:r>
          </a:p>
          <a:p>
            <a:r>
              <a:rPr lang="en-US" dirty="0"/>
              <a:t>consistent.</a:t>
            </a:r>
          </a:p>
        </p:txBody>
      </p:sp>
      <p:sp>
        <p:nvSpPr>
          <p:cNvPr id="4" name="Text Placeholder 3">
            <a:extLst>
              <a:ext uri="{FF2B5EF4-FFF2-40B4-BE49-F238E27FC236}">
                <a16:creationId xmlns:a16="http://schemas.microsoft.com/office/drawing/2014/main" id="{91E90AA9-0DB7-4615-B06D-85E70C47397A}"/>
              </a:ext>
            </a:extLst>
          </p:cNvPr>
          <p:cNvSpPr>
            <a:spLocks noGrp="1"/>
          </p:cNvSpPr>
          <p:nvPr>
            <p:ph type="body" sz="half" idx="2"/>
          </p:nvPr>
        </p:nvSpPr>
        <p:spPr/>
        <p:txBody>
          <a:bodyPr/>
          <a:lstStyle/>
          <a:p>
            <a:r>
              <a:rPr lang="en-US" dirty="0">
                <a:solidFill>
                  <a:schemeClr val="accent6"/>
                </a:solidFill>
              </a:rPr>
              <a:t>Receptors</a:t>
            </a:r>
          </a:p>
        </p:txBody>
      </p:sp>
    </p:spTree>
    <p:extLst>
      <p:ext uri="{BB962C8B-B14F-4D97-AF65-F5344CB8AC3E}">
        <p14:creationId xmlns:p14="http://schemas.microsoft.com/office/powerpoint/2010/main" val="905409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5440-96E4-41BE-AA76-89535B138D23}"/>
              </a:ext>
            </a:extLst>
          </p:cNvPr>
          <p:cNvSpPr>
            <a:spLocks noGrp="1"/>
          </p:cNvSpPr>
          <p:nvPr>
            <p:ph type="title"/>
          </p:nvPr>
        </p:nvSpPr>
        <p:spPr/>
        <p:txBody>
          <a:bodyPr/>
          <a:lstStyle/>
          <a:p>
            <a:r>
              <a:rPr lang="en-US" dirty="0">
                <a:solidFill>
                  <a:srgbClr val="FF0000"/>
                </a:solidFill>
              </a:rPr>
              <a:t>Neurotrophic hypothesis</a:t>
            </a:r>
            <a:br>
              <a:rPr lang="en-US" dirty="0"/>
            </a:br>
            <a:endParaRPr lang="en-US" dirty="0"/>
          </a:p>
        </p:txBody>
      </p:sp>
      <p:sp>
        <p:nvSpPr>
          <p:cNvPr id="3" name="Content Placeholder 2">
            <a:extLst>
              <a:ext uri="{FF2B5EF4-FFF2-40B4-BE49-F238E27FC236}">
                <a16:creationId xmlns:a16="http://schemas.microsoft.com/office/drawing/2014/main" id="{C02CC226-7FD3-44F4-BA45-1AD470F70317}"/>
              </a:ext>
            </a:extLst>
          </p:cNvPr>
          <p:cNvSpPr>
            <a:spLocks noGrp="1"/>
          </p:cNvSpPr>
          <p:nvPr>
            <p:ph idx="1"/>
          </p:nvPr>
        </p:nvSpPr>
        <p:spPr/>
        <p:txBody>
          <a:bodyPr>
            <a:normAutofit fontScale="92500" lnSpcReduction="20000"/>
          </a:bodyPr>
          <a:lstStyle/>
          <a:p>
            <a:r>
              <a:rPr lang="en-US" dirty="0"/>
              <a:t>BDNF is central and key. </a:t>
            </a:r>
          </a:p>
          <a:p>
            <a:r>
              <a:rPr lang="en-US" dirty="0"/>
              <a:t>There is substantial evidence that nerve growth factors such as </a:t>
            </a:r>
            <a:r>
              <a:rPr lang="en-US" b="1" dirty="0"/>
              <a:t>brain-derived neurotrophic factor (BDNF) </a:t>
            </a:r>
            <a:r>
              <a:rPr lang="en-US" dirty="0"/>
              <a:t>are critical in the regulation of neural plasticity, resilience, and neurogenesis. </a:t>
            </a:r>
          </a:p>
          <a:p>
            <a:r>
              <a:rPr lang="en-US" dirty="0"/>
              <a:t>The evidence suggests that depression is associated with the loss of neurotrophic support and that effective antidepressant therapies increase neurogenesis and synaptic connectivity in cortical areas such as the hippocampus.</a:t>
            </a:r>
          </a:p>
          <a:p>
            <a:endParaRPr lang="en-US" dirty="0"/>
          </a:p>
          <a:p>
            <a:endParaRPr lang="en-US" dirty="0"/>
          </a:p>
        </p:txBody>
      </p:sp>
      <p:sp>
        <p:nvSpPr>
          <p:cNvPr id="4" name="Text Placeholder 3">
            <a:extLst>
              <a:ext uri="{FF2B5EF4-FFF2-40B4-BE49-F238E27FC236}">
                <a16:creationId xmlns:a16="http://schemas.microsoft.com/office/drawing/2014/main" id="{077B0A5A-E95E-4702-BD8A-392EE5CF938C}"/>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514704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5749D-2884-49DF-8AFA-89A4B38F756C}"/>
              </a:ext>
            </a:extLst>
          </p:cNvPr>
          <p:cNvSpPr>
            <a:spLocks noGrp="1"/>
          </p:cNvSpPr>
          <p:nvPr>
            <p:ph type="title"/>
          </p:nvPr>
        </p:nvSpPr>
        <p:spPr/>
        <p:txBody>
          <a:bodyPr/>
          <a:lstStyle/>
          <a:p>
            <a:r>
              <a:rPr lang="en-US" dirty="0">
                <a:solidFill>
                  <a:srgbClr val="FF0000"/>
                </a:solidFill>
              </a:rPr>
              <a:t>Neurotrophic hypothesis</a:t>
            </a:r>
            <a:br>
              <a:rPr lang="en-US" dirty="0"/>
            </a:br>
            <a:endParaRPr lang="en-US" dirty="0"/>
          </a:p>
        </p:txBody>
      </p:sp>
      <p:sp>
        <p:nvSpPr>
          <p:cNvPr id="3" name="Content Placeholder 2">
            <a:extLst>
              <a:ext uri="{FF2B5EF4-FFF2-40B4-BE49-F238E27FC236}">
                <a16:creationId xmlns:a16="http://schemas.microsoft.com/office/drawing/2014/main" id="{968CA1F7-1076-49DB-AA20-9ECECAB46E4E}"/>
              </a:ext>
            </a:extLst>
          </p:cNvPr>
          <p:cNvSpPr>
            <a:spLocks noGrp="1"/>
          </p:cNvSpPr>
          <p:nvPr>
            <p:ph idx="1"/>
          </p:nvPr>
        </p:nvSpPr>
        <p:spPr/>
        <p:txBody>
          <a:bodyPr>
            <a:normAutofit fontScale="92500" lnSpcReduction="20000"/>
          </a:bodyPr>
          <a:lstStyle/>
          <a:p>
            <a:r>
              <a:rPr lang="en-US" dirty="0"/>
              <a:t>BDNF is thought to exert its influence on neuronal survival and growth effects by activating the tyrosine kinase receptor B in both neurons and glia</a:t>
            </a:r>
          </a:p>
          <a:p>
            <a:r>
              <a:rPr lang="en-US" dirty="0"/>
              <a:t>Animal and human studies indicate that stress and pain are associated with a drop in BDNF levels and that this loss of neurotrophic support contributes to atrophic structural changes in the hippocampus and perhaps other areas such as the medial frontal cortex and anterior cingulate.</a:t>
            </a:r>
          </a:p>
          <a:p>
            <a:endParaRPr lang="en-US" dirty="0"/>
          </a:p>
        </p:txBody>
      </p:sp>
      <p:sp>
        <p:nvSpPr>
          <p:cNvPr id="4" name="Text Placeholder 3">
            <a:extLst>
              <a:ext uri="{FF2B5EF4-FFF2-40B4-BE49-F238E27FC236}">
                <a16:creationId xmlns:a16="http://schemas.microsoft.com/office/drawing/2014/main" id="{C85285AD-0DC9-4CA2-B184-7902B1FBD785}"/>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1638667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4CCE0-61B8-47A1-AA74-0677834C9DED}"/>
              </a:ext>
            </a:extLst>
          </p:cNvPr>
          <p:cNvSpPr>
            <a:spLocks noGrp="1"/>
          </p:cNvSpPr>
          <p:nvPr>
            <p:ph type="title"/>
          </p:nvPr>
        </p:nvSpPr>
        <p:spPr>
          <a:xfrm>
            <a:off x="874358" y="457200"/>
            <a:ext cx="3932237" cy="1600200"/>
          </a:xfrm>
        </p:spPr>
        <p:txBody>
          <a:bodyPr/>
          <a:lstStyle/>
          <a:p>
            <a:r>
              <a:rPr lang="en-US" dirty="0">
                <a:solidFill>
                  <a:srgbClr val="FF0000"/>
                </a:solidFill>
              </a:rPr>
              <a:t>Neurotrophic hypothesis</a:t>
            </a:r>
            <a:br>
              <a:rPr lang="en-US" dirty="0"/>
            </a:br>
            <a:endParaRPr lang="en-US" dirty="0"/>
          </a:p>
        </p:txBody>
      </p:sp>
      <p:sp>
        <p:nvSpPr>
          <p:cNvPr id="3" name="Content Placeholder 2">
            <a:extLst>
              <a:ext uri="{FF2B5EF4-FFF2-40B4-BE49-F238E27FC236}">
                <a16:creationId xmlns:a16="http://schemas.microsoft.com/office/drawing/2014/main" id="{9C978F41-91E3-4B7B-858D-E576A31FB076}"/>
              </a:ext>
            </a:extLst>
          </p:cNvPr>
          <p:cNvSpPr>
            <a:spLocks noGrp="1"/>
          </p:cNvSpPr>
          <p:nvPr>
            <p:ph idx="1"/>
          </p:nvPr>
        </p:nvSpPr>
        <p:spPr/>
        <p:txBody>
          <a:bodyPr>
            <a:normAutofit fontScale="85000" lnSpcReduction="20000"/>
          </a:bodyPr>
          <a:lstStyle/>
          <a:p>
            <a:r>
              <a:rPr lang="en-US" dirty="0"/>
              <a:t>Another source of evidence supporting the neurotrophic hypothesis of depression comes from studies of the direct effects of BDNF on emotional regulation. </a:t>
            </a:r>
          </a:p>
          <a:p>
            <a:r>
              <a:rPr lang="en-US" dirty="0"/>
              <a:t>Direct infusion of BDNF into the midbrain, hippocampus, and lateral ventricles of rodents has an antidepressant-like effect in animal models. </a:t>
            </a:r>
          </a:p>
          <a:p>
            <a:r>
              <a:rPr lang="en-US" dirty="0"/>
              <a:t>Moreover, all known classes of antidepressants are associated with an increase in BDNF levels in animal models with chronic but not acute administration</a:t>
            </a:r>
          </a:p>
        </p:txBody>
      </p:sp>
      <p:sp>
        <p:nvSpPr>
          <p:cNvPr id="4" name="Text Placeholder 3">
            <a:extLst>
              <a:ext uri="{FF2B5EF4-FFF2-40B4-BE49-F238E27FC236}">
                <a16:creationId xmlns:a16="http://schemas.microsoft.com/office/drawing/2014/main" id="{F7DD1F88-145B-4DE1-A000-F5929A989DB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85192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4CCE0-61B8-47A1-AA74-0677834C9DED}"/>
              </a:ext>
            </a:extLst>
          </p:cNvPr>
          <p:cNvSpPr>
            <a:spLocks noGrp="1"/>
          </p:cNvSpPr>
          <p:nvPr>
            <p:ph type="title"/>
          </p:nvPr>
        </p:nvSpPr>
        <p:spPr/>
        <p:txBody>
          <a:bodyPr/>
          <a:lstStyle/>
          <a:p>
            <a:r>
              <a:rPr lang="en-US" dirty="0">
                <a:solidFill>
                  <a:srgbClr val="FF0000"/>
                </a:solidFill>
              </a:rPr>
              <a:t>Neurotrophic hypothesis</a:t>
            </a:r>
            <a:br>
              <a:rPr lang="en-US" dirty="0"/>
            </a:br>
            <a:endParaRPr lang="en-US" dirty="0"/>
          </a:p>
        </p:txBody>
      </p:sp>
      <p:sp>
        <p:nvSpPr>
          <p:cNvPr id="3" name="Content Placeholder 2">
            <a:extLst>
              <a:ext uri="{FF2B5EF4-FFF2-40B4-BE49-F238E27FC236}">
                <a16:creationId xmlns:a16="http://schemas.microsoft.com/office/drawing/2014/main" id="{9C978F41-91E3-4B7B-858D-E576A31FB076}"/>
              </a:ext>
            </a:extLst>
          </p:cNvPr>
          <p:cNvSpPr>
            <a:spLocks noGrp="1"/>
          </p:cNvSpPr>
          <p:nvPr>
            <p:ph idx="1"/>
          </p:nvPr>
        </p:nvSpPr>
        <p:spPr/>
        <p:txBody>
          <a:bodyPr>
            <a:normAutofit fontScale="92500" lnSpcReduction="10000"/>
          </a:bodyPr>
          <a:lstStyle/>
          <a:p>
            <a:r>
              <a:rPr lang="en-US" dirty="0"/>
              <a:t> This increase in BDNF levels is consistently associated with increased neurogenesis in the hippocampus in these animal models. </a:t>
            </a:r>
          </a:p>
          <a:p>
            <a:r>
              <a:rPr lang="en-US" dirty="0"/>
              <a:t>Other interventions thought to be effective in the treatment of major depression, including electroconvulsive therapy, also appear to robustly stimulate BDNF levels and hippocampus neurogenesis in animal models.</a:t>
            </a:r>
          </a:p>
        </p:txBody>
      </p:sp>
      <p:sp>
        <p:nvSpPr>
          <p:cNvPr id="4" name="Text Placeholder 3">
            <a:extLst>
              <a:ext uri="{FF2B5EF4-FFF2-40B4-BE49-F238E27FC236}">
                <a16:creationId xmlns:a16="http://schemas.microsoft.com/office/drawing/2014/main" id="{F7DD1F88-145B-4DE1-A000-F5929A989DB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416355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781B-6FC4-4A8F-92CD-E002568E588C}"/>
              </a:ext>
            </a:extLst>
          </p:cNvPr>
          <p:cNvSpPr>
            <a:spLocks noGrp="1"/>
          </p:cNvSpPr>
          <p:nvPr>
            <p:ph type="title"/>
          </p:nvPr>
        </p:nvSpPr>
        <p:spPr/>
        <p:txBody>
          <a:bodyPr/>
          <a:lstStyle/>
          <a:p>
            <a:r>
              <a:rPr lang="en-US" dirty="0">
                <a:solidFill>
                  <a:srgbClr val="FF0000"/>
                </a:solidFill>
              </a:rPr>
              <a:t>Neurotrophic hypothesis</a:t>
            </a:r>
          </a:p>
        </p:txBody>
      </p:sp>
      <p:sp>
        <p:nvSpPr>
          <p:cNvPr id="3" name="Content Placeholder 2">
            <a:extLst>
              <a:ext uri="{FF2B5EF4-FFF2-40B4-BE49-F238E27FC236}">
                <a16:creationId xmlns:a16="http://schemas.microsoft.com/office/drawing/2014/main" id="{BE167FC3-608A-4F8A-9A77-05C2CB4D53B6}"/>
              </a:ext>
            </a:extLst>
          </p:cNvPr>
          <p:cNvSpPr>
            <a:spLocks noGrp="1"/>
          </p:cNvSpPr>
          <p:nvPr>
            <p:ph idx="1"/>
          </p:nvPr>
        </p:nvSpPr>
        <p:spPr/>
        <p:txBody>
          <a:bodyPr>
            <a:normAutofit fontScale="92500"/>
          </a:bodyPr>
          <a:lstStyle/>
          <a:p>
            <a:r>
              <a:rPr lang="en-US" dirty="0"/>
              <a:t> Depression appears to be associated with a drop in BDNF levels in the cerebrospinal fluid and serum as well as with a decrease in tyrosine kinase receptor B activity.</a:t>
            </a:r>
          </a:p>
          <a:p>
            <a:r>
              <a:rPr lang="en-US" dirty="0"/>
              <a:t> Conversely, administration of antidepressants increases BDNF levels in clinical trials and may be associated with an increase in hippocampus volume in some patients.</a:t>
            </a:r>
          </a:p>
        </p:txBody>
      </p:sp>
      <p:sp>
        <p:nvSpPr>
          <p:cNvPr id="4" name="Text Placeholder 3">
            <a:extLst>
              <a:ext uri="{FF2B5EF4-FFF2-40B4-BE49-F238E27FC236}">
                <a16:creationId xmlns:a16="http://schemas.microsoft.com/office/drawing/2014/main" id="{F6091601-2B23-4303-A322-DA3909997E14}"/>
              </a:ext>
            </a:extLst>
          </p:cNvPr>
          <p:cNvSpPr>
            <a:spLocks noGrp="1"/>
          </p:cNvSpPr>
          <p:nvPr>
            <p:ph type="body" sz="half" idx="2"/>
          </p:nvPr>
        </p:nvSpPr>
        <p:spPr/>
        <p:txBody>
          <a:bodyPr/>
          <a:lstStyle/>
          <a:p>
            <a:endParaRPr lang="en-US" dirty="0"/>
          </a:p>
          <a:p>
            <a:endParaRPr lang="en-US" dirty="0"/>
          </a:p>
          <a:p>
            <a:r>
              <a:rPr lang="en-US" dirty="0"/>
              <a:t>Human</a:t>
            </a:r>
          </a:p>
        </p:txBody>
      </p:sp>
    </p:spTree>
    <p:extLst>
      <p:ext uri="{BB962C8B-B14F-4D97-AF65-F5344CB8AC3E}">
        <p14:creationId xmlns:p14="http://schemas.microsoft.com/office/powerpoint/2010/main" val="1567460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781B-6FC4-4A8F-92CD-E002568E588C}"/>
              </a:ext>
            </a:extLst>
          </p:cNvPr>
          <p:cNvSpPr>
            <a:spLocks noGrp="1"/>
          </p:cNvSpPr>
          <p:nvPr>
            <p:ph type="title"/>
          </p:nvPr>
        </p:nvSpPr>
        <p:spPr/>
        <p:txBody>
          <a:bodyPr/>
          <a:lstStyle/>
          <a:p>
            <a:r>
              <a:rPr lang="en-US" dirty="0">
                <a:solidFill>
                  <a:srgbClr val="FF0000"/>
                </a:solidFill>
              </a:rPr>
              <a:t>Neurotrophic hypothesis</a:t>
            </a:r>
          </a:p>
        </p:txBody>
      </p:sp>
      <p:sp>
        <p:nvSpPr>
          <p:cNvPr id="3" name="Content Placeholder 2">
            <a:extLst>
              <a:ext uri="{FF2B5EF4-FFF2-40B4-BE49-F238E27FC236}">
                <a16:creationId xmlns:a16="http://schemas.microsoft.com/office/drawing/2014/main" id="{BE167FC3-608A-4F8A-9A77-05C2CB4D53B6}"/>
              </a:ext>
            </a:extLst>
          </p:cNvPr>
          <p:cNvSpPr>
            <a:spLocks noGrp="1"/>
          </p:cNvSpPr>
          <p:nvPr>
            <p:ph idx="1"/>
          </p:nvPr>
        </p:nvSpPr>
        <p:spPr/>
        <p:txBody>
          <a:bodyPr>
            <a:normAutofit fontScale="85000" lnSpcReduction="20000"/>
          </a:bodyPr>
          <a:lstStyle/>
          <a:p>
            <a:pPr marL="0" indent="0">
              <a:buNone/>
            </a:pPr>
            <a:endParaRPr lang="en-US" dirty="0"/>
          </a:p>
          <a:p>
            <a:r>
              <a:rPr lang="en-US" dirty="0"/>
              <a:t>Animal studies in BDNF knockout mice have not </a:t>
            </a:r>
            <a:r>
              <a:rPr lang="en-US"/>
              <a:t>always suggested an </a:t>
            </a:r>
            <a:r>
              <a:rPr lang="en-US" dirty="0"/>
              <a:t>increase in depressive or anxious behaviors that would</a:t>
            </a:r>
          </a:p>
          <a:p>
            <a:r>
              <a:rPr lang="en-US" dirty="0"/>
              <a:t>be expected with a deficiency of BDNF. In addition, some animal</a:t>
            </a:r>
          </a:p>
          <a:p>
            <a:r>
              <a:rPr lang="en-US" dirty="0"/>
              <a:t>studies have found an increase in BDNF levels after some types of</a:t>
            </a:r>
          </a:p>
          <a:p>
            <a:r>
              <a:rPr lang="en-US" dirty="0"/>
              <a:t>social stress and an increase rather than a decrease in depressive</a:t>
            </a:r>
          </a:p>
          <a:p>
            <a:r>
              <a:rPr lang="en-US" dirty="0"/>
              <a:t>behaviors with lateral ventricle injections of BDNF.</a:t>
            </a:r>
          </a:p>
        </p:txBody>
      </p:sp>
      <p:sp>
        <p:nvSpPr>
          <p:cNvPr id="4" name="Text Placeholder 3">
            <a:extLst>
              <a:ext uri="{FF2B5EF4-FFF2-40B4-BE49-F238E27FC236}">
                <a16:creationId xmlns:a16="http://schemas.microsoft.com/office/drawing/2014/main" id="{F6091601-2B23-4303-A322-DA3909997E14}"/>
              </a:ext>
            </a:extLst>
          </p:cNvPr>
          <p:cNvSpPr>
            <a:spLocks noGrp="1"/>
          </p:cNvSpPr>
          <p:nvPr>
            <p:ph type="body" sz="half" idx="2"/>
          </p:nvPr>
        </p:nvSpPr>
        <p:spPr/>
        <p:txBody>
          <a:bodyPr/>
          <a:lstStyle/>
          <a:p>
            <a:endParaRPr lang="en-US" dirty="0"/>
          </a:p>
          <a:p>
            <a:endParaRPr lang="en-US" dirty="0"/>
          </a:p>
          <a:p>
            <a:r>
              <a:rPr lang="en-US" dirty="0"/>
              <a:t>Limitation</a:t>
            </a:r>
          </a:p>
        </p:txBody>
      </p:sp>
    </p:spTree>
    <p:extLst>
      <p:ext uri="{BB962C8B-B14F-4D97-AF65-F5344CB8AC3E}">
        <p14:creationId xmlns:p14="http://schemas.microsoft.com/office/powerpoint/2010/main" val="220646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2A60-0A75-45D5-80C2-DECD99DD89AF}"/>
              </a:ext>
            </a:extLst>
          </p:cNvPr>
          <p:cNvSpPr>
            <a:spLocks noGrp="1"/>
          </p:cNvSpPr>
          <p:nvPr>
            <p:ph type="title"/>
          </p:nvPr>
        </p:nvSpPr>
        <p:spPr/>
        <p:txBody>
          <a:bodyPr/>
          <a:lstStyle/>
          <a:p>
            <a:r>
              <a:rPr lang="en-US" dirty="0">
                <a:solidFill>
                  <a:srgbClr val="FF0000"/>
                </a:solidFill>
              </a:rPr>
              <a:t>Classification</a:t>
            </a:r>
          </a:p>
        </p:txBody>
      </p:sp>
      <p:sp>
        <p:nvSpPr>
          <p:cNvPr id="3" name="Content Placeholder 2">
            <a:extLst>
              <a:ext uri="{FF2B5EF4-FFF2-40B4-BE49-F238E27FC236}">
                <a16:creationId xmlns:a16="http://schemas.microsoft.com/office/drawing/2014/main" id="{A5D68013-5DE1-4794-B96A-750ED98DEDA2}"/>
              </a:ext>
            </a:extLst>
          </p:cNvPr>
          <p:cNvSpPr>
            <a:spLocks noGrp="1"/>
          </p:cNvSpPr>
          <p:nvPr>
            <p:ph idx="1"/>
          </p:nvPr>
        </p:nvSpPr>
        <p:spPr>
          <a:xfrm>
            <a:off x="5183188" y="1001073"/>
            <a:ext cx="6172200" cy="4873625"/>
          </a:xfrm>
        </p:spPr>
        <p:txBody>
          <a:bodyPr/>
          <a:lstStyle/>
          <a:p>
            <a:r>
              <a:rPr lang="en-US" b="1" dirty="0"/>
              <a:t>Selective Serotonin Reuptake Inhibitors</a:t>
            </a:r>
          </a:p>
          <a:p>
            <a:r>
              <a:rPr lang="en-US" b="1" dirty="0"/>
              <a:t>Serotonin-Norepinephrine Reuptake Inhibitors</a:t>
            </a:r>
          </a:p>
          <a:p>
            <a:r>
              <a:rPr lang="en-US" b="1" dirty="0"/>
              <a:t>Tricyclic antidepressants</a:t>
            </a:r>
          </a:p>
          <a:p>
            <a:r>
              <a:rPr lang="en-US" b="1" dirty="0"/>
              <a:t>5-HT 2 Antagonists</a:t>
            </a:r>
          </a:p>
          <a:p>
            <a:r>
              <a:rPr lang="en-US" b="1" dirty="0"/>
              <a:t>Tetracyclic and Unicyclic Antidepressants</a:t>
            </a:r>
          </a:p>
          <a:p>
            <a:r>
              <a:rPr lang="en-US" b="1" dirty="0"/>
              <a:t>Monoamine Oxidase Inhibitors</a:t>
            </a:r>
          </a:p>
          <a:p>
            <a:endParaRPr lang="en-US" b="1" dirty="0"/>
          </a:p>
          <a:p>
            <a:endParaRPr lang="en-US" dirty="0"/>
          </a:p>
        </p:txBody>
      </p:sp>
      <p:sp>
        <p:nvSpPr>
          <p:cNvPr id="4" name="Text Placeholder 3">
            <a:extLst>
              <a:ext uri="{FF2B5EF4-FFF2-40B4-BE49-F238E27FC236}">
                <a16:creationId xmlns:a16="http://schemas.microsoft.com/office/drawing/2014/main" id="{D5B8CAE4-BC1B-4A16-985F-3BAA8210E77A}"/>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401764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99B81-2E30-404E-8F1C-655E368CC93E}"/>
              </a:ext>
            </a:extLst>
          </p:cNvPr>
          <p:cNvSpPr>
            <a:spLocks noGrp="1"/>
          </p:cNvSpPr>
          <p:nvPr>
            <p:ph type="ctrTitle"/>
          </p:nvPr>
        </p:nvSpPr>
        <p:spPr/>
        <p:txBody>
          <a:bodyPr/>
          <a:lstStyle/>
          <a:p>
            <a:r>
              <a:rPr lang="en-US" dirty="0">
                <a:solidFill>
                  <a:srgbClr val="FF0000"/>
                </a:solidFill>
              </a:rPr>
              <a:t>Mechanism of action</a:t>
            </a:r>
          </a:p>
        </p:txBody>
      </p:sp>
      <p:sp>
        <p:nvSpPr>
          <p:cNvPr id="3" name="Subtitle 2">
            <a:extLst>
              <a:ext uri="{FF2B5EF4-FFF2-40B4-BE49-F238E27FC236}">
                <a16:creationId xmlns:a16="http://schemas.microsoft.com/office/drawing/2014/main" id="{409A5352-BE0D-4FFD-BC94-A4B19CDFF73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1260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C7777-C311-43CF-B6DA-2FC2AE2C4F92}"/>
              </a:ext>
            </a:extLst>
          </p:cNvPr>
          <p:cNvSpPr>
            <a:spLocks noGrp="1"/>
          </p:cNvSpPr>
          <p:nvPr>
            <p:ph type="title"/>
          </p:nvPr>
        </p:nvSpPr>
        <p:spPr/>
        <p:txBody>
          <a:bodyPr/>
          <a:lstStyle/>
          <a:p>
            <a:r>
              <a:rPr lang="en-US" dirty="0">
                <a:solidFill>
                  <a:srgbClr val="FF0000"/>
                </a:solidFill>
              </a:rPr>
              <a:t>MECHANISM OF ACTION</a:t>
            </a:r>
          </a:p>
        </p:txBody>
      </p:sp>
      <p:sp>
        <p:nvSpPr>
          <p:cNvPr id="3" name="Content Placeholder 2">
            <a:extLst>
              <a:ext uri="{FF2B5EF4-FFF2-40B4-BE49-F238E27FC236}">
                <a16:creationId xmlns:a16="http://schemas.microsoft.com/office/drawing/2014/main" id="{46BB697E-B1BE-4C22-9196-7B7A9F58DF7C}"/>
              </a:ext>
            </a:extLst>
          </p:cNvPr>
          <p:cNvSpPr>
            <a:spLocks noGrp="1"/>
          </p:cNvSpPr>
          <p:nvPr>
            <p:ph sz="half" idx="1"/>
          </p:nvPr>
        </p:nvSpPr>
        <p:spPr/>
        <p:txBody>
          <a:bodyPr/>
          <a:lstStyle/>
          <a:p>
            <a:r>
              <a:rPr lang="en-US" dirty="0"/>
              <a:t>SSRIs SNRIs and TCAs</a:t>
            </a:r>
          </a:p>
        </p:txBody>
      </p:sp>
      <p:sp>
        <p:nvSpPr>
          <p:cNvPr id="4" name="Content Placeholder 3">
            <a:extLst>
              <a:ext uri="{FF2B5EF4-FFF2-40B4-BE49-F238E27FC236}">
                <a16:creationId xmlns:a16="http://schemas.microsoft.com/office/drawing/2014/main" id="{BAEDB484-230A-432C-93AC-8B5AF46C8569}"/>
              </a:ext>
            </a:extLst>
          </p:cNvPr>
          <p:cNvSpPr>
            <a:spLocks noGrp="1"/>
          </p:cNvSpPr>
          <p:nvPr>
            <p:ph sz="half" idx="2"/>
          </p:nvPr>
        </p:nvSpPr>
        <p:spPr/>
        <p:txBody>
          <a:bodyPr/>
          <a:lstStyle/>
          <a:p>
            <a:r>
              <a:rPr lang="en-US" dirty="0"/>
              <a:t>MAOI</a:t>
            </a:r>
          </a:p>
        </p:txBody>
      </p:sp>
      <p:sp>
        <p:nvSpPr>
          <p:cNvPr id="5" name="Rectangle 4">
            <a:extLst>
              <a:ext uri="{FF2B5EF4-FFF2-40B4-BE49-F238E27FC236}">
                <a16:creationId xmlns:a16="http://schemas.microsoft.com/office/drawing/2014/main" id="{FEB10487-A44F-4C72-A9FC-C53059AE803F}"/>
              </a:ext>
            </a:extLst>
          </p:cNvPr>
          <p:cNvSpPr/>
          <p:nvPr/>
        </p:nvSpPr>
        <p:spPr>
          <a:xfrm>
            <a:off x="1119115" y="2470245"/>
            <a:ext cx="4749421" cy="36030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Inhibition of the activity of SERT, NET, or both monoamine transporters</a:t>
            </a:r>
          </a:p>
        </p:txBody>
      </p:sp>
      <p:sp>
        <p:nvSpPr>
          <p:cNvPr id="8" name="Rectangle 7">
            <a:extLst>
              <a:ext uri="{FF2B5EF4-FFF2-40B4-BE49-F238E27FC236}">
                <a16:creationId xmlns:a16="http://schemas.microsoft.com/office/drawing/2014/main" id="{18FBB7C5-14F1-4297-A073-AF67C15A1DF2}"/>
              </a:ext>
            </a:extLst>
          </p:cNvPr>
          <p:cNvSpPr/>
          <p:nvPr/>
        </p:nvSpPr>
        <p:spPr>
          <a:xfrm>
            <a:off x="6172200" y="2579427"/>
            <a:ext cx="4909782" cy="3597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t>Inhibition of their enzymatic degradation</a:t>
            </a:r>
          </a:p>
        </p:txBody>
      </p:sp>
    </p:spTree>
    <p:extLst>
      <p:ext uri="{BB962C8B-B14F-4D97-AF65-F5344CB8AC3E}">
        <p14:creationId xmlns:p14="http://schemas.microsoft.com/office/powerpoint/2010/main" val="2546562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34AEC-8330-4ED3-85A4-2F2C5FC2BE2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296C616-600B-47CC-B76F-F05E92F2CE3A}"/>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id="{E9EF1FE9-2AB7-4CFF-9EA6-76837D57F712}"/>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FF21E69B-39D1-4721-B55B-E9F3557E953F}"/>
              </a:ext>
            </a:extLst>
          </p:cNvPr>
          <p:cNvSpPr>
            <a:spLocks noGrp="1"/>
          </p:cNvSpPr>
          <p:nvPr>
            <p:ph type="body" sz="quarter" idx="3"/>
          </p:nvPr>
        </p:nvSpPr>
        <p:spPr/>
        <p:txBody>
          <a:bodyPr/>
          <a:lstStyle/>
          <a:p>
            <a:endParaRPr lang="en-US"/>
          </a:p>
        </p:txBody>
      </p:sp>
      <p:sp>
        <p:nvSpPr>
          <p:cNvPr id="6" name="Content Placeholder 5">
            <a:extLst>
              <a:ext uri="{FF2B5EF4-FFF2-40B4-BE49-F238E27FC236}">
                <a16:creationId xmlns:a16="http://schemas.microsoft.com/office/drawing/2014/main" id="{A7DAD123-BD8B-42B0-AD75-E30813A79FE1}"/>
              </a:ext>
            </a:extLst>
          </p:cNvPr>
          <p:cNvSpPr>
            <a:spLocks noGrp="1"/>
          </p:cNvSpPr>
          <p:nvPr>
            <p:ph sz="quarter" idx="4"/>
          </p:nvPr>
        </p:nvSpPr>
        <p:spPr/>
        <p:txBody>
          <a:bodyPr/>
          <a:lstStyle/>
          <a:p>
            <a:endParaRPr lang="en-US"/>
          </a:p>
        </p:txBody>
      </p:sp>
      <p:sp>
        <p:nvSpPr>
          <p:cNvPr id="7" name="Rectangle 6">
            <a:extLst>
              <a:ext uri="{FF2B5EF4-FFF2-40B4-BE49-F238E27FC236}">
                <a16:creationId xmlns:a16="http://schemas.microsoft.com/office/drawing/2014/main" id="{84F38FED-6DAB-4DC5-AC37-7E9520CE945E}"/>
              </a:ext>
            </a:extLst>
          </p:cNvPr>
          <p:cNvSpPr/>
          <p:nvPr/>
        </p:nvSpPr>
        <p:spPr>
          <a:xfrm>
            <a:off x="836611" y="365124"/>
            <a:ext cx="5357815" cy="5824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dirty="0"/>
              <a:t>      Binding </a:t>
            </a:r>
          </a:p>
          <a:p>
            <a:r>
              <a:rPr lang="en-US" sz="4400" dirty="0"/>
              <a:t>    Presynaptic      </a:t>
            </a:r>
            <a:r>
              <a:rPr lang="en-US" sz="4400" dirty="0" err="1"/>
              <a:t>autoreceptors</a:t>
            </a:r>
            <a:r>
              <a:rPr lang="en-US" sz="4400" dirty="0"/>
              <a:t> (mirtazapine) </a:t>
            </a:r>
          </a:p>
        </p:txBody>
      </p:sp>
      <p:sp>
        <p:nvSpPr>
          <p:cNvPr id="8" name="Rectangle 7">
            <a:extLst>
              <a:ext uri="{FF2B5EF4-FFF2-40B4-BE49-F238E27FC236}">
                <a16:creationId xmlns:a16="http://schemas.microsoft.com/office/drawing/2014/main" id="{7AAAAF84-CF8D-4E17-9A57-A16EF93636BF}"/>
              </a:ext>
            </a:extLst>
          </p:cNvPr>
          <p:cNvSpPr/>
          <p:nvPr/>
        </p:nvSpPr>
        <p:spPr>
          <a:xfrm>
            <a:off x="6172200" y="365125"/>
            <a:ext cx="5180012" cy="5824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Binding </a:t>
            </a:r>
          </a:p>
          <a:p>
            <a:pPr algn="ctr"/>
            <a:r>
              <a:rPr lang="en-US" sz="4400" dirty="0"/>
              <a:t>specific postsynaptic receptors </a:t>
            </a:r>
          </a:p>
          <a:p>
            <a:pPr algn="ctr"/>
            <a:r>
              <a:rPr lang="en-US" sz="4400" dirty="0"/>
              <a:t>(5-HT 2 antagonists and mirtazapine).</a:t>
            </a:r>
          </a:p>
        </p:txBody>
      </p:sp>
    </p:spTree>
    <p:extLst>
      <p:ext uri="{BB962C8B-B14F-4D97-AF65-F5344CB8AC3E}">
        <p14:creationId xmlns:p14="http://schemas.microsoft.com/office/powerpoint/2010/main" val="2818926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FAD0-4F90-4C90-8CDB-DF0948FD4CD1}"/>
              </a:ext>
            </a:extLst>
          </p:cNvPr>
          <p:cNvSpPr>
            <a:spLocks noGrp="1"/>
          </p:cNvSpPr>
          <p:nvPr>
            <p:ph type="title"/>
          </p:nvPr>
        </p:nvSpPr>
        <p:spPr/>
        <p:txBody>
          <a:bodyPr/>
          <a:lstStyle/>
          <a:p>
            <a:r>
              <a:rPr lang="en-US" dirty="0"/>
              <a:t>MECHANISM OF ACTION</a:t>
            </a:r>
          </a:p>
        </p:txBody>
      </p:sp>
      <p:sp>
        <p:nvSpPr>
          <p:cNvPr id="3" name="Content Placeholder 2">
            <a:extLst>
              <a:ext uri="{FF2B5EF4-FFF2-40B4-BE49-F238E27FC236}">
                <a16:creationId xmlns:a16="http://schemas.microsoft.com/office/drawing/2014/main" id="{978363EB-7578-4772-A84B-1D8D4D94573E}"/>
              </a:ext>
            </a:extLst>
          </p:cNvPr>
          <p:cNvSpPr>
            <a:spLocks noGrp="1"/>
          </p:cNvSpPr>
          <p:nvPr>
            <p:ph idx="1"/>
          </p:nvPr>
        </p:nvSpPr>
        <p:spPr/>
        <p:txBody>
          <a:bodyPr>
            <a:normAutofit/>
          </a:bodyPr>
          <a:lstStyle/>
          <a:p>
            <a:pPr marL="0" indent="0">
              <a:buNone/>
            </a:pPr>
            <a:endParaRPr lang="en-US" dirty="0"/>
          </a:p>
          <a:p>
            <a:pPr marL="0" indent="0">
              <a:buNone/>
            </a:pPr>
            <a:endParaRPr lang="en-US" dirty="0"/>
          </a:p>
          <a:p>
            <a:r>
              <a:rPr lang="en-US" dirty="0"/>
              <a:t>.</a:t>
            </a:r>
          </a:p>
        </p:txBody>
      </p:sp>
      <p:sp>
        <p:nvSpPr>
          <p:cNvPr id="4" name="Rectangle 3">
            <a:extLst>
              <a:ext uri="{FF2B5EF4-FFF2-40B4-BE49-F238E27FC236}">
                <a16:creationId xmlns:a16="http://schemas.microsoft.com/office/drawing/2014/main" id="{211C6258-58E6-405D-B250-638734EDB633}"/>
              </a:ext>
            </a:extLst>
          </p:cNvPr>
          <p:cNvSpPr/>
          <p:nvPr/>
        </p:nvSpPr>
        <p:spPr>
          <a:xfrm>
            <a:off x="838198" y="1690688"/>
            <a:ext cx="10515601" cy="4486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Ultimately, the increased availability of monoamines for binding in the synaptic cleft results in a cascade of events that enhance the transcription of some proteins and the inhibition of others. It is the net production of these proteins, including BDNF, glucocorticoid receptors, β adrenoceptors, and other proteins, that appears to determine the benefits as well as the toxicity of a given agent</a:t>
            </a:r>
          </a:p>
        </p:txBody>
      </p:sp>
    </p:spTree>
    <p:extLst>
      <p:ext uri="{BB962C8B-B14F-4D97-AF65-F5344CB8AC3E}">
        <p14:creationId xmlns:p14="http://schemas.microsoft.com/office/powerpoint/2010/main" val="3655951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8DC3-86C7-4BBA-A815-C78A44EEFA37}"/>
              </a:ext>
            </a:extLst>
          </p:cNvPr>
          <p:cNvSpPr>
            <a:spLocks noGrp="1"/>
          </p:cNvSpPr>
          <p:nvPr>
            <p:ph type="title"/>
          </p:nvPr>
        </p:nvSpPr>
        <p:spPr/>
        <p:txBody>
          <a:bodyPr/>
          <a:lstStyle/>
          <a:p>
            <a:r>
              <a:rPr lang="en-US" b="1" dirty="0">
                <a:solidFill>
                  <a:srgbClr val="FF0000"/>
                </a:solidFill>
              </a:rPr>
              <a:t>Selective Serotonin Reuptake Inhibitors</a:t>
            </a:r>
            <a:br>
              <a:rPr lang="en-US" b="1" dirty="0"/>
            </a:br>
            <a:endParaRPr lang="en-US" dirty="0"/>
          </a:p>
        </p:txBody>
      </p:sp>
      <p:sp>
        <p:nvSpPr>
          <p:cNvPr id="3" name="Content Placeholder 2">
            <a:extLst>
              <a:ext uri="{FF2B5EF4-FFF2-40B4-BE49-F238E27FC236}">
                <a16:creationId xmlns:a16="http://schemas.microsoft.com/office/drawing/2014/main" id="{3AAC6DBD-2908-4C37-8A68-6BC9E680CEE7}"/>
              </a:ext>
            </a:extLst>
          </p:cNvPr>
          <p:cNvSpPr>
            <a:spLocks noGrp="1"/>
          </p:cNvSpPr>
          <p:nvPr>
            <p:ph idx="1"/>
          </p:nvPr>
        </p:nvSpPr>
        <p:spPr/>
        <p:txBody>
          <a:bodyPr>
            <a:normAutofit/>
          </a:bodyPr>
          <a:lstStyle/>
          <a:p>
            <a:r>
              <a:rPr lang="en-US" dirty="0"/>
              <a:t>Action the inhibition of the serotonin transporter (SERT</a:t>
            </a:r>
          </a:p>
          <a:p>
            <a:r>
              <a:rPr lang="en-US" dirty="0"/>
              <a:t>High affinity for monoamine receptors but lacked the affinity for histamine, acetylcholine, and α adrenoceptors that is seen with the  TCA.</a:t>
            </a:r>
            <a:r>
              <a:rPr lang="en-US" b="1" dirty="0"/>
              <a:t> </a:t>
            </a:r>
          </a:p>
          <a:p>
            <a:r>
              <a:rPr lang="en-US" b="1" dirty="0"/>
              <a:t>Fluoxetine, sertraline, </a:t>
            </a:r>
            <a:r>
              <a:rPr lang="en-US" dirty="0"/>
              <a:t> </a:t>
            </a:r>
            <a:r>
              <a:rPr lang="en-US" b="1" dirty="0"/>
              <a:t>citalopram, paroxetine </a:t>
            </a:r>
            <a:r>
              <a:rPr lang="en-US" dirty="0"/>
              <a:t>and </a:t>
            </a:r>
            <a:r>
              <a:rPr lang="en-US" b="1" dirty="0"/>
              <a:t>fluvoxamine</a:t>
            </a:r>
            <a:r>
              <a:rPr lang="en-US" dirty="0"/>
              <a:t>.</a:t>
            </a:r>
          </a:p>
          <a:p>
            <a:endParaRPr lang="en-US" dirty="0"/>
          </a:p>
          <a:p>
            <a:endParaRPr lang="en-US" dirty="0"/>
          </a:p>
          <a:p>
            <a:endParaRPr lang="en-US" dirty="0"/>
          </a:p>
          <a:p>
            <a:endParaRPr lang="en-US" dirty="0"/>
          </a:p>
          <a:p>
            <a:endParaRPr lang="en-US" dirty="0"/>
          </a:p>
        </p:txBody>
      </p:sp>
      <p:sp>
        <p:nvSpPr>
          <p:cNvPr id="4" name="Text Placeholder 3">
            <a:extLst>
              <a:ext uri="{FF2B5EF4-FFF2-40B4-BE49-F238E27FC236}">
                <a16:creationId xmlns:a16="http://schemas.microsoft.com/office/drawing/2014/main" id="{B2D78539-0431-46B3-B1C0-0B2CC16A538A}"/>
              </a:ext>
            </a:extLst>
          </p:cNvPr>
          <p:cNvSpPr>
            <a:spLocks noGrp="1"/>
          </p:cNvSpPr>
          <p:nvPr>
            <p:ph type="body" sz="half" idx="2"/>
          </p:nvPr>
        </p:nvSpPr>
        <p:spPr/>
        <p:txBody>
          <a:bodyPr>
            <a:normAutofit/>
          </a:bodyPr>
          <a:lstStyle/>
          <a:p>
            <a:endParaRPr lang="en-US" b="1" dirty="0"/>
          </a:p>
          <a:p>
            <a:endParaRPr lang="en-US" b="1" dirty="0"/>
          </a:p>
          <a:p>
            <a:endParaRPr lang="en-US" b="1" dirty="0"/>
          </a:p>
          <a:p>
            <a:endParaRPr lang="en-US" b="1" dirty="0"/>
          </a:p>
          <a:p>
            <a:endParaRPr lang="en-US" b="1" dirty="0"/>
          </a:p>
          <a:p>
            <a:r>
              <a:rPr lang="en-US" b="1" dirty="0"/>
              <a:t>Escitalopram </a:t>
            </a:r>
            <a:r>
              <a:rPr lang="en-US" dirty="0"/>
              <a:t>is the </a:t>
            </a:r>
            <a:r>
              <a:rPr lang="en-US" i="1" dirty="0"/>
              <a:t>S </a:t>
            </a:r>
            <a:r>
              <a:rPr lang="en-US" dirty="0"/>
              <a:t>enantiomer of citalopram.</a:t>
            </a:r>
          </a:p>
          <a:p>
            <a:r>
              <a:rPr lang="en-US" dirty="0"/>
              <a:t> As with all antidepressants, SSRIs are</a:t>
            </a:r>
          </a:p>
          <a:p>
            <a:r>
              <a:rPr lang="en-US" dirty="0"/>
              <a:t>highly lipophilic. </a:t>
            </a:r>
          </a:p>
          <a:p>
            <a:r>
              <a:rPr lang="en-US" dirty="0"/>
              <a:t>.</a:t>
            </a:r>
          </a:p>
        </p:txBody>
      </p:sp>
      <p:sp>
        <p:nvSpPr>
          <p:cNvPr id="5" name="Rectangle 4">
            <a:extLst>
              <a:ext uri="{FF2B5EF4-FFF2-40B4-BE49-F238E27FC236}">
                <a16:creationId xmlns:a16="http://schemas.microsoft.com/office/drawing/2014/main" id="{E2CF6984-2682-4B9C-94B1-6975B3374CBB}"/>
              </a:ext>
            </a:extLst>
          </p:cNvPr>
          <p:cNvSpPr/>
          <p:nvPr/>
        </p:nvSpPr>
        <p:spPr>
          <a:xfrm>
            <a:off x="2101755" y="5868988"/>
            <a:ext cx="6741994" cy="886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 popularity of SSRIs stems largely from their ease of use, safety in overdose, relative tolerability and  cost</a:t>
            </a:r>
          </a:p>
        </p:txBody>
      </p:sp>
    </p:spTree>
    <p:extLst>
      <p:ext uri="{BB962C8B-B14F-4D97-AF65-F5344CB8AC3E}">
        <p14:creationId xmlns:p14="http://schemas.microsoft.com/office/powerpoint/2010/main" val="3403178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63708-0859-44FC-8F89-47D2BED5A3DC}"/>
              </a:ext>
            </a:extLst>
          </p:cNvPr>
          <p:cNvSpPr>
            <a:spLocks noGrp="1"/>
          </p:cNvSpPr>
          <p:nvPr>
            <p:ph type="title"/>
          </p:nvPr>
        </p:nvSpPr>
        <p:spPr/>
        <p:txBody>
          <a:bodyPr/>
          <a:lstStyle/>
          <a:p>
            <a:r>
              <a:rPr lang="en-US" b="1" dirty="0">
                <a:solidFill>
                  <a:srgbClr val="FF0000"/>
                </a:solidFill>
              </a:rPr>
              <a:t>Selective Serotonin Reuptake Inhibitors</a:t>
            </a:r>
            <a:endParaRPr lang="en-US" dirty="0"/>
          </a:p>
        </p:txBody>
      </p:sp>
      <p:sp>
        <p:nvSpPr>
          <p:cNvPr id="3" name="Content Placeholder 2">
            <a:extLst>
              <a:ext uri="{FF2B5EF4-FFF2-40B4-BE49-F238E27FC236}">
                <a16:creationId xmlns:a16="http://schemas.microsoft.com/office/drawing/2014/main" id="{C12BF471-D696-4A0C-83B6-644FBE7DA187}"/>
              </a:ext>
            </a:extLst>
          </p:cNvPr>
          <p:cNvSpPr>
            <a:spLocks noGrp="1"/>
          </p:cNvSpPr>
          <p:nvPr>
            <p:ph idx="1"/>
          </p:nvPr>
        </p:nvSpPr>
        <p:spPr/>
        <p:txBody>
          <a:bodyPr>
            <a:normAutofit fontScale="92500"/>
          </a:bodyPr>
          <a:lstStyle/>
          <a:p>
            <a:r>
              <a:rPr lang="en-US" dirty="0"/>
              <a:t>The serotonin transporter (SERT) is a glycoprotein with 12 transmembrane regions embedded in the axon terminal and cell body membranes of serotonergic neurons. </a:t>
            </a:r>
          </a:p>
          <a:p>
            <a:r>
              <a:rPr lang="en-US" dirty="0"/>
              <a:t>When extracellular serotonin binds to receptors on the transporter, conformational changes occur in the transporter and serotonin, Na + , and Cl – are moved into the cell.</a:t>
            </a:r>
          </a:p>
          <a:p>
            <a:endParaRPr lang="en-US" dirty="0"/>
          </a:p>
        </p:txBody>
      </p:sp>
      <p:sp>
        <p:nvSpPr>
          <p:cNvPr id="4" name="Text Placeholder 3">
            <a:extLst>
              <a:ext uri="{FF2B5EF4-FFF2-40B4-BE49-F238E27FC236}">
                <a16:creationId xmlns:a16="http://schemas.microsoft.com/office/drawing/2014/main" id="{51F061BF-E00A-4B3C-865D-B8F0543FABE9}"/>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842028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DE02-7BB0-4459-B546-AC0D87449582}"/>
              </a:ext>
            </a:extLst>
          </p:cNvPr>
          <p:cNvSpPr>
            <a:spLocks noGrp="1"/>
          </p:cNvSpPr>
          <p:nvPr>
            <p:ph type="title"/>
          </p:nvPr>
        </p:nvSpPr>
        <p:spPr/>
        <p:txBody>
          <a:bodyPr/>
          <a:lstStyle/>
          <a:p>
            <a:r>
              <a:rPr lang="en-US" b="1" dirty="0">
                <a:solidFill>
                  <a:srgbClr val="FF0000"/>
                </a:solidFill>
              </a:rPr>
              <a:t>Selective Serotonin Reuptake Inhibitors</a:t>
            </a:r>
            <a:endParaRPr lang="en-US" dirty="0"/>
          </a:p>
        </p:txBody>
      </p:sp>
      <p:sp>
        <p:nvSpPr>
          <p:cNvPr id="3" name="Content Placeholder 2">
            <a:extLst>
              <a:ext uri="{FF2B5EF4-FFF2-40B4-BE49-F238E27FC236}">
                <a16:creationId xmlns:a16="http://schemas.microsoft.com/office/drawing/2014/main" id="{AEDF5BA4-8476-4FE5-8344-2E9F0EE79B31}"/>
              </a:ext>
            </a:extLst>
          </p:cNvPr>
          <p:cNvSpPr>
            <a:spLocks noGrp="1"/>
          </p:cNvSpPr>
          <p:nvPr>
            <p:ph idx="1"/>
          </p:nvPr>
        </p:nvSpPr>
        <p:spPr/>
        <p:txBody>
          <a:bodyPr>
            <a:normAutofit/>
          </a:bodyPr>
          <a:lstStyle/>
          <a:p>
            <a:r>
              <a:rPr lang="en-US" dirty="0"/>
              <a:t>Binding of intracellular K + then results in return of the transporter to its original conformation and the release of serotonin inside the cell. </a:t>
            </a:r>
          </a:p>
          <a:p>
            <a:r>
              <a:rPr lang="en-US" dirty="0"/>
              <a:t>SSRIs allosterically inhibit the transporter by binding the receptor at a site other than active binding site for serotonin. </a:t>
            </a:r>
          </a:p>
          <a:p>
            <a:endParaRPr lang="en-US" dirty="0"/>
          </a:p>
          <a:p>
            <a:endParaRPr lang="en-US" dirty="0"/>
          </a:p>
        </p:txBody>
      </p:sp>
      <p:sp>
        <p:nvSpPr>
          <p:cNvPr id="4" name="Text Placeholder 3">
            <a:extLst>
              <a:ext uri="{FF2B5EF4-FFF2-40B4-BE49-F238E27FC236}">
                <a16:creationId xmlns:a16="http://schemas.microsoft.com/office/drawing/2014/main" id="{03BA2A1E-CB57-4D3C-AA0E-1B8CE0FEAE92}"/>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473128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DE02-7BB0-4459-B546-AC0D87449582}"/>
              </a:ext>
            </a:extLst>
          </p:cNvPr>
          <p:cNvSpPr>
            <a:spLocks noGrp="1"/>
          </p:cNvSpPr>
          <p:nvPr>
            <p:ph type="title"/>
          </p:nvPr>
        </p:nvSpPr>
        <p:spPr/>
        <p:txBody>
          <a:bodyPr/>
          <a:lstStyle/>
          <a:p>
            <a:r>
              <a:rPr lang="en-US" b="1" dirty="0">
                <a:solidFill>
                  <a:srgbClr val="FF0000"/>
                </a:solidFill>
              </a:rPr>
              <a:t>Selective Serotonin Reuptake Inhibitors</a:t>
            </a:r>
            <a:endParaRPr lang="en-US" dirty="0"/>
          </a:p>
        </p:txBody>
      </p:sp>
      <p:sp>
        <p:nvSpPr>
          <p:cNvPr id="3" name="Content Placeholder 2">
            <a:extLst>
              <a:ext uri="{FF2B5EF4-FFF2-40B4-BE49-F238E27FC236}">
                <a16:creationId xmlns:a16="http://schemas.microsoft.com/office/drawing/2014/main" id="{AEDF5BA4-8476-4FE5-8344-2E9F0EE79B31}"/>
              </a:ext>
            </a:extLst>
          </p:cNvPr>
          <p:cNvSpPr>
            <a:spLocks noGrp="1"/>
          </p:cNvSpPr>
          <p:nvPr>
            <p:ph idx="1"/>
          </p:nvPr>
        </p:nvSpPr>
        <p:spPr/>
        <p:txBody>
          <a:bodyPr>
            <a:normAutofit/>
          </a:bodyPr>
          <a:lstStyle/>
          <a:p>
            <a:pPr marL="0" indent="0">
              <a:buNone/>
            </a:pPr>
            <a:r>
              <a:rPr lang="en-US" dirty="0"/>
              <a:t> </a:t>
            </a:r>
          </a:p>
          <a:p>
            <a:r>
              <a:rPr lang="en-US" dirty="0"/>
              <a:t>At therapeutic doses, about 80% of the activity of the transporter is inhibited. </a:t>
            </a:r>
          </a:p>
          <a:p>
            <a:r>
              <a:rPr lang="en-US" dirty="0"/>
              <a:t>Functional polymorphisms exist for SERT that determine the activity of the transporter.</a:t>
            </a:r>
          </a:p>
          <a:p>
            <a:r>
              <a:rPr lang="en-US" dirty="0"/>
              <a:t> SSRIs have modest effects on other neurotransmitters. </a:t>
            </a:r>
          </a:p>
          <a:p>
            <a:endParaRPr lang="en-US" dirty="0"/>
          </a:p>
        </p:txBody>
      </p:sp>
      <p:sp>
        <p:nvSpPr>
          <p:cNvPr id="4" name="Text Placeholder 3">
            <a:extLst>
              <a:ext uri="{FF2B5EF4-FFF2-40B4-BE49-F238E27FC236}">
                <a16:creationId xmlns:a16="http://schemas.microsoft.com/office/drawing/2014/main" id="{03BA2A1E-CB57-4D3C-AA0E-1B8CE0FEAE92}"/>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2425316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E544F-A7F2-43F9-AE49-6CFECC65C5D2}"/>
              </a:ext>
            </a:extLst>
          </p:cNvPr>
          <p:cNvSpPr>
            <a:spLocks noGrp="1"/>
          </p:cNvSpPr>
          <p:nvPr>
            <p:ph type="title"/>
          </p:nvPr>
        </p:nvSpPr>
        <p:spPr/>
        <p:txBody>
          <a:bodyPr/>
          <a:lstStyle/>
          <a:p>
            <a:r>
              <a:rPr lang="en-US" b="1" dirty="0">
                <a:solidFill>
                  <a:srgbClr val="FF0000"/>
                </a:solidFill>
              </a:rPr>
              <a:t>Selective Serotonin Reuptake Inhibitors</a:t>
            </a:r>
            <a:endParaRPr lang="en-US" dirty="0"/>
          </a:p>
        </p:txBody>
      </p:sp>
      <p:sp>
        <p:nvSpPr>
          <p:cNvPr id="3" name="Content Placeholder 2">
            <a:extLst>
              <a:ext uri="{FF2B5EF4-FFF2-40B4-BE49-F238E27FC236}">
                <a16:creationId xmlns:a16="http://schemas.microsoft.com/office/drawing/2014/main" id="{E12CCD47-96A6-4F03-9054-D08CE54F2DEA}"/>
              </a:ext>
            </a:extLst>
          </p:cNvPr>
          <p:cNvSpPr>
            <a:spLocks noGrp="1"/>
          </p:cNvSpPr>
          <p:nvPr>
            <p:ph idx="1"/>
          </p:nvPr>
        </p:nvSpPr>
        <p:spPr/>
        <p:txBody>
          <a:bodyPr>
            <a:normAutofit fontScale="92500" lnSpcReduction="10000"/>
          </a:bodyPr>
          <a:lstStyle/>
          <a:p>
            <a:r>
              <a:rPr lang="en-US" dirty="0"/>
              <a:t>UnlikeTCAs and SNRIs, there is little evidence that SSRIs have prominent effects on β adrenoceptors or the norepinephrine. </a:t>
            </a:r>
          </a:p>
          <a:p>
            <a:r>
              <a:rPr lang="en-US" dirty="0"/>
              <a:t>Binding to the serotonin transporter is associated with tonic inhibition of the dopamine system, although there is substantial interindividual variability in this effect. </a:t>
            </a:r>
          </a:p>
          <a:p>
            <a:r>
              <a:rPr lang="en-US" dirty="0"/>
              <a:t>The SSRIs do not bind aggressively to histamine, muscarinic, or other receptors.</a:t>
            </a:r>
          </a:p>
        </p:txBody>
      </p:sp>
      <p:sp>
        <p:nvSpPr>
          <p:cNvPr id="4" name="Text Placeholder 3">
            <a:extLst>
              <a:ext uri="{FF2B5EF4-FFF2-40B4-BE49-F238E27FC236}">
                <a16:creationId xmlns:a16="http://schemas.microsoft.com/office/drawing/2014/main" id="{50F6C5A1-DABC-473A-A972-B393CC5924A8}"/>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685848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15679-F0A9-4F7B-83AB-96BE75D2E922}"/>
              </a:ext>
            </a:extLst>
          </p:cNvPr>
          <p:cNvSpPr>
            <a:spLocks noGrp="1"/>
          </p:cNvSpPr>
          <p:nvPr>
            <p:ph type="title"/>
          </p:nvPr>
        </p:nvSpPr>
        <p:spPr/>
        <p:txBody>
          <a:bodyPr/>
          <a:lstStyle/>
          <a:p>
            <a:r>
              <a:rPr lang="en-US" b="1" dirty="0">
                <a:solidFill>
                  <a:srgbClr val="FF0000"/>
                </a:solidFill>
              </a:rPr>
              <a:t>Selective Serotonin Reuptake Inhibitors</a:t>
            </a:r>
            <a:endParaRPr lang="en-US" dirty="0">
              <a:solidFill>
                <a:srgbClr val="FF0000"/>
              </a:solidFill>
            </a:endParaRPr>
          </a:p>
        </p:txBody>
      </p:sp>
      <p:sp>
        <p:nvSpPr>
          <p:cNvPr id="3" name="Content Placeholder 2">
            <a:extLst>
              <a:ext uri="{FF2B5EF4-FFF2-40B4-BE49-F238E27FC236}">
                <a16:creationId xmlns:a16="http://schemas.microsoft.com/office/drawing/2014/main" id="{52125AB0-3D2B-4204-8578-8CA0CBF6132C}"/>
              </a:ext>
            </a:extLst>
          </p:cNvPr>
          <p:cNvSpPr>
            <a:spLocks noGrp="1"/>
          </p:cNvSpPr>
          <p:nvPr>
            <p:ph idx="1"/>
          </p:nvPr>
        </p:nvSpPr>
        <p:spPr/>
        <p:txBody>
          <a:bodyPr>
            <a:normAutofit fontScale="85000" lnSpcReduction="10000"/>
          </a:bodyPr>
          <a:lstStyle/>
          <a:p>
            <a:r>
              <a:rPr lang="en-US" dirty="0"/>
              <a:t>Fluoxetine is metabolized to an active product, norfluoxetine, which may have plasma concentrations greater than those of fluoxetine. </a:t>
            </a:r>
          </a:p>
          <a:p>
            <a:r>
              <a:rPr lang="en-US" dirty="0"/>
              <a:t>The elimination half-life of norfluoxetine is about three times longer than fluoxetine and contributes to the longest half-life of all the SSRIs.</a:t>
            </a:r>
          </a:p>
          <a:p>
            <a:r>
              <a:rPr lang="en-US" dirty="0"/>
              <a:t> As a result fluoxetine has to be discontinued 4 weeks or longer before an MAOI can be administered to mitigate the risk of serotonin syndrome.</a:t>
            </a:r>
          </a:p>
          <a:p>
            <a:r>
              <a:rPr lang="en-US" dirty="0"/>
              <a:t>.</a:t>
            </a:r>
          </a:p>
          <a:p>
            <a:endParaRPr lang="en-US" dirty="0"/>
          </a:p>
        </p:txBody>
      </p:sp>
      <p:sp>
        <p:nvSpPr>
          <p:cNvPr id="4" name="Text Placeholder 3">
            <a:extLst>
              <a:ext uri="{FF2B5EF4-FFF2-40B4-BE49-F238E27FC236}">
                <a16:creationId xmlns:a16="http://schemas.microsoft.com/office/drawing/2014/main" id="{4BF2A4D5-B888-458A-AD28-5FFEEF8A7BF4}"/>
              </a:ext>
            </a:extLst>
          </p:cNvPr>
          <p:cNvSpPr>
            <a:spLocks noGrp="1"/>
          </p:cNvSpPr>
          <p:nvPr>
            <p:ph type="body" sz="half" idx="2"/>
          </p:nvPr>
        </p:nvSpPr>
        <p:spPr/>
        <p:txBody>
          <a:bodyPr>
            <a:normAutofit/>
          </a:bodyPr>
          <a:lstStyle/>
          <a:p>
            <a:endParaRPr lang="en-US" dirty="0"/>
          </a:p>
          <a:p>
            <a:r>
              <a:rPr lang="en-US" dirty="0"/>
              <a:t>Fluoxetine and paroxetine are potent inhibitors of the CYP2D6 isoenzyme, and this contributes to potential drug interactions </a:t>
            </a:r>
          </a:p>
          <a:p>
            <a:endParaRPr lang="en-US" dirty="0"/>
          </a:p>
          <a:p>
            <a:endParaRPr lang="en-US" dirty="0"/>
          </a:p>
          <a:p>
            <a:endParaRPr lang="en-US"/>
          </a:p>
          <a:p>
            <a:r>
              <a:rPr lang="en-US"/>
              <a:t> </a:t>
            </a:r>
            <a:r>
              <a:rPr lang="en-US" dirty="0"/>
              <a:t>In contrast, fluvoxamine is an inhibitor of CYP3A4, whereas citalopram, escitalopram, and sertraline have more modest CYP interactions</a:t>
            </a:r>
          </a:p>
        </p:txBody>
      </p:sp>
    </p:spTree>
    <p:extLst>
      <p:ext uri="{BB962C8B-B14F-4D97-AF65-F5344CB8AC3E}">
        <p14:creationId xmlns:p14="http://schemas.microsoft.com/office/powerpoint/2010/main" val="4088099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65DB0-24C5-451C-9C86-715AD5BE3750}"/>
              </a:ext>
            </a:extLst>
          </p:cNvPr>
          <p:cNvSpPr>
            <a:spLocks noGrp="1"/>
          </p:cNvSpPr>
          <p:nvPr>
            <p:ph type="title"/>
          </p:nvPr>
        </p:nvSpPr>
        <p:spPr/>
        <p:txBody>
          <a:bodyPr>
            <a:normAutofit fontScale="90000"/>
          </a:bodyPr>
          <a:lstStyle/>
          <a:p>
            <a:r>
              <a:rPr lang="en-US" b="1" dirty="0">
                <a:solidFill>
                  <a:srgbClr val="FF0000"/>
                </a:solidFill>
              </a:rPr>
              <a:t>Selective serotonin-norepinephrine reuptake</a:t>
            </a:r>
            <a:br>
              <a:rPr lang="en-US" b="1" dirty="0">
                <a:solidFill>
                  <a:srgbClr val="FF0000"/>
                </a:solidFill>
              </a:rPr>
            </a:br>
            <a:r>
              <a:rPr lang="en-US" b="1" dirty="0">
                <a:solidFill>
                  <a:srgbClr val="FF0000"/>
                </a:solidFill>
              </a:rPr>
              <a:t>inhibitors</a:t>
            </a:r>
            <a:endParaRPr lang="en-US" dirty="0">
              <a:solidFill>
                <a:srgbClr val="FF0000"/>
              </a:solidFill>
            </a:endParaRPr>
          </a:p>
        </p:txBody>
      </p:sp>
      <p:sp>
        <p:nvSpPr>
          <p:cNvPr id="3" name="Content Placeholder 2">
            <a:extLst>
              <a:ext uri="{FF2B5EF4-FFF2-40B4-BE49-F238E27FC236}">
                <a16:creationId xmlns:a16="http://schemas.microsoft.com/office/drawing/2014/main" id="{83A9FDD8-0B72-4574-B97B-08EFC1B6C338}"/>
              </a:ext>
            </a:extLst>
          </p:cNvPr>
          <p:cNvSpPr>
            <a:spLocks noGrp="1"/>
          </p:cNvSpPr>
          <p:nvPr>
            <p:ph idx="1"/>
          </p:nvPr>
        </p:nvSpPr>
        <p:spPr/>
        <p:txBody>
          <a:bodyPr>
            <a:normAutofit fontScale="92500" lnSpcReduction="10000"/>
          </a:bodyPr>
          <a:lstStyle/>
          <a:p>
            <a:r>
              <a:rPr lang="en-US" dirty="0"/>
              <a:t>All SNRIs bind the serotonin (SERT) and norepinephrine (NET) transporters, as do the TCAs.</a:t>
            </a:r>
          </a:p>
          <a:p>
            <a:r>
              <a:rPr lang="en-US" dirty="0"/>
              <a:t>However, unlike the TCAs, the SNRIs do not have much affinity for other receptors. </a:t>
            </a:r>
          </a:p>
          <a:p>
            <a:r>
              <a:rPr lang="en-US" dirty="0"/>
              <a:t>Examples</a:t>
            </a:r>
          </a:p>
          <a:p>
            <a:pPr marL="0" indent="0">
              <a:buNone/>
            </a:pPr>
            <a:r>
              <a:rPr lang="en-US" b="1" dirty="0"/>
              <a:t>-   venlafaxine and -</a:t>
            </a:r>
            <a:r>
              <a:rPr lang="en-US" dirty="0"/>
              <a:t>its metabolite </a:t>
            </a:r>
            <a:r>
              <a:rPr lang="en-US" b="1" dirty="0"/>
              <a:t>desvenlafaxine, </a:t>
            </a:r>
          </a:p>
          <a:p>
            <a:pPr>
              <a:buFontTx/>
              <a:buChar char="-"/>
            </a:pPr>
            <a:r>
              <a:rPr lang="en-US" b="1" dirty="0"/>
              <a:t>Duloxetine</a:t>
            </a:r>
          </a:p>
          <a:p>
            <a:pPr>
              <a:buFontTx/>
              <a:buChar char="-"/>
            </a:pPr>
            <a:r>
              <a:rPr lang="en-US" b="1" dirty="0"/>
              <a:t>Milnacipran</a:t>
            </a:r>
          </a:p>
          <a:p>
            <a:pPr marL="0" indent="0">
              <a:buNone/>
            </a:pPr>
            <a:endParaRPr lang="en-US" dirty="0"/>
          </a:p>
        </p:txBody>
      </p:sp>
      <p:sp>
        <p:nvSpPr>
          <p:cNvPr id="4" name="Text Placeholder 3">
            <a:extLst>
              <a:ext uri="{FF2B5EF4-FFF2-40B4-BE49-F238E27FC236}">
                <a16:creationId xmlns:a16="http://schemas.microsoft.com/office/drawing/2014/main" id="{68ECAB61-5DC4-475E-A051-11BB26F4A796}"/>
              </a:ext>
            </a:extLst>
          </p:cNvPr>
          <p:cNvSpPr>
            <a:spLocks noGrp="1"/>
          </p:cNvSpPr>
          <p:nvPr>
            <p:ph type="body" sz="half" idx="2"/>
          </p:nvPr>
        </p:nvSpPr>
        <p:spPr/>
        <p:txBody>
          <a:bodyPr/>
          <a:lstStyle/>
          <a:p>
            <a:r>
              <a:rPr lang="en-US" dirty="0"/>
              <a:t>other applications </a:t>
            </a:r>
          </a:p>
          <a:p>
            <a:r>
              <a:rPr lang="en-US" dirty="0"/>
              <a:t>pain disorders including neuropathies</a:t>
            </a:r>
          </a:p>
          <a:p>
            <a:r>
              <a:rPr lang="en-US" dirty="0"/>
              <a:t>and fibromyalgia. </a:t>
            </a:r>
          </a:p>
          <a:p>
            <a:r>
              <a:rPr lang="en-US" dirty="0"/>
              <a:t> Generalized anxiety, stress urinary incontinence, and vasomotor</a:t>
            </a:r>
          </a:p>
          <a:p>
            <a:r>
              <a:rPr lang="en-US" dirty="0"/>
              <a:t>symptoms of menopause</a:t>
            </a:r>
          </a:p>
        </p:txBody>
      </p:sp>
    </p:spTree>
    <p:extLst>
      <p:ext uri="{BB962C8B-B14F-4D97-AF65-F5344CB8AC3E}">
        <p14:creationId xmlns:p14="http://schemas.microsoft.com/office/powerpoint/2010/main" val="714885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0E849-58DB-4EAF-B07F-6D236E39A747}"/>
              </a:ext>
            </a:extLst>
          </p:cNvPr>
          <p:cNvSpPr>
            <a:spLocks noGrp="1"/>
          </p:cNvSpPr>
          <p:nvPr>
            <p:ph type="title"/>
          </p:nvPr>
        </p:nvSpPr>
        <p:spPr/>
        <p:txBody>
          <a:bodyPr>
            <a:normAutofit fontScale="90000"/>
          </a:bodyPr>
          <a:lstStyle/>
          <a:p>
            <a:r>
              <a:rPr lang="en-US" b="1" dirty="0">
                <a:solidFill>
                  <a:srgbClr val="FF0000"/>
                </a:solidFill>
              </a:rPr>
              <a:t>Selective serotonin-norepinephrine reuptake</a:t>
            </a:r>
            <a:br>
              <a:rPr lang="en-US" b="1" dirty="0">
                <a:solidFill>
                  <a:srgbClr val="FF0000"/>
                </a:solidFill>
              </a:rPr>
            </a:br>
            <a:r>
              <a:rPr lang="en-US" b="1" dirty="0">
                <a:solidFill>
                  <a:srgbClr val="FF0000"/>
                </a:solidFill>
              </a:rPr>
              <a:t>inhibitors</a:t>
            </a:r>
            <a:endParaRPr lang="en-US" dirty="0">
              <a:solidFill>
                <a:srgbClr val="FF0000"/>
              </a:solidFill>
            </a:endParaRPr>
          </a:p>
        </p:txBody>
      </p:sp>
      <p:sp>
        <p:nvSpPr>
          <p:cNvPr id="3" name="Content Placeholder 2">
            <a:extLst>
              <a:ext uri="{FF2B5EF4-FFF2-40B4-BE49-F238E27FC236}">
                <a16:creationId xmlns:a16="http://schemas.microsoft.com/office/drawing/2014/main" id="{668ECCAE-D32F-497F-9047-ED234D557CD7}"/>
              </a:ext>
            </a:extLst>
          </p:cNvPr>
          <p:cNvSpPr>
            <a:spLocks noGrp="1"/>
          </p:cNvSpPr>
          <p:nvPr>
            <p:ph idx="1"/>
          </p:nvPr>
        </p:nvSpPr>
        <p:spPr/>
        <p:txBody>
          <a:bodyPr>
            <a:normAutofit fontScale="70000" lnSpcReduction="20000"/>
          </a:bodyPr>
          <a:lstStyle/>
          <a:p>
            <a:r>
              <a:rPr lang="en-US" dirty="0"/>
              <a:t>Venlafaxine is extensively metabolized in the liver via the CYP2D6 isoenzyme to </a:t>
            </a:r>
            <a:r>
              <a:rPr lang="en-US" i="1" dirty="0"/>
              <a:t>O </a:t>
            </a:r>
            <a:r>
              <a:rPr lang="en-US" dirty="0"/>
              <a:t>-</a:t>
            </a:r>
            <a:r>
              <a:rPr lang="en-US" dirty="0" err="1"/>
              <a:t>desmethylvenlafaxine</a:t>
            </a:r>
            <a:r>
              <a:rPr lang="en-US" dirty="0"/>
              <a:t> (desvenlafaxine).</a:t>
            </a:r>
          </a:p>
          <a:p>
            <a:r>
              <a:rPr lang="en-US" dirty="0"/>
              <a:t>Both have similar half-lives of about 11 hours.</a:t>
            </a:r>
          </a:p>
          <a:p>
            <a:r>
              <a:rPr lang="en-US" dirty="0"/>
              <a:t> Despite the relatively short half-lives, both drugs are available in formulations that allow once-daily dosing. Venlafaxine and desvenlafaxine have the lowest protein binding of all antidepressants (27–30%).</a:t>
            </a:r>
          </a:p>
          <a:p>
            <a:r>
              <a:rPr lang="en-US" dirty="0"/>
              <a:t>Unlike most antidepressants, desvenlafaxine is conjugated and does not undergo extensive oxidative metabolism. </a:t>
            </a:r>
          </a:p>
          <a:p>
            <a:r>
              <a:rPr lang="en-US" dirty="0"/>
              <a:t>At least 45% of desvenlafaxine is excreted unchanged in the urine compared with 4–8% of venlafaxine.</a:t>
            </a:r>
          </a:p>
        </p:txBody>
      </p:sp>
      <p:sp>
        <p:nvSpPr>
          <p:cNvPr id="4" name="Text Placeholder 3">
            <a:extLst>
              <a:ext uri="{FF2B5EF4-FFF2-40B4-BE49-F238E27FC236}">
                <a16:creationId xmlns:a16="http://schemas.microsoft.com/office/drawing/2014/main" id="{CD172B15-1F70-4F5F-858C-08224AE1FCB4}"/>
              </a:ext>
            </a:extLst>
          </p:cNvPr>
          <p:cNvSpPr>
            <a:spLocks noGrp="1"/>
          </p:cNvSpPr>
          <p:nvPr>
            <p:ph type="body" sz="half" idx="2"/>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r>
              <a:rPr lang="en-US" dirty="0"/>
              <a:t>Duloxetine is well absorbed and has a half-life of about 12 hours but is dosed once daily. It is tightly bound to protein (97%) and undergoes extensive oxidative metabolism via CYP2D6 and CYP1A2.</a:t>
            </a:r>
          </a:p>
          <a:p>
            <a:r>
              <a:rPr lang="en-US" dirty="0"/>
              <a:t> Hepatic impairment significantly alters duloxetine </a:t>
            </a:r>
            <a:r>
              <a:rPr lang="en-US" dirty="0" err="1"/>
              <a:t>levelsunlike</a:t>
            </a:r>
            <a:r>
              <a:rPr lang="en-US" dirty="0"/>
              <a:t> desvenlafaxine</a:t>
            </a:r>
          </a:p>
          <a:p>
            <a:endParaRPr lang="en-US" dirty="0"/>
          </a:p>
        </p:txBody>
      </p:sp>
    </p:spTree>
    <p:extLst>
      <p:ext uri="{BB962C8B-B14F-4D97-AF65-F5344CB8AC3E}">
        <p14:creationId xmlns:p14="http://schemas.microsoft.com/office/powerpoint/2010/main" val="1828060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35EA-2BAE-416D-B78A-634E768D17E0}"/>
              </a:ext>
            </a:extLst>
          </p:cNvPr>
          <p:cNvSpPr>
            <a:spLocks noGrp="1"/>
          </p:cNvSpPr>
          <p:nvPr>
            <p:ph type="title"/>
          </p:nvPr>
        </p:nvSpPr>
        <p:spPr/>
        <p:txBody>
          <a:bodyPr/>
          <a:lstStyle/>
          <a:p>
            <a:r>
              <a:rPr lang="en-US" dirty="0">
                <a:solidFill>
                  <a:srgbClr val="FF0000"/>
                </a:solidFill>
              </a:rPr>
              <a:t>TCA</a:t>
            </a:r>
          </a:p>
        </p:txBody>
      </p:sp>
      <p:sp>
        <p:nvSpPr>
          <p:cNvPr id="3" name="Content Placeholder 2">
            <a:extLst>
              <a:ext uri="{FF2B5EF4-FFF2-40B4-BE49-F238E27FC236}">
                <a16:creationId xmlns:a16="http://schemas.microsoft.com/office/drawing/2014/main" id="{B80D10A4-A2CB-4306-AD16-3541CF8A6F7C}"/>
              </a:ext>
            </a:extLst>
          </p:cNvPr>
          <p:cNvSpPr>
            <a:spLocks noGrp="1"/>
          </p:cNvSpPr>
          <p:nvPr>
            <p:ph idx="1"/>
          </p:nvPr>
        </p:nvSpPr>
        <p:spPr/>
        <p:txBody>
          <a:bodyPr>
            <a:normAutofit lnSpcReduction="10000"/>
          </a:bodyPr>
          <a:lstStyle/>
          <a:p>
            <a:r>
              <a:rPr lang="en-US" dirty="0"/>
              <a:t> well absorbed </a:t>
            </a:r>
          </a:p>
          <a:p>
            <a:r>
              <a:rPr lang="en-US" dirty="0"/>
              <a:t>Long half-lives </a:t>
            </a:r>
          </a:p>
          <a:p>
            <a:r>
              <a:rPr lang="en-US" dirty="0"/>
              <a:t>Once daily at night because of their sedating effects.</a:t>
            </a:r>
          </a:p>
          <a:p>
            <a:r>
              <a:rPr lang="en-US" dirty="0"/>
              <a:t> Extensive metabolism via demethylation, aromatic hydroxylation, and glucuronide conjugation.</a:t>
            </a:r>
          </a:p>
          <a:p>
            <a:r>
              <a:rPr lang="en-US" dirty="0"/>
              <a:t> Only about 5% of TCAs are excreted unchanged in the urine</a:t>
            </a:r>
          </a:p>
        </p:txBody>
      </p:sp>
      <p:sp>
        <p:nvSpPr>
          <p:cNvPr id="4" name="Text Placeholder 3">
            <a:extLst>
              <a:ext uri="{FF2B5EF4-FFF2-40B4-BE49-F238E27FC236}">
                <a16:creationId xmlns:a16="http://schemas.microsoft.com/office/drawing/2014/main" id="{FFAF1895-65DC-48BB-BE91-1C72EBDF0B95}"/>
              </a:ext>
            </a:extLst>
          </p:cNvPr>
          <p:cNvSpPr>
            <a:spLocks noGrp="1"/>
          </p:cNvSpPr>
          <p:nvPr>
            <p:ph type="body" sz="half" idx="2"/>
          </p:nvPr>
        </p:nvSpPr>
        <p:spPr/>
        <p:txBody>
          <a:bodyPr/>
          <a:lstStyle/>
          <a:p>
            <a:r>
              <a:rPr lang="en-US" dirty="0"/>
              <a: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Highly influenced by CYP2D6 system</a:t>
            </a:r>
          </a:p>
        </p:txBody>
      </p:sp>
    </p:spTree>
    <p:extLst>
      <p:ext uri="{BB962C8B-B14F-4D97-AF65-F5344CB8AC3E}">
        <p14:creationId xmlns:p14="http://schemas.microsoft.com/office/powerpoint/2010/main" val="2781097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9779E-0E34-497E-8594-8AE043E4D14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B951789-EEF8-4076-9FDA-886E0E3F1EFA}"/>
              </a:ext>
            </a:extLst>
          </p:cNvPr>
          <p:cNvSpPr>
            <a:spLocks noGrp="1"/>
          </p:cNvSpPr>
          <p:nvPr>
            <p:ph sz="half" idx="1"/>
          </p:nvPr>
        </p:nvSpPr>
        <p:spPr/>
        <p:txBody>
          <a:bodyPr>
            <a:normAutofit lnSpcReduction="10000"/>
          </a:bodyPr>
          <a:lstStyle/>
          <a:p>
            <a:r>
              <a:rPr lang="en-US" dirty="0"/>
              <a:t> </a:t>
            </a:r>
            <a:r>
              <a:rPr lang="en-US" b="1" dirty="0"/>
              <a:t>Imipramine </a:t>
            </a:r>
            <a:r>
              <a:rPr lang="en-US" dirty="0"/>
              <a:t>and its metabolite, </a:t>
            </a:r>
            <a:r>
              <a:rPr lang="en-US" b="1" dirty="0"/>
              <a:t>desipramine, </a:t>
            </a:r>
            <a:r>
              <a:rPr lang="en-US" dirty="0"/>
              <a:t>differ by only a methyl group in the propylamine side chain resulting in a substantial change in their pharmacologic profiles</a:t>
            </a:r>
          </a:p>
        </p:txBody>
      </p:sp>
      <p:sp>
        <p:nvSpPr>
          <p:cNvPr id="4" name="Content Placeholder 3">
            <a:extLst>
              <a:ext uri="{FF2B5EF4-FFF2-40B4-BE49-F238E27FC236}">
                <a16:creationId xmlns:a16="http://schemas.microsoft.com/office/drawing/2014/main" id="{2A0C4A47-3CA7-4BC5-B1FA-040B796FC364}"/>
              </a:ext>
            </a:extLst>
          </p:cNvPr>
          <p:cNvSpPr>
            <a:spLocks noGrp="1"/>
          </p:cNvSpPr>
          <p:nvPr>
            <p:ph sz="half" idx="2"/>
          </p:nvPr>
        </p:nvSpPr>
        <p:spPr/>
        <p:txBody>
          <a:bodyPr>
            <a:normAutofit lnSpcReduction="10000"/>
          </a:bodyPr>
          <a:lstStyle/>
          <a:p>
            <a:r>
              <a:rPr lang="en-US" dirty="0"/>
              <a:t>Imipramine is highly anticholinergic and is a relatively strong serotonin as well as norepinephrine reuptake inhibitor.</a:t>
            </a:r>
          </a:p>
          <a:p>
            <a:r>
              <a:rPr lang="en-US" dirty="0"/>
              <a:t> In contrast, desipramine is much less anticholinergic and is a more potent and somewhat more selective norepinephrine reuptake inhibitor than is imipramine</a:t>
            </a:r>
          </a:p>
        </p:txBody>
      </p:sp>
      <p:sp>
        <p:nvSpPr>
          <p:cNvPr id="5" name="Rectangle 4">
            <a:extLst>
              <a:ext uri="{FF2B5EF4-FFF2-40B4-BE49-F238E27FC236}">
                <a16:creationId xmlns:a16="http://schemas.microsoft.com/office/drawing/2014/main" id="{02D40630-C828-4AC7-AACD-5F28B881DCD4}"/>
              </a:ext>
            </a:extLst>
          </p:cNvPr>
          <p:cNvSpPr/>
          <p:nvPr/>
        </p:nvSpPr>
        <p:spPr>
          <a:xfrm>
            <a:off x="838201" y="5800299"/>
            <a:ext cx="9274790" cy="8461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Their loss of popularity stems in large part from relatively poorer tolerability compared with newer agents, to difficulty of use, and to lethality in overdose.</a:t>
            </a:r>
          </a:p>
        </p:txBody>
      </p:sp>
    </p:spTree>
    <p:extLst>
      <p:ext uri="{BB962C8B-B14F-4D97-AF65-F5344CB8AC3E}">
        <p14:creationId xmlns:p14="http://schemas.microsoft.com/office/powerpoint/2010/main" val="753340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4BD2E-9B41-4D6C-ADAC-992BA0225231}"/>
              </a:ext>
            </a:extLst>
          </p:cNvPr>
          <p:cNvSpPr>
            <a:spLocks noGrp="1"/>
          </p:cNvSpPr>
          <p:nvPr>
            <p:ph type="title"/>
          </p:nvPr>
        </p:nvSpPr>
        <p:spPr/>
        <p:txBody>
          <a:bodyPr/>
          <a:lstStyle/>
          <a:p>
            <a:r>
              <a:rPr lang="en-US" dirty="0">
                <a:solidFill>
                  <a:srgbClr val="FF0000"/>
                </a:solidFill>
              </a:rPr>
              <a:t>5-HT 2 antagonist</a:t>
            </a:r>
          </a:p>
        </p:txBody>
      </p:sp>
      <p:sp>
        <p:nvSpPr>
          <p:cNvPr id="3" name="Content Placeholder 2">
            <a:extLst>
              <a:ext uri="{FF2B5EF4-FFF2-40B4-BE49-F238E27FC236}">
                <a16:creationId xmlns:a16="http://schemas.microsoft.com/office/drawing/2014/main" id="{5D841485-9463-44DA-A84C-2944777D722B}"/>
              </a:ext>
            </a:extLst>
          </p:cNvPr>
          <p:cNvSpPr>
            <a:spLocks noGrp="1"/>
          </p:cNvSpPr>
          <p:nvPr>
            <p:ph idx="1"/>
          </p:nvPr>
        </p:nvSpPr>
        <p:spPr/>
        <p:txBody>
          <a:bodyPr>
            <a:normAutofit lnSpcReduction="10000"/>
          </a:bodyPr>
          <a:lstStyle/>
          <a:p>
            <a:r>
              <a:rPr lang="en-US" b="1" dirty="0"/>
              <a:t>Trazodone </a:t>
            </a:r>
            <a:endParaRPr lang="en-US" i="1" dirty="0"/>
          </a:p>
          <a:p>
            <a:r>
              <a:rPr lang="en-US" i="1" dirty="0"/>
              <a:t> </a:t>
            </a:r>
            <a:r>
              <a:rPr lang="en-US" dirty="0"/>
              <a:t> Its primary metabolite, m-</a:t>
            </a:r>
            <a:r>
              <a:rPr lang="en-US" dirty="0" err="1"/>
              <a:t>chlorphenylpiperazine</a:t>
            </a:r>
            <a:r>
              <a:rPr lang="en-US" dirty="0"/>
              <a:t> (m-</a:t>
            </a:r>
            <a:r>
              <a:rPr lang="en-US" dirty="0" err="1"/>
              <a:t>cpp</a:t>
            </a:r>
            <a:r>
              <a:rPr lang="en-US" dirty="0"/>
              <a:t>), is a potent 5-HT 2 antagonist.</a:t>
            </a:r>
          </a:p>
          <a:p>
            <a:r>
              <a:rPr lang="en-US" dirty="0"/>
              <a:t>Extensive metabolism</a:t>
            </a:r>
          </a:p>
          <a:p>
            <a:r>
              <a:rPr lang="en-US" dirty="0"/>
              <a:t>Extensively bound to protein and have limited bioavailability because of extensive metabolism. </a:t>
            </a:r>
          </a:p>
          <a:p>
            <a:r>
              <a:rPr lang="en-US" dirty="0"/>
              <a:t>Short half-lives generally require split dosing</a:t>
            </a:r>
          </a:p>
          <a:p>
            <a:pPr marL="0" indent="0">
              <a:buNone/>
            </a:pPr>
            <a:endParaRPr lang="en-US" dirty="0"/>
          </a:p>
          <a:p>
            <a:endParaRPr lang="en-US" dirty="0"/>
          </a:p>
        </p:txBody>
      </p:sp>
      <p:sp>
        <p:nvSpPr>
          <p:cNvPr id="4" name="Text Placeholder 3">
            <a:extLst>
              <a:ext uri="{FF2B5EF4-FFF2-40B4-BE49-F238E27FC236}">
                <a16:creationId xmlns:a16="http://schemas.microsoft.com/office/drawing/2014/main" id="{1637B36A-2988-4399-996D-B56B23485B0C}"/>
              </a:ext>
            </a:extLst>
          </p:cNvPr>
          <p:cNvSpPr>
            <a:spLocks noGrp="1"/>
          </p:cNvSpPr>
          <p:nvPr>
            <p:ph type="body" sz="half" idx="2"/>
          </p:nvPr>
        </p:nvSpPr>
        <p:spPr/>
        <p:txBody>
          <a:bodyPr/>
          <a:lstStyle/>
          <a:p>
            <a:endParaRPr lang="en-US" dirty="0"/>
          </a:p>
          <a:p>
            <a:endParaRPr lang="en-US" dirty="0"/>
          </a:p>
          <a:p>
            <a:endParaRPr lang="en-US" dirty="0"/>
          </a:p>
          <a:p>
            <a:endParaRPr lang="en-US" dirty="0"/>
          </a:p>
          <a:p>
            <a:endParaRPr lang="en-US" dirty="0"/>
          </a:p>
          <a:p>
            <a:r>
              <a:rPr lang="en-US" dirty="0"/>
              <a:t>The most common use of trazodone in current practice is as an unlabeled hypnotic, since it is highly sedating and not associated with tolerance or dependence</a:t>
            </a:r>
          </a:p>
        </p:txBody>
      </p:sp>
    </p:spTree>
    <p:extLst>
      <p:ext uri="{BB962C8B-B14F-4D97-AF65-F5344CB8AC3E}">
        <p14:creationId xmlns:p14="http://schemas.microsoft.com/office/powerpoint/2010/main" val="2853772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4BD2E-9B41-4D6C-ADAC-992BA0225231}"/>
              </a:ext>
            </a:extLst>
          </p:cNvPr>
          <p:cNvSpPr>
            <a:spLocks noGrp="1"/>
          </p:cNvSpPr>
          <p:nvPr>
            <p:ph type="title"/>
          </p:nvPr>
        </p:nvSpPr>
        <p:spPr/>
        <p:txBody>
          <a:bodyPr/>
          <a:lstStyle/>
          <a:p>
            <a:r>
              <a:rPr lang="en-US" dirty="0">
                <a:solidFill>
                  <a:srgbClr val="FF0000"/>
                </a:solidFill>
              </a:rPr>
              <a:t>5-HT 2 antagonist</a:t>
            </a:r>
          </a:p>
        </p:txBody>
      </p:sp>
      <p:sp>
        <p:nvSpPr>
          <p:cNvPr id="3" name="Content Placeholder 2">
            <a:extLst>
              <a:ext uri="{FF2B5EF4-FFF2-40B4-BE49-F238E27FC236}">
                <a16:creationId xmlns:a16="http://schemas.microsoft.com/office/drawing/2014/main" id="{5D841485-9463-44DA-A84C-2944777D722B}"/>
              </a:ext>
            </a:extLst>
          </p:cNvPr>
          <p:cNvSpPr>
            <a:spLocks noGrp="1"/>
          </p:cNvSpPr>
          <p:nvPr>
            <p:ph idx="1"/>
          </p:nvPr>
        </p:nvSpPr>
        <p:spPr/>
        <p:txBody>
          <a:bodyPr>
            <a:normAutofit fontScale="85000" lnSpcReduction="10000"/>
          </a:bodyPr>
          <a:lstStyle/>
          <a:p>
            <a:r>
              <a:rPr lang="en-US" b="1" dirty="0"/>
              <a:t> Nefazodone</a:t>
            </a:r>
            <a:r>
              <a:rPr lang="en-US" dirty="0"/>
              <a:t> is chemically related to trazodone.</a:t>
            </a:r>
          </a:p>
          <a:p>
            <a:r>
              <a:rPr lang="en-US" dirty="0"/>
              <a:t> Its primary metabolites, </a:t>
            </a:r>
            <a:r>
              <a:rPr lang="en-US" dirty="0" err="1"/>
              <a:t>hydroxynefazodone</a:t>
            </a:r>
            <a:r>
              <a:rPr lang="en-US" dirty="0"/>
              <a:t> and m-</a:t>
            </a:r>
            <a:r>
              <a:rPr lang="en-US" dirty="0" err="1"/>
              <a:t>cpp</a:t>
            </a:r>
            <a:r>
              <a:rPr lang="en-US" dirty="0"/>
              <a:t> are both inhibitors of the 5-HT 2 receptor.</a:t>
            </a:r>
          </a:p>
          <a:p>
            <a:r>
              <a:rPr lang="en-US" dirty="0"/>
              <a:t>  Hepatotoxic</a:t>
            </a:r>
          </a:p>
          <a:p>
            <a:r>
              <a:rPr lang="en-US" dirty="0"/>
              <a:t>Extensive metabolism</a:t>
            </a:r>
          </a:p>
          <a:p>
            <a:r>
              <a:rPr lang="en-US" dirty="0"/>
              <a:t>Extensively bound to protein and have limited bioavailability because of extensive metabolism. </a:t>
            </a:r>
          </a:p>
          <a:p>
            <a:r>
              <a:rPr lang="en-US" dirty="0"/>
              <a:t>Short half-lives generally require split dosing</a:t>
            </a:r>
          </a:p>
          <a:p>
            <a:pPr marL="0" indent="0">
              <a:buNone/>
            </a:pPr>
            <a:endParaRPr lang="en-US" dirty="0"/>
          </a:p>
          <a:p>
            <a:endParaRPr lang="en-US" dirty="0"/>
          </a:p>
        </p:txBody>
      </p:sp>
      <p:sp>
        <p:nvSpPr>
          <p:cNvPr id="4" name="Text Placeholder 3">
            <a:extLst>
              <a:ext uri="{FF2B5EF4-FFF2-40B4-BE49-F238E27FC236}">
                <a16:creationId xmlns:a16="http://schemas.microsoft.com/office/drawing/2014/main" id="{1637B36A-2988-4399-996D-B56B23485B0C}"/>
              </a:ext>
            </a:extLst>
          </p:cNvPr>
          <p:cNvSpPr>
            <a:spLocks noGrp="1"/>
          </p:cNvSpPr>
          <p:nvPr>
            <p:ph type="body" sz="half" idx="2"/>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 potent inhibitor of the CYP3A4system and may interact with drugs metabolized by this enzyme</a:t>
            </a:r>
          </a:p>
        </p:txBody>
      </p:sp>
    </p:spTree>
    <p:extLst>
      <p:ext uri="{BB962C8B-B14F-4D97-AF65-F5344CB8AC3E}">
        <p14:creationId xmlns:p14="http://schemas.microsoft.com/office/powerpoint/2010/main" val="2819100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3BF1-6AA7-41E3-A009-F5145EE09762}"/>
              </a:ext>
            </a:extLst>
          </p:cNvPr>
          <p:cNvSpPr>
            <a:spLocks noGrp="1"/>
          </p:cNvSpPr>
          <p:nvPr>
            <p:ph type="title"/>
          </p:nvPr>
        </p:nvSpPr>
        <p:spPr/>
        <p:txBody>
          <a:bodyPr/>
          <a:lstStyle/>
          <a:p>
            <a:r>
              <a:rPr lang="en-US" dirty="0">
                <a:solidFill>
                  <a:srgbClr val="FF0000"/>
                </a:solidFill>
              </a:rPr>
              <a:t>Monoamine inhibitors</a:t>
            </a:r>
          </a:p>
        </p:txBody>
      </p:sp>
      <p:sp>
        <p:nvSpPr>
          <p:cNvPr id="3" name="Text Placeholder 2">
            <a:extLst>
              <a:ext uri="{FF2B5EF4-FFF2-40B4-BE49-F238E27FC236}">
                <a16:creationId xmlns:a16="http://schemas.microsoft.com/office/drawing/2014/main" id="{9AB7B08C-48C0-414A-A1E0-D1B66C5C1F35}"/>
              </a:ext>
            </a:extLst>
          </p:cNvPr>
          <p:cNvSpPr>
            <a:spLocks noGrp="1"/>
          </p:cNvSpPr>
          <p:nvPr>
            <p:ph type="body" idx="1"/>
          </p:nvPr>
        </p:nvSpPr>
        <p:spPr/>
        <p:txBody>
          <a:bodyPr/>
          <a:lstStyle/>
          <a:p>
            <a:r>
              <a:rPr lang="en-US" dirty="0"/>
              <a:t>Hydrazine derivatives</a:t>
            </a:r>
          </a:p>
        </p:txBody>
      </p:sp>
      <p:sp>
        <p:nvSpPr>
          <p:cNvPr id="4" name="Content Placeholder 3">
            <a:extLst>
              <a:ext uri="{FF2B5EF4-FFF2-40B4-BE49-F238E27FC236}">
                <a16:creationId xmlns:a16="http://schemas.microsoft.com/office/drawing/2014/main" id="{C6FCC993-EFDD-4F83-9D02-CC28C0F98D7C}"/>
              </a:ext>
            </a:extLst>
          </p:cNvPr>
          <p:cNvSpPr>
            <a:spLocks noGrp="1"/>
          </p:cNvSpPr>
          <p:nvPr>
            <p:ph sz="half" idx="2"/>
          </p:nvPr>
        </p:nvSpPr>
        <p:spPr>
          <a:xfrm>
            <a:off x="839789" y="2505075"/>
            <a:ext cx="4182588" cy="1671140"/>
          </a:xfrm>
        </p:spPr>
        <p:txBody>
          <a:bodyPr>
            <a:normAutofit/>
          </a:bodyPr>
          <a:lstStyle/>
          <a:p>
            <a:pPr marL="0" indent="0">
              <a:buNone/>
            </a:pPr>
            <a:r>
              <a:rPr lang="en-US" dirty="0"/>
              <a:t>- </a:t>
            </a:r>
            <a:r>
              <a:rPr lang="en-US" b="1" dirty="0"/>
              <a:t>Phenelzine</a:t>
            </a:r>
          </a:p>
          <a:p>
            <a:pPr>
              <a:buFontTx/>
              <a:buChar char="-"/>
            </a:pPr>
            <a:r>
              <a:rPr lang="en-US" b="1" dirty="0" err="1"/>
              <a:t>Isocarboxazid</a:t>
            </a:r>
            <a:r>
              <a:rPr lang="en-US" b="1" dirty="0"/>
              <a:t> </a:t>
            </a:r>
          </a:p>
          <a:p>
            <a:pPr marL="0" indent="0">
              <a:buNone/>
            </a:pPr>
            <a:endParaRPr lang="en-US" dirty="0"/>
          </a:p>
        </p:txBody>
      </p:sp>
      <p:sp>
        <p:nvSpPr>
          <p:cNvPr id="5" name="Text Placeholder 4">
            <a:extLst>
              <a:ext uri="{FF2B5EF4-FFF2-40B4-BE49-F238E27FC236}">
                <a16:creationId xmlns:a16="http://schemas.microsoft.com/office/drawing/2014/main" id="{000DAD82-E9EB-41FB-8B8E-ED8E257DF55B}"/>
              </a:ext>
            </a:extLst>
          </p:cNvPr>
          <p:cNvSpPr>
            <a:spLocks noGrp="1"/>
          </p:cNvSpPr>
          <p:nvPr>
            <p:ph type="body" sz="quarter" idx="3"/>
          </p:nvPr>
        </p:nvSpPr>
        <p:spPr/>
        <p:txBody>
          <a:bodyPr/>
          <a:lstStyle/>
          <a:p>
            <a:r>
              <a:rPr lang="en-US" dirty="0"/>
              <a:t>Non-</a:t>
            </a:r>
            <a:r>
              <a:rPr lang="en-US" dirty="0" err="1"/>
              <a:t>hydrazines</a:t>
            </a:r>
            <a:endParaRPr lang="en-US" dirty="0"/>
          </a:p>
        </p:txBody>
      </p:sp>
      <p:sp>
        <p:nvSpPr>
          <p:cNvPr id="6" name="Content Placeholder 5">
            <a:extLst>
              <a:ext uri="{FF2B5EF4-FFF2-40B4-BE49-F238E27FC236}">
                <a16:creationId xmlns:a16="http://schemas.microsoft.com/office/drawing/2014/main" id="{55C59A91-DA1A-4A95-AD5E-2EFDB37C5980}"/>
              </a:ext>
            </a:extLst>
          </p:cNvPr>
          <p:cNvSpPr>
            <a:spLocks noGrp="1"/>
          </p:cNvSpPr>
          <p:nvPr>
            <p:ph sz="quarter" idx="4"/>
          </p:nvPr>
        </p:nvSpPr>
        <p:spPr/>
        <p:txBody>
          <a:bodyPr>
            <a:normAutofit/>
          </a:bodyPr>
          <a:lstStyle/>
          <a:p>
            <a:pPr>
              <a:buFontTx/>
              <a:buChar char="-"/>
            </a:pPr>
            <a:r>
              <a:rPr lang="en-US" b="1" dirty="0"/>
              <a:t>Tranylcypromine</a:t>
            </a:r>
          </a:p>
          <a:p>
            <a:pPr>
              <a:buFontTx/>
              <a:buChar char="-"/>
            </a:pPr>
            <a:r>
              <a:rPr lang="en-US" b="1" dirty="0"/>
              <a:t>Selegiline</a:t>
            </a:r>
          </a:p>
          <a:p>
            <a:pPr>
              <a:buFontTx/>
              <a:buChar char="-"/>
            </a:pPr>
            <a:r>
              <a:rPr lang="en-US" b="1" dirty="0"/>
              <a:t>Moclobemide</a:t>
            </a:r>
            <a:endParaRPr lang="en-US" dirty="0"/>
          </a:p>
        </p:txBody>
      </p:sp>
      <p:sp>
        <p:nvSpPr>
          <p:cNvPr id="7" name="Rectangle 6">
            <a:extLst>
              <a:ext uri="{FF2B5EF4-FFF2-40B4-BE49-F238E27FC236}">
                <a16:creationId xmlns:a16="http://schemas.microsoft.com/office/drawing/2014/main" id="{106C5C7C-C81F-4B8F-8F2C-39F52D11B3F2}"/>
              </a:ext>
            </a:extLst>
          </p:cNvPr>
          <p:cNvSpPr/>
          <p:nvPr/>
        </p:nvSpPr>
        <p:spPr>
          <a:xfrm>
            <a:off x="1637731" y="5176838"/>
            <a:ext cx="9826388" cy="14696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a:t>
            </a:r>
            <a:r>
              <a:rPr lang="en-US" dirty="0" err="1"/>
              <a:t>hydrazines</a:t>
            </a:r>
            <a:r>
              <a:rPr lang="en-US" dirty="0"/>
              <a:t> and tranylcypromine bind irreversibly and non selectively with MAO-A and -B, whereas other MAOIs may have more selective or reversible properties.</a:t>
            </a:r>
          </a:p>
        </p:txBody>
      </p:sp>
    </p:spTree>
    <p:extLst>
      <p:ext uri="{BB962C8B-B14F-4D97-AF65-F5344CB8AC3E}">
        <p14:creationId xmlns:p14="http://schemas.microsoft.com/office/powerpoint/2010/main" val="4206018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47F2C-5AE0-4501-8443-49E7F51DB62F}"/>
              </a:ext>
            </a:extLst>
          </p:cNvPr>
          <p:cNvSpPr>
            <a:spLocks noGrp="1"/>
          </p:cNvSpPr>
          <p:nvPr>
            <p:ph type="title"/>
          </p:nvPr>
        </p:nvSpPr>
        <p:spPr/>
        <p:txBody>
          <a:bodyPr/>
          <a:lstStyle/>
          <a:p>
            <a:r>
              <a:rPr lang="en-US" dirty="0">
                <a:solidFill>
                  <a:srgbClr val="FF0000"/>
                </a:solidFill>
              </a:rPr>
              <a:t>Monoamine inhibitors</a:t>
            </a:r>
            <a:endParaRPr lang="en-US" dirty="0"/>
          </a:p>
        </p:txBody>
      </p:sp>
      <p:sp>
        <p:nvSpPr>
          <p:cNvPr id="3" name="Content Placeholder 2">
            <a:extLst>
              <a:ext uri="{FF2B5EF4-FFF2-40B4-BE49-F238E27FC236}">
                <a16:creationId xmlns:a16="http://schemas.microsoft.com/office/drawing/2014/main" id="{0E0AC80D-4446-4784-BA81-7F74DD3006FB}"/>
              </a:ext>
            </a:extLst>
          </p:cNvPr>
          <p:cNvSpPr>
            <a:spLocks noGrp="1"/>
          </p:cNvSpPr>
          <p:nvPr>
            <p:ph idx="1"/>
          </p:nvPr>
        </p:nvSpPr>
        <p:spPr/>
        <p:txBody>
          <a:bodyPr>
            <a:normAutofit fontScale="77500" lnSpcReduction="20000"/>
          </a:bodyPr>
          <a:lstStyle/>
          <a:p>
            <a:r>
              <a:rPr lang="en-US" dirty="0"/>
              <a:t> Extensive first-pass effects that may substantially decrease bioavailability.</a:t>
            </a:r>
          </a:p>
          <a:p>
            <a:r>
              <a:rPr lang="en-US" dirty="0"/>
              <a:t>Well absorbed from the gastrointestinal tract.</a:t>
            </a:r>
          </a:p>
          <a:p>
            <a:r>
              <a:rPr lang="en-US" dirty="0"/>
              <a:t>Because of the prominent first-pass effects and their tendency to inhibit MAO in the gut (resulting in tyramine pressor effects), alternative routes of administration are being developed. </a:t>
            </a:r>
          </a:p>
          <a:p>
            <a:r>
              <a:rPr lang="en-US" dirty="0"/>
              <a:t>Selegiline is available in both transdermal and sublingual forms that bypass both gut and liver. </a:t>
            </a:r>
          </a:p>
          <a:p>
            <a:r>
              <a:rPr lang="en-US" dirty="0"/>
              <a:t>These routes decrease the risk of food interactions and provide substantially increased bioavailability.</a:t>
            </a:r>
          </a:p>
        </p:txBody>
      </p:sp>
      <p:sp>
        <p:nvSpPr>
          <p:cNvPr id="4" name="Text Placeholder 3">
            <a:extLst>
              <a:ext uri="{FF2B5EF4-FFF2-40B4-BE49-F238E27FC236}">
                <a16:creationId xmlns:a16="http://schemas.microsoft.com/office/drawing/2014/main" id="{067CBB4E-10A9-45CB-9610-1B68581A2C05}"/>
              </a:ext>
            </a:extLst>
          </p:cNvPr>
          <p:cNvSpPr>
            <a:spLocks noGrp="1"/>
          </p:cNvSpPr>
          <p:nvPr>
            <p:ph type="body" sz="half" idx="2"/>
          </p:nvPr>
        </p:nvSpPr>
        <p:spPr/>
        <p:txBody>
          <a:bodyPr/>
          <a:lstStyle/>
          <a:p>
            <a:endParaRPr lang="en-US" dirty="0"/>
          </a:p>
          <a:p>
            <a:endParaRPr lang="en-US" dirty="0"/>
          </a:p>
          <a:p>
            <a:endParaRPr lang="en-US" dirty="0"/>
          </a:p>
          <a:p>
            <a:endParaRPr lang="en-US" dirty="0"/>
          </a:p>
          <a:p>
            <a:r>
              <a:rPr lang="en-US" dirty="0"/>
              <a:t>Tranylcypromine is ring hydroxylated and </a:t>
            </a:r>
            <a:r>
              <a:rPr lang="en-US" i="1" dirty="0"/>
              <a:t>N </a:t>
            </a:r>
            <a:r>
              <a:rPr lang="en-US" dirty="0"/>
              <a:t>-acetylated, whereas acetylation appears to be a </a:t>
            </a:r>
            <a:r>
              <a:rPr lang="en-US"/>
              <a:t>minor pathway for </a:t>
            </a:r>
            <a:r>
              <a:rPr lang="en-US" dirty="0"/>
              <a:t>phenelzine. </a:t>
            </a:r>
          </a:p>
          <a:p>
            <a:r>
              <a:rPr lang="en-US" dirty="0"/>
              <a:t>Selegiline is </a:t>
            </a:r>
            <a:r>
              <a:rPr lang="en-US" i="1" dirty="0"/>
              <a:t>N </a:t>
            </a:r>
            <a:r>
              <a:rPr lang="en-US" dirty="0"/>
              <a:t>-demethylated and then hydroxylated</a:t>
            </a:r>
          </a:p>
        </p:txBody>
      </p:sp>
    </p:spTree>
    <p:extLst>
      <p:ext uri="{BB962C8B-B14F-4D97-AF65-F5344CB8AC3E}">
        <p14:creationId xmlns:p14="http://schemas.microsoft.com/office/powerpoint/2010/main" val="4819099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E5CD-2E9D-4097-BFD5-36E1927386C7}"/>
              </a:ext>
            </a:extLst>
          </p:cNvPr>
          <p:cNvSpPr>
            <a:spLocks noGrp="1"/>
          </p:cNvSpPr>
          <p:nvPr>
            <p:ph type="title"/>
          </p:nvPr>
        </p:nvSpPr>
        <p:spPr/>
        <p:txBody>
          <a:bodyPr/>
          <a:lstStyle/>
          <a:p>
            <a:r>
              <a:rPr lang="en-US" b="1" dirty="0">
                <a:solidFill>
                  <a:srgbClr val="FF0000"/>
                </a:solidFill>
              </a:rPr>
              <a:t>Tetracyclic and Unicyclic Antidepressants</a:t>
            </a:r>
            <a:endParaRPr lang="en-US" dirty="0">
              <a:solidFill>
                <a:srgbClr val="FF0000"/>
              </a:solidFill>
            </a:endParaRPr>
          </a:p>
        </p:txBody>
      </p:sp>
      <p:sp>
        <p:nvSpPr>
          <p:cNvPr id="3" name="Content Placeholder 2">
            <a:extLst>
              <a:ext uri="{FF2B5EF4-FFF2-40B4-BE49-F238E27FC236}">
                <a16:creationId xmlns:a16="http://schemas.microsoft.com/office/drawing/2014/main" id="{78969332-D25A-47C7-BE29-28798E3B941D}"/>
              </a:ext>
            </a:extLst>
          </p:cNvPr>
          <p:cNvSpPr>
            <a:spLocks noGrp="1"/>
          </p:cNvSpPr>
          <p:nvPr>
            <p:ph idx="1"/>
          </p:nvPr>
        </p:nvSpPr>
        <p:spPr/>
        <p:txBody>
          <a:bodyPr>
            <a:normAutofit/>
          </a:bodyPr>
          <a:lstStyle/>
          <a:p>
            <a:r>
              <a:rPr lang="en-US" b="1" dirty="0"/>
              <a:t>Bupropion </a:t>
            </a:r>
          </a:p>
          <a:p>
            <a:r>
              <a:rPr lang="en-US" b="1" dirty="0"/>
              <a:t>Mirtazapine</a:t>
            </a:r>
          </a:p>
          <a:p>
            <a:r>
              <a:rPr lang="en-US" b="1" dirty="0"/>
              <a:t>Amoxapine</a:t>
            </a:r>
            <a:endParaRPr lang="en-US" dirty="0"/>
          </a:p>
          <a:p>
            <a:r>
              <a:rPr lang="en-US" b="1" dirty="0"/>
              <a:t>Maprotiline </a:t>
            </a:r>
            <a:endParaRPr lang="en-US" dirty="0"/>
          </a:p>
          <a:p>
            <a:pPr marL="0" indent="0">
              <a:buNone/>
            </a:pPr>
            <a:endParaRPr lang="en-US" dirty="0"/>
          </a:p>
        </p:txBody>
      </p:sp>
      <p:sp>
        <p:nvSpPr>
          <p:cNvPr id="4" name="Text Placeholder 3">
            <a:extLst>
              <a:ext uri="{FF2B5EF4-FFF2-40B4-BE49-F238E27FC236}">
                <a16:creationId xmlns:a16="http://schemas.microsoft.com/office/drawing/2014/main" id="{25CA2F13-807F-4A30-9313-CABAEE705F21}"/>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016207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9E5CD-2E9D-4097-BFD5-36E1927386C7}"/>
              </a:ext>
            </a:extLst>
          </p:cNvPr>
          <p:cNvSpPr>
            <a:spLocks noGrp="1"/>
          </p:cNvSpPr>
          <p:nvPr>
            <p:ph type="title"/>
          </p:nvPr>
        </p:nvSpPr>
        <p:spPr/>
        <p:txBody>
          <a:bodyPr/>
          <a:lstStyle/>
          <a:p>
            <a:r>
              <a:rPr lang="en-US" b="1" dirty="0">
                <a:solidFill>
                  <a:srgbClr val="FF0000"/>
                </a:solidFill>
              </a:rPr>
              <a:t>Tetracyclic and Unicyclic Antidepressants</a:t>
            </a:r>
            <a:endParaRPr lang="en-US" dirty="0">
              <a:solidFill>
                <a:srgbClr val="FF0000"/>
              </a:solidFill>
            </a:endParaRPr>
          </a:p>
        </p:txBody>
      </p:sp>
      <p:sp>
        <p:nvSpPr>
          <p:cNvPr id="3" name="Content Placeholder 2">
            <a:extLst>
              <a:ext uri="{FF2B5EF4-FFF2-40B4-BE49-F238E27FC236}">
                <a16:creationId xmlns:a16="http://schemas.microsoft.com/office/drawing/2014/main" id="{78969332-D25A-47C7-BE29-28798E3B941D}"/>
              </a:ext>
            </a:extLst>
          </p:cNvPr>
          <p:cNvSpPr>
            <a:spLocks noGrp="1"/>
          </p:cNvSpPr>
          <p:nvPr>
            <p:ph idx="1"/>
          </p:nvPr>
        </p:nvSpPr>
        <p:spPr/>
        <p:txBody>
          <a:bodyPr>
            <a:normAutofit fontScale="70000" lnSpcReduction="20000"/>
          </a:bodyPr>
          <a:lstStyle/>
          <a:p>
            <a:r>
              <a:rPr lang="en-US" dirty="0"/>
              <a:t> Unicyclic aminoketone structure.</a:t>
            </a:r>
          </a:p>
          <a:p>
            <a:r>
              <a:rPr lang="en-US" dirty="0"/>
              <a:t>Its unique structure results in a different side-effect profile than most antidepressants </a:t>
            </a:r>
          </a:p>
          <a:p>
            <a:r>
              <a:rPr lang="en-US" dirty="0"/>
              <a:t>Resembles amphetamine in chemical structure and, like the stimulant. </a:t>
            </a:r>
          </a:p>
          <a:p>
            <a:r>
              <a:rPr lang="en-US" dirty="0"/>
              <a:t> Rapidly absorbed and has a mean protein binding of 85%. </a:t>
            </a:r>
          </a:p>
          <a:p>
            <a:r>
              <a:rPr lang="en-US" dirty="0"/>
              <a:t>It undergoes extensive hepatic metabolism and has a substantial first-pass effect. </a:t>
            </a:r>
          </a:p>
          <a:p>
            <a:r>
              <a:rPr lang="en-US" dirty="0"/>
              <a:t>It has three active metabolites including </a:t>
            </a:r>
            <a:r>
              <a:rPr lang="en-US" dirty="0" err="1"/>
              <a:t>hydroxybupropion</a:t>
            </a:r>
            <a:r>
              <a:rPr lang="en-US" dirty="0"/>
              <a:t>; the latter is being developed as an antidepressant.</a:t>
            </a:r>
          </a:p>
          <a:p>
            <a:r>
              <a:rPr lang="en-US" dirty="0"/>
              <a:t> Biphasic elimination with the first phase lasting about 1 hour and the second phase lasting 14 hours.</a:t>
            </a:r>
          </a:p>
          <a:p>
            <a:endParaRPr lang="en-US" dirty="0"/>
          </a:p>
          <a:p>
            <a:pPr marL="0" indent="0">
              <a:buNone/>
            </a:pPr>
            <a:endParaRPr lang="en-US" dirty="0"/>
          </a:p>
        </p:txBody>
      </p:sp>
      <p:sp>
        <p:nvSpPr>
          <p:cNvPr id="4" name="Text Placeholder 3">
            <a:extLst>
              <a:ext uri="{FF2B5EF4-FFF2-40B4-BE49-F238E27FC236}">
                <a16:creationId xmlns:a16="http://schemas.microsoft.com/office/drawing/2014/main" id="{25CA2F13-807F-4A30-9313-CABAEE705F21}"/>
              </a:ext>
            </a:extLst>
          </p:cNvPr>
          <p:cNvSpPr>
            <a:spLocks noGrp="1"/>
          </p:cNvSpPr>
          <p:nvPr>
            <p:ph type="body" sz="half" idx="2"/>
          </p:nvPr>
        </p:nvSpPr>
        <p:spPr/>
        <p:txBody>
          <a:bodyPr/>
          <a:lstStyle/>
          <a:p>
            <a:endParaRPr lang="en-US" b="1" dirty="0"/>
          </a:p>
          <a:p>
            <a:endParaRPr lang="en-US" b="1" dirty="0"/>
          </a:p>
          <a:p>
            <a:endParaRPr lang="en-US" b="1" dirty="0"/>
          </a:p>
          <a:p>
            <a:endParaRPr lang="en-US" b="1" dirty="0"/>
          </a:p>
          <a:p>
            <a:r>
              <a:rPr lang="en-US" b="1" dirty="0"/>
              <a:t>Bupropion</a:t>
            </a:r>
            <a:endParaRPr lang="en-US" dirty="0"/>
          </a:p>
        </p:txBody>
      </p:sp>
    </p:spTree>
    <p:extLst>
      <p:ext uri="{BB962C8B-B14F-4D97-AF65-F5344CB8AC3E}">
        <p14:creationId xmlns:p14="http://schemas.microsoft.com/office/powerpoint/2010/main" val="4043773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9221-C585-43DE-9294-131C9E475F93}"/>
              </a:ext>
            </a:extLst>
          </p:cNvPr>
          <p:cNvSpPr>
            <a:spLocks noGrp="1"/>
          </p:cNvSpPr>
          <p:nvPr>
            <p:ph type="title"/>
          </p:nvPr>
        </p:nvSpPr>
        <p:spPr/>
        <p:txBody>
          <a:bodyPr/>
          <a:lstStyle/>
          <a:p>
            <a:r>
              <a:rPr lang="en-US" b="1">
                <a:solidFill>
                  <a:srgbClr val="FF0000"/>
                </a:solidFill>
              </a:rPr>
              <a:t>Tetracyclic and Unicyclic Antidepressants</a:t>
            </a:r>
            <a:endParaRPr lang="en-US"/>
          </a:p>
        </p:txBody>
      </p:sp>
      <p:sp>
        <p:nvSpPr>
          <p:cNvPr id="3" name="Content Placeholder 2">
            <a:extLst>
              <a:ext uri="{FF2B5EF4-FFF2-40B4-BE49-F238E27FC236}">
                <a16:creationId xmlns:a16="http://schemas.microsoft.com/office/drawing/2014/main" id="{828729AF-EC08-4DED-97C1-D84E285C6C2F}"/>
              </a:ext>
            </a:extLst>
          </p:cNvPr>
          <p:cNvSpPr>
            <a:spLocks noGrp="1"/>
          </p:cNvSpPr>
          <p:nvPr>
            <p:ph idx="1"/>
          </p:nvPr>
        </p:nvSpPr>
        <p:spPr/>
        <p:txBody>
          <a:bodyPr>
            <a:normAutofit/>
          </a:bodyPr>
          <a:lstStyle/>
          <a:p>
            <a:r>
              <a:rPr lang="en-US" dirty="0"/>
              <a:t> Rapidly absorbed with protein binding of about 85%.</a:t>
            </a:r>
          </a:p>
          <a:p>
            <a:r>
              <a:rPr lang="en-US" dirty="0"/>
              <a:t> The half-life is variable, and the drug is often given </a:t>
            </a:r>
            <a:r>
              <a:rPr lang="en-US" dirty="0" err="1"/>
              <a:t>individed</a:t>
            </a:r>
            <a:r>
              <a:rPr lang="en-US" dirty="0"/>
              <a:t> doses. </a:t>
            </a:r>
          </a:p>
          <a:p>
            <a:r>
              <a:rPr lang="en-US" dirty="0"/>
              <a:t>Extensive hepatic metabolism.</a:t>
            </a:r>
          </a:p>
          <a:p>
            <a:r>
              <a:rPr lang="en-US" dirty="0"/>
              <a:t>One of the active metabolites, 7-hydroxyamoxapine, is a potent D 2 blocker and is associated with antipsychotic effects.</a:t>
            </a:r>
          </a:p>
        </p:txBody>
      </p:sp>
      <p:sp>
        <p:nvSpPr>
          <p:cNvPr id="4" name="Text Placeholder 3">
            <a:extLst>
              <a:ext uri="{FF2B5EF4-FFF2-40B4-BE49-F238E27FC236}">
                <a16:creationId xmlns:a16="http://schemas.microsoft.com/office/drawing/2014/main" id="{D0BBC2A8-F134-4F18-BCF1-DC682F9FCEC8}"/>
              </a:ext>
            </a:extLst>
          </p:cNvPr>
          <p:cNvSpPr>
            <a:spLocks noGrp="1"/>
          </p:cNvSpPr>
          <p:nvPr>
            <p:ph type="body" sz="half" idx="2"/>
          </p:nvPr>
        </p:nvSpPr>
        <p:spPr/>
        <p:txBody>
          <a:bodyPr/>
          <a:lstStyle/>
          <a:p>
            <a:r>
              <a:rPr lang="en-US" dirty="0"/>
              <a:t>Amoxapine</a:t>
            </a:r>
          </a:p>
        </p:txBody>
      </p:sp>
    </p:spTree>
    <p:extLst>
      <p:ext uri="{BB962C8B-B14F-4D97-AF65-F5344CB8AC3E}">
        <p14:creationId xmlns:p14="http://schemas.microsoft.com/office/powerpoint/2010/main" val="3988114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29375-663D-457C-8BD0-FACEC775804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B309289-7FAC-4C61-8A47-3755003A3C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380348"/>
            <a:ext cx="10789693" cy="6477652"/>
          </a:xfrm>
        </p:spPr>
      </p:pic>
    </p:spTree>
    <p:extLst>
      <p:ext uri="{BB962C8B-B14F-4D97-AF65-F5344CB8AC3E}">
        <p14:creationId xmlns:p14="http://schemas.microsoft.com/office/powerpoint/2010/main" val="580998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2500</Words>
  <Application>Microsoft Office PowerPoint</Application>
  <PresentationFormat>Widescreen</PresentationFormat>
  <Paragraphs>294</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Calibri Light</vt:lpstr>
      <vt:lpstr>Office Theme</vt:lpstr>
      <vt:lpstr>ANTIDEPRESSANT</vt:lpstr>
      <vt:lpstr>Diagnostic statistical manual of Mental disorders, fifth edition DSM 5</vt:lpstr>
      <vt:lpstr>The ICD-10 Classification of Mental and Behavioral Disorders. Clinical descriptions and diagnostic guidelines</vt:lpstr>
      <vt:lpstr>DSM V</vt:lpstr>
      <vt:lpstr>Forms of depressive states</vt:lpstr>
      <vt:lpstr>The manic state</vt:lpstr>
      <vt:lpstr>Genetics</vt:lpstr>
      <vt:lpstr>Genetics</vt:lpstr>
      <vt:lpstr>OTHERS</vt:lpstr>
      <vt:lpstr>Changes in both structural and functional brain imaging</vt:lpstr>
      <vt:lpstr>Pathophysiology</vt:lpstr>
      <vt:lpstr>Monoamine theory</vt:lpstr>
      <vt:lpstr>PowerPoint Presentation</vt:lpstr>
      <vt:lpstr>Monoamine theory of depreesion</vt:lpstr>
      <vt:lpstr>PowerPoint Presentation</vt:lpstr>
      <vt:lpstr>Neurotrophic hypothesis </vt:lpstr>
      <vt:lpstr>Neurotrophic hypothesis </vt:lpstr>
      <vt:lpstr>Neurotrophic hypothesis </vt:lpstr>
      <vt:lpstr>Neurotrophic hypothesis </vt:lpstr>
      <vt:lpstr>Neurotrophic hypothesis</vt:lpstr>
      <vt:lpstr>Neurotrophic hypothesis</vt:lpstr>
      <vt:lpstr>Classification</vt:lpstr>
      <vt:lpstr>Mechanism of action</vt:lpstr>
      <vt:lpstr>MECHANISM OF ACTION</vt:lpstr>
      <vt:lpstr>PowerPoint Presentation</vt:lpstr>
      <vt:lpstr>MECHANISM OF ACTION</vt:lpstr>
      <vt:lpstr>Selective Serotonin Reuptake Inhibitors </vt:lpstr>
      <vt:lpstr>Selective Serotonin Reuptake Inhibitors</vt:lpstr>
      <vt:lpstr>Selective Serotonin Reuptake Inhibitors</vt:lpstr>
      <vt:lpstr>Selective Serotonin Reuptake Inhibitors</vt:lpstr>
      <vt:lpstr>Selective Serotonin Reuptake Inhibitors</vt:lpstr>
      <vt:lpstr>Selective Serotonin Reuptake Inhibitors</vt:lpstr>
      <vt:lpstr>Selective serotonin-norepinephrine reuptake inhibitors</vt:lpstr>
      <vt:lpstr>Selective serotonin-norepinephrine reuptake inhibitors</vt:lpstr>
      <vt:lpstr>TCA</vt:lpstr>
      <vt:lpstr>PowerPoint Presentation</vt:lpstr>
      <vt:lpstr>5-HT 2 antagonist</vt:lpstr>
      <vt:lpstr>5-HT 2 antagonist</vt:lpstr>
      <vt:lpstr>Monoamine inhibitors</vt:lpstr>
      <vt:lpstr>Monoamine inhibitors</vt:lpstr>
      <vt:lpstr>Tetracyclic and Unicyclic Antidepressants</vt:lpstr>
      <vt:lpstr>Tetracyclic and Unicyclic Antidepressants</vt:lpstr>
      <vt:lpstr>Tetracyclic and Unicyclic Antidepressants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OGUNJIMI</dc:creator>
  <cp:lastModifiedBy>DR OGUNJIMI</cp:lastModifiedBy>
  <cp:revision>45</cp:revision>
  <dcterms:created xsi:type="dcterms:W3CDTF">2018-10-28T13:17:03Z</dcterms:created>
  <dcterms:modified xsi:type="dcterms:W3CDTF">2018-11-06T08:55:17Z</dcterms:modified>
</cp:coreProperties>
</file>