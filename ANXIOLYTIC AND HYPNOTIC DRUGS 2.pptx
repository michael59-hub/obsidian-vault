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257" r:id="rId3"/>
    <p:sldId id="258" r:id="rId4"/>
    <p:sldId id="259" r:id="rId5"/>
    <p:sldId id="301" r:id="rId6"/>
    <p:sldId id="302" r:id="rId7"/>
    <p:sldId id="303" r:id="rId8"/>
    <p:sldId id="304"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94" r:id="rId27"/>
    <p:sldId id="277" r:id="rId28"/>
    <p:sldId id="278" r:id="rId29"/>
    <p:sldId id="279" r:id="rId30"/>
    <p:sldId id="300" r:id="rId31"/>
    <p:sldId id="280" r:id="rId32"/>
    <p:sldId id="281" r:id="rId33"/>
    <p:sldId id="282" r:id="rId34"/>
    <p:sldId id="283" r:id="rId35"/>
    <p:sldId id="284" r:id="rId36"/>
    <p:sldId id="295" r:id="rId37"/>
    <p:sldId id="285" r:id="rId38"/>
    <p:sldId id="296" r:id="rId39"/>
    <p:sldId id="297" r:id="rId40"/>
    <p:sldId id="298" r:id="rId41"/>
    <p:sldId id="299" r:id="rId42"/>
    <p:sldId id="286" r:id="rId43"/>
    <p:sldId id="287" r:id="rId44"/>
    <p:sldId id="288" r:id="rId45"/>
    <p:sldId id="289" r:id="rId46"/>
    <p:sldId id="290" r:id="rId47"/>
    <p:sldId id="292" r:id="rId48"/>
    <p:sldId id="293"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2" d="100"/>
          <a:sy n="72" d="100"/>
        </p:scale>
        <p:origin x="-110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5CA154D7-C939-4F63-9957-A0B85F792F2C}"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9E5B7-7E9B-4B96-9DF6-D49F9C7E1C74}"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CA154D7-C939-4F63-9957-A0B85F792F2C}"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9E5B7-7E9B-4B96-9DF6-D49F9C7E1C7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CA154D7-C939-4F63-9957-A0B85F792F2C}"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9E5B7-7E9B-4B96-9DF6-D49F9C7E1C74}"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CA154D7-C939-4F63-9957-A0B85F792F2C}"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B9E5B7-7E9B-4B96-9DF6-D49F9C7E1C7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CA154D7-C939-4F63-9957-A0B85F792F2C}" type="datetimeFigureOut">
              <a:rPr lang="en-US" smtClean="0"/>
              <a:pPr/>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B9E5B7-7E9B-4B96-9DF6-D49F9C7E1C7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CA154D7-C939-4F63-9957-A0B85F792F2C}" type="datetimeFigureOut">
              <a:rPr lang="en-US" smtClean="0"/>
              <a:pPr/>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B9E5B7-7E9B-4B96-9DF6-D49F9C7E1C7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A154D7-C939-4F63-9957-A0B85F792F2C}" type="datetimeFigureOut">
              <a:rPr lang="en-US" smtClean="0"/>
              <a:pPr/>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B9E5B7-7E9B-4B96-9DF6-D49F9C7E1C7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CA154D7-C939-4F63-9957-A0B85F792F2C}"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B9E5B7-7E9B-4B96-9DF6-D49F9C7E1C74}"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5CA154D7-C939-4F63-9957-A0B85F792F2C}" type="datetimeFigureOut">
              <a:rPr lang="en-US" smtClean="0"/>
              <a:pPr/>
              <a:t>11/4/2025</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45B9E5B7-7E9B-4B96-9DF6-D49F9C7E1C7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CA154D7-C939-4F63-9957-A0B85F792F2C}"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B9E5B7-7E9B-4B96-9DF6-D49F9C7E1C7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CA154D7-C939-4F63-9957-A0B85F792F2C}" type="datetimeFigureOut">
              <a:rPr lang="en-US" smtClean="0"/>
              <a:pPr/>
              <a:t>11/4/2025</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45B9E5B7-7E9B-4B96-9DF6-D49F9C7E1C7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5CA154D7-C939-4F63-9957-A0B85F792F2C}" type="datetimeFigureOut">
              <a:rPr lang="en-US" smtClean="0"/>
              <a:pPr/>
              <a:t>11/4/2025</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45B9E5B7-7E9B-4B96-9DF6-D49F9C7E1C7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523999"/>
          </a:xfrm>
        </p:spPr>
        <p:txBody>
          <a:bodyPr/>
          <a:lstStyle/>
          <a:p>
            <a:r>
              <a:rPr lang="en-US" dirty="0" smtClean="0"/>
              <a:t>ANXIOLYTIC AND HYPNOTIC DRUGS</a:t>
            </a:r>
            <a:endParaRPr lang="en-US" dirty="0"/>
          </a:p>
        </p:txBody>
      </p:sp>
      <p:sp>
        <p:nvSpPr>
          <p:cNvPr id="3" name="Subtitle 2"/>
          <p:cNvSpPr>
            <a:spLocks noGrp="1"/>
          </p:cNvSpPr>
          <p:nvPr>
            <p:ph type="subTitle" idx="1"/>
          </p:nvPr>
        </p:nvSpPr>
        <p:spPr>
          <a:xfrm>
            <a:off x="685800" y="2362200"/>
            <a:ext cx="8077200" cy="2590800"/>
          </a:xfrm>
        </p:spPr>
        <p:txBody>
          <a:bodyPr/>
          <a:lstStyle/>
          <a:p>
            <a:r>
              <a:rPr lang="en-US" dirty="0" smtClean="0"/>
              <a:t>BY</a:t>
            </a:r>
          </a:p>
          <a:p>
            <a:r>
              <a:rPr lang="en-US" dirty="0" smtClean="0"/>
              <a:t>MURTALA  A. AKANJI PhD</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ANXIETY DISORDERS</a:t>
            </a:r>
            <a:endParaRPr lang="en-US" dirty="0"/>
          </a:p>
        </p:txBody>
      </p:sp>
      <p:sp>
        <p:nvSpPr>
          <p:cNvPr id="3" name="Content Placeholder 2"/>
          <p:cNvSpPr>
            <a:spLocks noGrp="1"/>
          </p:cNvSpPr>
          <p:nvPr>
            <p:ph idx="1"/>
          </p:nvPr>
        </p:nvSpPr>
        <p:spPr>
          <a:xfrm>
            <a:off x="457200" y="1775191"/>
            <a:ext cx="8382000" cy="4930409"/>
          </a:xfrm>
        </p:spPr>
        <p:txBody>
          <a:bodyPr>
            <a:normAutofit fontScale="92500" lnSpcReduction="20000"/>
          </a:bodyPr>
          <a:lstStyle/>
          <a:p>
            <a:pPr algn="just">
              <a:buFont typeface="Wingdings" pitchFamily="2" charset="2"/>
              <a:buChar char="v"/>
            </a:pPr>
            <a:r>
              <a:rPr lang="en-US" dirty="0"/>
              <a:t>A mental health disorder </a:t>
            </a:r>
            <a:r>
              <a:rPr lang="en-US" dirty="0" smtClean="0"/>
              <a:t>characterized </a:t>
            </a:r>
            <a:r>
              <a:rPr lang="en-US" dirty="0"/>
              <a:t>by feelings of worry, anxiety or fear that are strong enough to interfere with one's daily activities</a:t>
            </a:r>
            <a:r>
              <a:rPr lang="en-US" dirty="0" smtClean="0"/>
              <a:t>.</a:t>
            </a:r>
          </a:p>
          <a:p>
            <a:pPr algn="just">
              <a:buNone/>
            </a:pPr>
            <a:endParaRPr lang="en-US" dirty="0" smtClean="0"/>
          </a:p>
          <a:p>
            <a:pPr algn="just">
              <a:buFont typeface="Wingdings" pitchFamily="2" charset="2"/>
              <a:buChar char="v"/>
            </a:pPr>
            <a:r>
              <a:rPr lang="en-US" dirty="0"/>
              <a:t>The main symptom of </a:t>
            </a:r>
            <a:r>
              <a:rPr lang="en-US" b="1" dirty="0"/>
              <a:t>anxiety disorders</a:t>
            </a:r>
            <a:r>
              <a:rPr lang="en-US" dirty="0"/>
              <a:t> is excessive fear or worry. </a:t>
            </a:r>
            <a:r>
              <a:rPr lang="en-US" b="1" dirty="0"/>
              <a:t>Anxiety disorders</a:t>
            </a:r>
            <a:r>
              <a:rPr lang="en-US" dirty="0"/>
              <a:t> can also make it hard to breathe, sleep, stay still, and concentrate</a:t>
            </a:r>
            <a:r>
              <a:rPr lang="en-US" dirty="0" smtClean="0"/>
              <a:t>. </a:t>
            </a:r>
            <a:endParaRPr lang="en-US" dirty="0" smtClean="0"/>
          </a:p>
          <a:p>
            <a:pPr algn="just">
              <a:buNone/>
            </a:pPr>
            <a:endParaRPr lang="en-US" dirty="0"/>
          </a:p>
          <a:p>
            <a:pPr algn="just">
              <a:buFont typeface="Wingdings" pitchFamily="2" charset="2"/>
              <a:buChar char="v"/>
            </a:pPr>
            <a:r>
              <a:rPr lang="en-US" dirty="0"/>
              <a:t>S</a:t>
            </a:r>
            <a:r>
              <a:rPr lang="en-US" dirty="0" smtClean="0"/>
              <a:t>pecific</a:t>
            </a:r>
            <a:r>
              <a:rPr lang="en-US" dirty="0"/>
              <a:t> </a:t>
            </a:r>
            <a:r>
              <a:rPr lang="en-US" b="1" dirty="0"/>
              <a:t>symptoms</a:t>
            </a:r>
            <a:r>
              <a:rPr lang="en-US" dirty="0"/>
              <a:t> depend on the type of </a:t>
            </a:r>
            <a:r>
              <a:rPr lang="en-US" b="1" dirty="0"/>
              <a:t>anxiety disorder</a:t>
            </a:r>
            <a:r>
              <a:rPr lang="en-US" dirty="0"/>
              <a:t> you have. Common </a:t>
            </a:r>
            <a:r>
              <a:rPr lang="en-US" b="1" dirty="0"/>
              <a:t>symptoms</a:t>
            </a:r>
            <a:r>
              <a:rPr lang="en-US" dirty="0"/>
              <a:t> are: Panic, fear, and uneasiness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ANXIETY DISORDERS</a:t>
            </a:r>
            <a:endParaRPr lang="en-US" dirty="0"/>
          </a:p>
        </p:txBody>
      </p:sp>
      <p:sp>
        <p:nvSpPr>
          <p:cNvPr id="3" name="Content Placeholder 2"/>
          <p:cNvSpPr>
            <a:spLocks noGrp="1"/>
          </p:cNvSpPr>
          <p:nvPr>
            <p:ph idx="1"/>
          </p:nvPr>
        </p:nvSpPr>
        <p:spPr/>
        <p:txBody>
          <a:bodyPr>
            <a:normAutofit fontScale="92500" lnSpcReduction="20000"/>
          </a:bodyPr>
          <a:lstStyle/>
          <a:p>
            <a:pPr algn="just">
              <a:buFont typeface="Wingdings" pitchFamily="2" charset="2"/>
              <a:buChar char="v"/>
            </a:pPr>
            <a:r>
              <a:rPr lang="en-US" dirty="0"/>
              <a:t>Anxiety disorders are the most prevalent class of </a:t>
            </a:r>
            <a:r>
              <a:rPr lang="en-US" dirty="0" smtClean="0"/>
              <a:t>neuropsychiatric disorders; over 300m people are affected worldwide, representing 4% of the world population. </a:t>
            </a:r>
          </a:p>
          <a:p>
            <a:pPr algn="just">
              <a:buNone/>
            </a:pPr>
            <a:endParaRPr lang="en-US" dirty="0" smtClean="0"/>
          </a:p>
          <a:p>
            <a:pPr algn="just">
              <a:buFont typeface="Wingdings" pitchFamily="2" charset="2"/>
              <a:buChar char="v"/>
            </a:pPr>
            <a:r>
              <a:rPr lang="en-US" dirty="0" smtClean="0"/>
              <a:t>Anxiety oftentimes co-morbidly exists with depression. </a:t>
            </a:r>
          </a:p>
          <a:p>
            <a:pPr algn="just">
              <a:buNone/>
            </a:pPr>
            <a:endParaRPr lang="en-US" dirty="0" smtClean="0"/>
          </a:p>
          <a:p>
            <a:pPr algn="just">
              <a:buFont typeface="Wingdings" pitchFamily="2" charset="2"/>
              <a:buChar char="v"/>
            </a:pPr>
            <a:r>
              <a:rPr lang="en-US" dirty="0" smtClean="0"/>
              <a:t>The high </a:t>
            </a:r>
            <a:r>
              <a:rPr lang="en-US" dirty="0"/>
              <a:t>level of </a:t>
            </a:r>
            <a:r>
              <a:rPr lang="en-US" dirty="0" smtClean="0"/>
              <a:t>co-morbidity </a:t>
            </a:r>
            <a:r>
              <a:rPr lang="en-US" dirty="0"/>
              <a:t>may be because of overlapping </a:t>
            </a:r>
            <a:r>
              <a:rPr lang="en-US" dirty="0" smtClean="0"/>
              <a:t>symptoms </a:t>
            </a:r>
            <a:r>
              <a:rPr lang="en-US" dirty="0"/>
              <a:t>between depressive and anxiety disorders.</a:t>
            </a:r>
            <a:endParaRPr lang="en-US" b="1" dirty="0"/>
          </a:p>
          <a:p>
            <a:pPr>
              <a:buNone/>
            </a:pPr>
            <a:endParaRPr lang="en-US" b="1" dirty="0"/>
          </a:p>
          <a:p>
            <a:pPr>
              <a:buFont typeface="Wingdings" pitchFamily="2" charset="2"/>
              <a:buChar char="v"/>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NEUROCHEMICAL BASIS OF ANXIETY DISORDERS</a:t>
            </a:r>
            <a:endParaRPr lang="en-US" dirty="0"/>
          </a:p>
        </p:txBody>
      </p:sp>
      <p:sp>
        <p:nvSpPr>
          <p:cNvPr id="3" name="Content Placeholder 2"/>
          <p:cNvSpPr>
            <a:spLocks noGrp="1"/>
          </p:cNvSpPr>
          <p:nvPr>
            <p:ph idx="1"/>
          </p:nvPr>
        </p:nvSpPr>
        <p:spPr/>
        <p:txBody>
          <a:bodyPr/>
          <a:lstStyle/>
          <a:p>
            <a:pPr algn="just">
              <a:buFont typeface="Wingdings" pitchFamily="2" charset="2"/>
              <a:buChar char="v"/>
            </a:pPr>
            <a:r>
              <a:rPr lang="en-US" dirty="0" smtClean="0"/>
              <a:t>The </a:t>
            </a:r>
            <a:r>
              <a:rPr lang="en-US" b="1" dirty="0" err="1" smtClean="0"/>
              <a:t>neurochemical</a:t>
            </a:r>
            <a:r>
              <a:rPr lang="en-US" b="1" dirty="0" smtClean="0"/>
              <a:t> basis of anxiety disorders</a:t>
            </a:r>
            <a:r>
              <a:rPr lang="en-US" dirty="0" smtClean="0"/>
              <a:t> involves </a:t>
            </a:r>
            <a:r>
              <a:rPr lang="en-US" dirty="0" err="1" smtClean="0"/>
              <a:t>dysregulation</a:t>
            </a:r>
            <a:r>
              <a:rPr lang="en-US" dirty="0" smtClean="0"/>
              <a:t> in multiple brain chemicals/systems that regulate fear, stress, and emotion. </a:t>
            </a:r>
          </a:p>
          <a:p>
            <a:pPr algn="just">
              <a:buFont typeface="Wingdings" pitchFamily="2" charset="2"/>
              <a:buChar char="v"/>
            </a:pPr>
            <a:endParaRPr lang="en-US" dirty="0" smtClean="0"/>
          </a:p>
          <a:p>
            <a:pPr algn="just">
              <a:buFont typeface="Wingdings" pitchFamily="2" charset="2"/>
              <a:buChar char="v"/>
            </a:pPr>
            <a:r>
              <a:rPr lang="en-US" dirty="0" smtClean="0"/>
              <a:t>These include neurotransmitters, </a:t>
            </a:r>
            <a:r>
              <a:rPr lang="en-US" dirty="0" err="1" smtClean="0"/>
              <a:t>neuropeptides</a:t>
            </a:r>
            <a:r>
              <a:rPr lang="en-US" dirty="0" smtClean="0"/>
              <a:t>, hormones, and their corresponding receptors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NEUROCHEMICAL BASIS OF ANXIETY DISORDERS</a:t>
            </a:r>
            <a:endParaRPr lang="en-US" dirty="0"/>
          </a:p>
        </p:txBody>
      </p:sp>
      <p:sp>
        <p:nvSpPr>
          <p:cNvPr id="3" name="Content Placeholder 2"/>
          <p:cNvSpPr>
            <a:spLocks noGrp="1"/>
          </p:cNvSpPr>
          <p:nvPr>
            <p:ph idx="1"/>
          </p:nvPr>
        </p:nvSpPr>
        <p:spPr/>
        <p:txBody>
          <a:bodyPr>
            <a:normAutofit fontScale="85000" lnSpcReduction="10000"/>
          </a:bodyPr>
          <a:lstStyle/>
          <a:p>
            <a:pPr algn="just">
              <a:buFont typeface="Wingdings" pitchFamily="2" charset="2"/>
              <a:buChar char="v"/>
            </a:pPr>
            <a:r>
              <a:rPr lang="en-US" dirty="0" smtClean="0"/>
              <a:t>Reduced </a:t>
            </a:r>
            <a:r>
              <a:rPr lang="en-US" dirty="0" err="1" smtClean="0"/>
              <a:t>GABAergic</a:t>
            </a:r>
            <a:r>
              <a:rPr lang="en-US" dirty="0" smtClean="0"/>
              <a:t> transmission (GABA dysfunction) is associated with </a:t>
            </a:r>
            <a:r>
              <a:rPr lang="en-US" b="1" dirty="0" smtClean="0"/>
              <a:t>increased anxiety</a:t>
            </a:r>
            <a:r>
              <a:rPr lang="en-US" dirty="0" smtClean="0"/>
              <a:t>, </a:t>
            </a:r>
            <a:r>
              <a:rPr lang="en-US" dirty="0" err="1" smtClean="0"/>
              <a:t>hyperarousal</a:t>
            </a:r>
            <a:r>
              <a:rPr lang="en-US" dirty="0" smtClean="0"/>
              <a:t>, and impaired fear extinction.</a:t>
            </a:r>
          </a:p>
          <a:p>
            <a:pPr algn="just">
              <a:buNone/>
            </a:pPr>
            <a:endParaRPr lang="en-US" dirty="0" smtClean="0"/>
          </a:p>
          <a:p>
            <a:pPr algn="just">
              <a:buFont typeface="Wingdings" pitchFamily="2" charset="2"/>
              <a:buChar char="v"/>
            </a:pPr>
            <a:r>
              <a:rPr lang="en-US" dirty="0" smtClean="0"/>
              <a:t> Low </a:t>
            </a:r>
            <a:r>
              <a:rPr lang="en-US" b="1" dirty="0" smtClean="0"/>
              <a:t>serotonin levels</a:t>
            </a:r>
            <a:r>
              <a:rPr lang="en-US" dirty="0" smtClean="0"/>
              <a:t> or </a:t>
            </a:r>
            <a:r>
              <a:rPr lang="en-US" b="1" dirty="0" smtClean="0"/>
              <a:t>5-HT receptor dysfunction</a:t>
            </a:r>
            <a:r>
              <a:rPr lang="en-US" dirty="0" smtClean="0"/>
              <a:t> (especially 5-HT₁A) are implicated in anxiety disorders; hence the use of SSRIs </a:t>
            </a:r>
            <a:r>
              <a:rPr lang="en-US" dirty="0" smtClean="0"/>
              <a:t>&amp; </a:t>
            </a:r>
            <a:r>
              <a:rPr lang="en-US" dirty="0" err="1" smtClean="0"/>
              <a:t>Buspiron</a:t>
            </a:r>
            <a:r>
              <a:rPr lang="en-US" dirty="0" smtClean="0"/>
              <a:t> (partial serotonin agonist) in </a:t>
            </a:r>
            <a:r>
              <a:rPr lang="en-US" dirty="0" smtClean="0"/>
              <a:t>anxiety </a:t>
            </a:r>
            <a:r>
              <a:rPr lang="en-US" dirty="0" smtClean="0"/>
              <a:t>treatment. </a:t>
            </a:r>
            <a:endParaRPr lang="en-US" dirty="0" smtClean="0"/>
          </a:p>
          <a:p>
            <a:pPr algn="just">
              <a:buNone/>
            </a:pPr>
            <a:endParaRPr lang="en-US" dirty="0" smtClean="0"/>
          </a:p>
          <a:p>
            <a:pPr algn="just">
              <a:buFont typeface="Wingdings" pitchFamily="2" charset="2"/>
              <a:buChar char="v"/>
            </a:pPr>
            <a:r>
              <a:rPr lang="en-US" dirty="0" smtClean="0"/>
              <a:t>Hyperactive </a:t>
            </a:r>
            <a:r>
              <a:rPr lang="en-US" b="1" dirty="0" smtClean="0"/>
              <a:t>noradrenergic signaling </a:t>
            </a:r>
            <a:r>
              <a:rPr lang="en-US" dirty="0" smtClean="0"/>
              <a:t>is linked to panic attacks and PTSD</a:t>
            </a:r>
            <a:r>
              <a:rPr lang="en-US" dirty="0" smtClean="0"/>
              <a:t>. This explains the use of </a:t>
            </a:r>
            <a:r>
              <a:rPr lang="en-US" dirty="0" err="1" smtClean="0"/>
              <a:t>propranolol</a:t>
            </a:r>
            <a:r>
              <a:rPr lang="en-US" dirty="0" smtClean="0"/>
              <a:t>  (a </a:t>
            </a:r>
            <a:r>
              <a:rPr lang="en-US" dirty="0" err="1" smtClean="0"/>
              <a:t>parasympatholytic</a:t>
            </a:r>
            <a:r>
              <a:rPr lang="en-US" dirty="0" smtClean="0"/>
              <a:t> agent) as </a:t>
            </a:r>
            <a:r>
              <a:rPr lang="en-US" dirty="0" err="1" smtClean="0"/>
              <a:t>anxiolytic</a:t>
            </a:r>
            <a:endParaRPr lang="en-US" dirty="0" smtClean="0"/>
          </a:p>
          <a:p>
            <a:pPr>
              <a:buNone/>
            </a:pPr>
            <a:endParaRPr lang="en-US" dirty="0" smtClean="0"/>
          </a:p>
          <a:p>
            <a:pPr>
              <a:buNone/>
            </a:pPr>
            <a:endParaRPr lang="en-US" dirty="0"/>
          </a:p>
          <a:p>
            <a:pPr>
              <a:buFont typeface="Wingdings" pitchFamily="2" charset="2"/>
              <a:buChar char="v"/>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NEUROCHEMICAL BASIS OF ANXIETY DISORDERS</a:t>
            </a:r>
            <a:endParaRPr lang="en-US" dirty="0"/>
          </a:p>
        </p:txBody>
      </p:sp>
      <p:sp>
        <p:nvSpPr>
          <p:cNvPr id="3" name="Content Placeholder 2"/>
          <p:cNvSpPr>
            <a:spLocks noGrp="1"/>
          </p:cNvSpPr>
          <p:nvPr>
            <p:ph idx="1"/>
          </p:nvPr>
        </p:nvSpPr>
        <p:spPr>
          <a:xfrm>
            <a:off x="457200" y="1775191"/>
            <a:ext cx="8229600" cy="4854209"/>
          </a:xfrm>
        </p:spPr>
        <p:txBody>
          <a:bodyPr>
            <a:normAutofit fontScale="85000" lnSpcReduction="20000"/>
          </a:bodyPr>
          <a:lstStyle/>
          <a:p>
            <a:pPr algn="just">
              <a:buFont typeface="Wingdings" pitchFamily="2" charset="2"/>
              <a:buChar char="v"/>
            </a:pPr>
            <a:r>
              <a:rPr lang="en-US" b="1" dirty="0" err="1" smtClean="0"/>
              <a:t>Hyperdopaminergic</a:t>
            </a:r>
            <a:r>
              <a:rPr lang="en-US" b="1" dirty="0" smtClean="0"/>
              <a:t> function </a:t>
            </a:r>
            <a:r>
              <a:rPr lang="en-US" dirty="0" smtClean="0"/>
              <a:t>may play a role in </a:t>
            </a:r>
            <a:r>
              <a:rPr lang="en-US" b="1" dirty="0" smtClean="0"/>
              <a:t>social anxiety</a:t>
            </a:r>
            <a:r>
              <a:rPr lang="en-US" dirty="0" smtClean="0"/>
              <a:t> and co-morbid </a:t>
            </a:r>
            <a:r>
              <a:rPr lang="en-US" b="1" dirty="0" smtClean="0"/>
              <a:t>depression</a:t>
            </a:r>
            <a:r>
              <a:rPr lang="en-US" dirty="0" smtClean="0"/>
              <a:t>. Antipsychotic such as </a:t>
            </a:r>
            <a:r>
              <a:rPr lang="en-US" b="1" dirty="0" err="1" smtClean="0"/>
              <a:t>trifluoperazine</a:t>
            </a:r>
            <a:r>
              <a:rPr lang="en-US" b="1" dirty="0" smtClean="0"/>
              <a:t> and </a:t>
            </a:r>
            <a:r>
              <a:rPr lang="en-US" b="1" dirty="0" err="1" smtClean="0"/>
              <a:t>Halopoeridol</a:t>
            </a:r>
            <a:r>
              <a:rPr lang="en-US" b="1" dirty="0" smtClean="0"/>
              <a:t> </a:t>
            </a:r>
            <a:r>
              <a:rPr lang="en-US" dirty="0" smtClean="0"/>
              <a:t>(obsolete)  have been used to manage anxiety. </a:t>
            </a:r>
            <a:endParaRPr lang="en-US" dirty="0" smtClean="0"/>
          </a:p>
          <a:p>
            <a:pPr algn="just">
              <a:buFont typeface="Wingdings" pitchFamily="2" charset="2"/>
              <a:buChar char="v"/>
            </a:pPr>
            <a:endParaRPr lang="en-US" dirty="0" smtClean="0"/>
          </a:p>
          <a:p>
            <a:pPr algn="just">
              <a:buFont typeface="Wingdings" pitchFamily="2" charset="2"/>
              <a:buChar char="v"/>
            </a:pPr>
            <a:r>
              <a:rPr lang="en-US" b="1" dirty="0" smtClean="0"/>
              <a:t>Hyperactivity of CRF and HPA axis</a:t>
            </a:r>
            <a:r>
              <a:rPr lang="en-US" dirty="0" smtClean="0"/>
              <a:t> leads to excessive </a:t>
            </a:r>
            <a:r>
              <a:rPr lang="en-US" dirty="0" err="1" smtClean="0"/>
              <a:t>cortisol</a:t>
            </a:r>
            <a:r>
              <a:rPr lang="en-US" dirty="0" smtClean="0"/>
              <a:t> release → chronic stress and anxiety</a:t>
            </a:r>
            <a:r>
              <a:rPr lang="en-US" dirty="0" smtClean="0"/>
              <a:t>. </a:t>
            </a:r>
            <a:r>
              <a:rPr lang="en-US" dirty="0" smtClean="0"/>
              <a:t>Targeting the HPA axis, particularly CRF and its receptors, may offer new therapeutic strategies for anxiety disorders.</a:t>
            </a:r>
            <a:endParaRPr lang="en-US" dirty="0" smtClean="0"/>
          </a:p>
          <a:p>
            <a:pPr algn="just">
              <a:buFont typeface="Wingdings" pitchFamily="2" charset="2"/>
              <a:buChar char="v"/>
            </a:pPr>
            <a:endParaRPr lang="en-US" dirty="0" smtClean="0"/>
          </a:p>
          <a:p>
            <a:pPr algn="just">
              <a:buFont typeface="Wingdings" pitchFamily="2" charset="2"/>
              <a:buChar char="v"/>
            </a:pPr>
            <a:r>
              <a:rPr lang="en-US" dirty="0" smtClean="0"/>
              <a:t>Excess </a:t>
            </a:r>
            <a:r>
              <a:rPr lang="en-US" b="1" dirty="0" smtClean="0"/>
              <a:t>glutamate activity </a:t>
            </a:r>
            <a:r>
              <a:rPr lang="en-US" dirty="0" smtClean="0"/>
              <a:t>is </a:t>
            </a:r>
            <a:r>
              <a:rPr lang="en-US" dirty="0" err="1" smtClean="0"/>
              <a:t>neurotoxic</a:t>
            </a:r>
            <a:r>
              <a:rPr lang="en-US" dirty="0" smtClean="0"/>
              <a:t> and linked to </a:t>
            </a:r>
            <a:r>
              <a:rPr lang="en-US" b="1" dirty="0" smtClean="0"/>
              <a:t>heightened fear</a:t>
            </a:r>
            <a:r>
              <a:rPr lang="en-US" dirty="0" smtClean="0"/>
              <a:t> and </a:t>
            </a:r>
            <a:r>
              <a:rPr lang="en-US" b="1" dirty="0" smtClean="0"/>
              <a:t>panic responses</a:t>
            </a:r>
            <a:r>
              <a:rPr lang="en-US" dirty="0" smtClean="0"/>
              <a: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NEUROCHEMICAL BASIS OF ANXIETY DISORDERS</a:t>
            </a:r>
            <a:endParaRPr lang="en-US" dirty="0"/>
          </a:p>
        </p:txBody>
      </p:sp>
      <p:sp>
        <p:nvSpPr>
          <p:cNvPr id="3" name="Content Placeholder 2"/>
          <p:cNvSpPr>
            <a:spLocks noGrp="1"/>
          </p:cNvSpPr>
          <p:nvPr>
            <p:ph idx="1"/>
          </p:nvPr>
        </p:nvSpPr>
        <p:spPr/>
        <p:txBody>
          <a:bodyPr>
            <a:normAutofit fontScale="92500" lnSpcReduction="10000"/>
          </a:bodyPr>
          <a:lstStyle/>
          <a:p>
            <a:pPr algn="just">
              <a:buFont typeface="Wingdings" pitchFamily="2" charset="2"/>
              <a:buChar char="v"/>
            </a:pPr>
            <a:r>
              <a:rPr lang="en-US" dirty="0" smtClean="0"/>
              <a:t>Novel therapies are targeting </a:t>
            </a:r>
            <a:r>
              <a:rPr lang="en-US" b="1" dirty="0" smtClean="0"/>
              <a:t>NMDA receptors</a:t>
            </a:r>
            <a:r>
              <a:rPr lang="en-US" dirty="0" smtClean="0"/>
              <a:t> (e.g., </a:t>
            </a:r>
            <a:r>
              <a:rPr lang="en-US" dirty="0" err="1" smtClean="0"/>
              <a:t>ketamine</a:t>
            </a:r>
            <a:r>
              <a:rPr lang="en-US" dirty="0" smtClean="0"/>
              <a:t>) for rapid anxiety and depression relief.</a:t>
            </a:r>
          </a:p>
          <a:p>
            <a:pPr algn="just">
              <a:buFont typeface="Wingdings" pitchFamily="2" charset="2"/>
              <a:buChar char="v"/>
            </a:pPr>
            <a:endParaRPr lang="en-US" b="1" dirty="0" smtClean="0"/>
          </a:p>
          <a:p>
            <a:pPr algn="just">
              <a:buFont typeface="Wingdings" pitchFamily="2" charset="2"/>
              <a:buChar char="v"/>
            </a:pPr>
            <a:r>
              <a:rPr lang="en-US" b="1" dirty="0" err="1" smtClean="0"/>
              <a:t>Neuropeptide</a:t>
            </a:r>
            <a:r>
              <a:rPr lang="en-US" b="1" dirty="0" smtClean="0"/>
              <a:t> Y (NPY)</a:t>
            </a:r>
            <a:r>
              <a:rPr lang="en-US" dirty="0" smtClean="0"/>
              <a:t>: Has </a:t>
            </a:r>
            <a:r>
              <a:rPr lang="en-US" b="1" dirty="0" err="1" smtClean="0"/>
              <a:t>anxiolytic</a:t>
            </a:r>
            <a:r>
              <a:rPr lang="en-US" b="1" dirty="0" smtClean="0"/>
              <a:t> effects</a:t>
            </a:r>
            <a:r>
              <a:rPr lang="en-US" dirty="0" smtClean="0"/>
              <a:t>; lower levels are associated with PTSD.</a:t>
            </a:r>
          </a:p>
          <a:p>
            <a:pPr algn="just">
              <a:buFont typeface="Wingdings" pitchFamily="2" charset="2"/>
              <a:buChar char="v"/>
            </a:pPr>
            <a:endParaRPr lang="en-US" b="1" dirty="0" smtClean="0"/>
          </a:p>
          <a:p>
            <a:pPr algn="just">
              <a:buFont typeface="Wingdings" pitchFamily="2" charset="2"/>
              <a:buChar char="v"/>
            </a:pPr>
            <a:r>
              <a:rPr lang="en-US" b="1" dirty="0" smtClean="0"/>
              <a:t>Substance P</a:t>
            </a:r>
            <a:r>
              <a:rPr lang="en-US" dirty="0" smtClean="0"/>
              <a:t>: Involved in </a:t>
            </a:r>
            <a:r>
              <a:rPr lang="en-US" b="1" dirty="0" smtClean="0"/>
              <a:t>pain and stress</a:t>
            </a:r>
            <a:r>
              <a:rPr lang="en-US" dirty="0" smtClean="0"/>
              <a:t> responses; increased levels may heighten anxiety.</a:t>
            </a:r>
          </a:p>
          <a:p>
            <a:pPr>
              <a:buFont typeface="Wingdings" pitchFamily="2" charset="2"/>
              <a:buChar char="v"/>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NEUROCHEMICAL BASIS OF ANXIETY DISORDERS</a:t>
            </a:r>
            <a:endParaRPr lang="en-US" dirty="0"/>
          </a:p>
        </p:txBody>
      </p:sp>
      <p:sp>
        <p:nvSpPr>
          <p:cNvPr id="3" name="Content Placeholder 2"/>
          <p:cNvSpPr>
            <a:spLocks noGrp="1"/>
          </p:cNvSpPr>
          <p:nvPr>
            <p:ph idx="1"/>
          </p:nvPr>
        </p:nvSpPr>
        <p:spPr/>
        <p:txBody>
          <a:bodyPr>
            <a:normAutofit/>
          </a:bodyPr>
          <a:lstStyle/>
          <a:p>
            <a:pPr algn="just"/>
            <a:r>
              <a:rPr lang="en-US" b="1" dirty="0" err="1" smtClean="0"/>
              <a:t>Oxytocin</a:t>
            </a:r>
            <a:r>
              <a:rPr lang="en-US" dirty="0" smtClean="0"/>
              <a:t>: Plays a role in </a:t>
            </a:r>
            <a:r>
              <a:rPr lang="en-US" b="1" dirty="0" smtClean="0"/>
              <a:t>social bonding</a:t>
            </a:r>
            <a:r>
              <a:rPr lang="en-US" dirty="0" smtClean="0"/>
              <a:t> and may reduce social anxiety.</a:t>
            </a:r>
          </a:p>
          <a:p>
            <a:pPr algn="just">
              <a:buFont typeface="Wingdings" pitchFamily="2" charset="2"/>
              <a:buChar char="v"/>
            </a:pPr>
            <a:endParaRPr lang="en-US" dirty="0" smtClean="0"/>
          </a:p>
          <a:p>
            <a:pPr algn="just">
              <a:buFont typeface="Wingdings" pitchFamily="2" charset="2"/>
              <a:buChar char="v"/>
            </a:pPr>
            <a:r>
              <a:rPr lang="en-US" dirty="0"/>
              <a:t>G</a:t>
            </a:r>
            <a:r>
              <a:rPr lang="en-US" dirty="0" smtClean="0"/>
              <a:t>enetic influence-related pathway has also been </a:t>
            </a:r>
            <a:r>
              <a:rPr lang="en-US" dirty="0"/>
              <a:t>suggested and </a:t>
            </a:r>
            <a:r>
              <a:rPr lang="en-US" dirty="0" smtClean="0"/>
              <a:t>reported. </a:t>
            </a:r>
            <a:endParaRPr lang="en-US" dirty="0"/>
          </a:p>
          <a:p>
            <a:pPr>
              <a:buFont typeface="Wingdings" pitchFamily="2" charset="2"/>
              <a:buChar char="v"/>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ANXIETY DISORDERS</a:t>
            </a:r>
            <a:endParaRPr lang="en-US" dirty="0"/>
          </a:p>
        </p:txBody>
      </p:sp>
      <p:sp>
        <p:nvSpPr>
          <p:cNvPr id="3" name="Content Placeholder 2"/>
          <p:cNvSpPr>
            <a:spLocks noGrp="1"/>
          </p:cNvSpPr>
          <p:nvPr>
            <p:ph idx="1"/>
          </p:nvPr>
        </p:nvSpPr>
        <p:spPr/>
        <p:txBody>
          <a:bodyPr>
            <a:normAutofit/>
          </a:bodyPr>
          <a:lstStyle/>
          <a:p>
            <a:pPr lvl="0" algn="just">
              <a:buFont typeface="Wingdings" pitchFamily="2" charset="2"/>
              <a:buChar char="v"/>
            </a:pPr>
            <a:r>
              <a:rPr lang="en-US" b="1" dirty="0"/>
              <a:t>Agoraphobia</a:t>
            </a:r>
            <a:r>
              <a:rPr lang="en-US" dirty="0"/>
              <a:t> is a type of anxiety disorder in which you fear and often avoid places or situations that might cause you to panic and make you feel trapped, helpless or embarrassed.</a:t>
            </a:r>
          </a:p>
          <a:p>
            <a:pPr lvl="0" algn="just">
              <a:buFont typeface="Wingdings" pitchFamily="2" charset="2"/>
              <a:buChar char="v"/>
            </a:pPr>
            <a:r>
              <a:rPr lang="en-US" b="1" dirty="0"/>
              <a:t>Anxiety disorder due to a medical condition</a:t>
            </a:r>
            <a:r>
              <a:rPr lang="en-US" dirty="0"/>
              <a:t> includes symptoms of intense anxiety or panic that are directly caused by a physical health problem.</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ANXIETY DISORDERS</a:t>
            </a:r>
            <a:endParaRPr lang="en-US" dirty="0"/>
          </a:p>
        </p:txBody>
      </p:sp>
      <p:sp>
        <p:nvSpPr>
          <p:cNvPr id="3" name="Content Placeholder 2"/>
          <p:cNvSpPr>
            <a:spLocks noGrp="1"/>
          </p:cNvSpPr>
          <p:nvPr>
            <p:ph idx="1"/>
          </p:nvPr>
        </p:nvSpPr>
        <p:spPr/>
        <p:txBody>
          <a:bodyPr/>
          <a:lstStyle/>
          <a:p>
            <a:pPr lvl="0" algn="just">
              <a:buFont typeface="Wingdings" pitchFamily="2" charset="2"/>
              <a:buChar char="v"/>
            </a:pPr>
            <a:r>
              <a:rPr lang="en-US" b="1" dirty="0"/>
              <a:t>Generalized anxiety disorder</a:t>
            </a:r>
            <a:r>
              <a:rPr lang="en-US" dirty="0"/>
              <a:t> includes persistent and excessive anxiety and worry about activities or events — even ordinary, routine issues. </a:t>
            </a:r>
            <a:endParaRPr lang="en-US" dirty="0" smtClean="0"/>
          </a:p>
          <a:p>
            <a:pPr lvl="0" algn="just">
              <a:buFont typeface="Wingdings" pitchFamily="2" charset="2"/>
              <a:buChar char="v"/>
            </a:pPr>
            <a:r>
              <a:rPr lang="en-US" dirty="0" smtClean="0"/>
              <a:t>The </a:t>
            </a:r>
            <a:r>
              <a:rPr lang="en-US" b="1" dirty="0"/>
              <a:t>worry is out of proportion to the actual circumstance</a:t>
            </a:r>
            <a:r>
              <a:rPr lang="en-US" dirty="0"/>
              <a:t>, is difficult to control and affects how you feel physically. It often occurs along with other anxiety disorders or depression.</a:t>
            </a:r>
          </a:p>
          <a:p>
            <a:pPr>
              <a:buFont typeface="Wingdings" pitchFamily="2" charset="2"/>
              <a:buChar char="v"/>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ANXIETY DISORDERS</a:t>
            </a:r>
            <a:endParaRPr lang="en-US" dirty="0"/>
          </a:p>
        </p:txBody>
      </p:sp>
      <p:sp>
        <p:nvSpPr>
          <p:cNvPr id="3" name="Content Placeholder 2"/>
          <p:cNvSpPr>
            <a:spLocks noGrp="1"/>
          </p:cNvSpPr>
          <p:nvPr>
            <p:ph idx="1"/>
          </p:nvPr>
        </p:nvSpPr>
        <p:spPr/>
        <p:txBody>
          <a:bodyPr>
            <a:normAutofit fontScale="92500" lnSpcReduction="20000"/>
          </a:bodyPr>
          <a:lstStyle/>
          <a:p>
            <a:pPr lvl="0" algn="just">
              <a:buFont typeface="Wingdings" pitchFamily="2" charset="2"/>
              <a:buChar char="v"/>
            </a:pPr>
            <a:r>
              <a:rPr lang="en-US" b="1" dirty="0"/>
              <a:t>Panic disorder</a:t>
            </a:r>
            <a:r>
              <a:rPr lang="en-US" dirty="0"/>
              <a:t> involves repeated episodes of sudden feelings of intense anxiety and fear or terror that reach a peak within minutes (panic attacks). </a:t>
            </a:r>
            <a:endParaRPr lang="en-US" dirty="0" smtClean="0"/>
          </a:p>
          <a:p>
            <a:pPr lvl="0" algn="just">
              <a:buFont typeface="Wingdings" pitchFamily="2" charset="2"/>
              <a:buChar char="v"/>
            </a:pPr>
            <a:r>
              <a:rPr lang="en-US" dirty="0" smtClean="0"/>
              <a:t>You </a:t>
            </a:r>
            <a:r>
              <a:rPr lang="en-US" dirty="0"/>
              <a:t>may have feelings of impending doom, shortness of breath, chest pain, or a rapid, fluttering or pounding heart (heart palpitations). </a:t>
            </a:r>
            <a:endParaRPr lang="en-US" dirty="0" smtClean="0"/>
          </a:p>
          <a:p>
            <a:pPr lvl="0" algn="just">
              <a:buFont typeface="Wingdings" pitchFamily="2" charset="2"/>
              <a:buChar char="v"/>
            </a:pPr>
            <a:endParaRPr lang="en-US" dirty="0" smtClean="0"/>
          </a:p>
          <a:p>
            <a:pPr lvl="0" algn="just">
              <a:buFont typeface="Wingdings" pitchFamily="2" charset="2"/>
              <a:buChar char="v"/>
            </a:pPr>
            <a:r>
              <a:rPr lang="en-US" dirty="0" smtClean="0"/>
              <a:t>These </a:t>
            </a:r>
            <a:r>
              <a:rPr lang="en-US" dirty="0"/>
              <a:t>panic attacks may lead to worrying about them happening again or avoiding situations in which they've occurred.</a:t>
            </a:r>
          </a:p>
          <a:p>
            <a:pPr>
              <a:buFont typeface="Wingdings" pitchFamily="2" charset="2"/>
              <a:buChar char="v"/>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ANXIETY DISORDERS</a:t>
            </a:r>
            <a:endParaRPr lang="en-US" dirty="0"/>
          </a:p>
        </p:txBody>
      </p:sp>
      <p:sp>
        <p:nvSpPr>
          <p:cNvPr id="3" name="Content Placeholder 2"/>
          <p:cNvSpPr>
            <a:spLocks noGrp="1"/>
          </p:cNvSpPr>
          <p:nvPr>
            <p:ph idx="1"/>
          </p:nvPr>
        </p:nvSpPr>
        <p:spPr/>
        <p:txBody>
          <a:bodyPr/>
          <a:lstStyle/>
          <a:p>
            <a:pPr lvl="0" algn="just">
              <a:buFont typeface="Wingdings" pitchFamily="2" charset="2"/>
              <a:buChar char="v"/>
            </a:pPr>
            <a:r>
              <a:rPr lang="en-US" b="1" dirty="0"/>
              <a:t>Selective </a:t>
            </a:r>
            <a:r>
              <a:rPr lang="en-US" b="1" dirty="0" err="1"/>
              <a:t>mutism</a:t>
            </a:r>
            <a:r>
              <a:rPr lang="en-US" dirty="0"/>
              <a:t> is a consistent failure of children to speak in certain situations, such as school, even when they can speak in other situations, such as at home with close family members. </a:t>
            </a:r>
            <a:endParaRPr lang="en-US" dirty="0" smtClean="0"/>
          </a:p>
          <a:p>
            <a:pPr lvl="0" algn="just">
              <a:buFont typeface="Wingdings" pitchFamily="2" charset="2"/>
              <a:buChar char="v"/>
            </a:pPr>
            <a:endParaRPr lang="en-US" dirty="0" smtClean="0"/>
          </a:p>
          <a:p>
            <a:pPr lvl="0" algn="just">
              <a:buFont typeface="Wingdings" pitchFamily="2" charset="2"/>
              <a:buChar char="v"/>
            </a:pPr>
            <a:r>
              <a:rPr lang="en-US" dirty="0" smtClean="0"/>
              <a:t>This </a:t>
            </a:r>
            <a:r>
              <a:rPr lang="en-US" dirty="0"/>
              <a:t>can interfere with school, work and social functioning.</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ANXIETY DISORDERS</a:t>
            </a:r>
            <a:endParaRPr lang="en-US" dirty="0"/>
          </a:p>
        </p:txBody>
      </p:sp>
      <p:sp>
        <p:nvSpPr>
          <p:cNvPr id="3" name="Content Placeholder 2"/>
          <p:cNvSpPr>
            <a:spLocks noGrp="1"/>
          </p:cNvSpPr>
          <p:nvPr>
            <p:ph idx="1"/>
          </p:nvPr>
        </p:nvSpPr>
        <p:spPr/>
        <p:txBody>
          <a:bodyPr>
            <a:normAutofit fontScale="92500" lnSpcReduction="20000"/>
          </a:bodyPr>
          <a:lstStyle/>
          <a:p>
            <a:pPr lvl="0" algn="just">
              <a:buFont typeface="Wingdings" pitchFamily="2" charset="2"/>
              <a:buChar char="v"/>
            </a:pPr>
            <a:r>
              <a:rPr lang="en-US" b="1" dirty="0"/>
              <a:t>Separation anxiety disorder</a:t>
            </a:r>
            <a:r>
              <a:rPr lang="en-US" dirty="0"/>
              <a:t> is a childhood disorder characterized by anxiety that's excessive for the child's developmental level and related to separation from parents or others who have parental roles</a:t>
            </a:r>
            <a:r>
              <a:rPr lang="en-US" dirty="0" smtClean="0"/>
              <a:t>.</a:t>
            </a:r>
          </a:p>
          <a:p>
            <a:pPr lvl="0" algn="just">
              <a:buFont typeface="Wingdings" pitchFamily="2" charset="2"/>
              <a:buChar char="v"/>
            </a:pPr>
            <a:endParaRPr lang="en-US" dirty="0"/>
          </a:p>
          <a:p>
            <a:pPr lvl="0" algn="just">
              <a:buFont typeface="Wingdings" pitchFamily="2" charset="2"/>
              <a:buChar char="v"/>
            </a:pPr>
            <a:r>
              <a:rPr lang="en-US" b="1" dirty="0"/>
              <a:t>Social anxiety disorder (social phobia)</a:t>
            </a:r>
            <a:r>
              <a:rPr lang="en-US" dirty="0"/>
              <a:t> involves high levels of anxiety, fear and avoidance of social situations due to feelings of embarrassment, self-consciousness and concern about being judged or viewed negatively by others.</a:t>
            </a:r>
          </a:p>
          <a:p>
            <a:pPr algn="just">
              <a:buFont typeface="Wingdings" pitchFamily="2" charset="2"/>
              <a:buChar char="v"/>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ANXIETY DISORDERS</a:t>
            </a:r>
            <a:endParaRPr lang="en-US" dirty="0"/>
          </a:p>
        </p:txBody>
      </p:sp>
      <p:sp>
        <p:nvSpPr>
          <p:cNvPr id="3" name="Content Placeholder 2"/>
          <p:cNvSpPr>
            <a:spLocks noGrp="1"/>
          </p:cNvSpPr>
          <p:nvPr>
            <p:ph idx="1"/>
          </p:nvPr>
        </p:nvSpPr>
        <p:spPr/>
        <p:txBody>
          <a:bodyPr>
            <a:normAutofit fontScale="92500" lnSpcReduction="10000"/>
          </a:bodyPr>
          <a:lstStyle/>
          <a:p>
            <a:pPr lvl="0" algn="just">
              <a:buFont typeface="Wingdings" pitchFamily="2" charset="2"/>
              <a:buChar char="v"/>
            </a:pPr>
            <a:r>
              <a:rPr lang="en-US" b="1" dirty="0"/>
              <a:t>Specific phobias</a:t>
            </a:r>
            <a:r>
              <a:rPr lang="en-US" dirty="0"/>
              <a:t> are characterized by major anxiety when you're exposed to a specific object or situation and a desire to avoid it. Phobias provoke panic attacks in some </a:t>
            </a:r>
            <a:r>
              <a:rPr lang="en-US" dirty="0" smtClean="0"/>
              <a:t>people</a:t>
            </a:r>
            <a:r>
              <a:rPr lang="en-US" dirty="0" smtClean="0"/>
              <a:t>.</a:t>
            </a:r>
          </a:p>
          <a:p>
            <a:pPr lvl="0" algn="just">
              <a:buFont typeface="Wingdings" pitchFamily="2" charset="2"/>
              <a:buChar char="v"/>
            </a:pPr>
            <a:endParaRPr lang="en-US" dirty="0" smtClean="0"/>
          </a:p>
          <a:p>
            <a:pPr lvl="0" algn="just">
              <a:buFont typeface="Wingdings" pitchFamily="2" charset="2"/>
              <a:buChar char="v"/>
            </a:pPr>
            <a:r>
              <a:rPr lang="en-US" b="1" dirty="0" smtClean="0"/>
              <a:t>Substance-induced </a:t>
            </a:r>
            <a:r>
              <a:rPr lang="en-US" b="1" dirty="0"/>
              <a:t>anxiety disorder</a:t>
            </a:r>
            <a:r>
              <a:rPr lang="en-US" dirty="0"/>
              <a:t> is characterized by symptoms of intense anxiety or panic that are a direct result of misusing drugs, taking medications, being exposed to a toxic substance or withdrawal from drugs.</a:t>
            </a:r>
          </a:p>
          <a:p>
            <a:pPr>
              <a:buFont typeface="Wingdings" pitchFamily="2" charset="2"/>
              <a:buChar char="v"/>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TYPES OF ANXIETY DISORDERS</a:t>
            </a:r>
            <a:endParaRPr lang="en-US" dirty="0"/>
          </a:p>
        </p:txBody>
      </p:sp>
      <p:sp>
        <p:nvSpPr>
          <p:cNvPr id="3" name="Content Placeholder 2"/>
          <p:cNvSpPr>
            <a:spLocks noGrp="1"/>
          </p:cNvSpPr>
          <p:nvPr>
            <p:ph idx="1"/>
          </p:nvPr>
        </p:nvSpPr>
        <p:spPr/>
        <p:txBody>
          <a:bodyPr/>
          <a:lstStyle/>
          <a:p>
            <a:pPr algn="just">
              <a:buFont typeface="Wingdings" pitchFamily="2" charset="2"/>
              <a:buChar char="v"/>
            </a:pPr>
            <a:r>
              <a:rPr lang="en-US" b="1" dirty="0" smtClean="0"/>
              <a:t>Obsessive compulsive disorders: </a:t>
            </a:r>
            <a:r>
              <a:rPr lang="en-US" dirty="0"/>
              <a:t>Excessive thoughts (obsessions) that lead to repetitive </a:t>
            </a:r>
            <a:r>
              <a:rPr lang="en-US" dirty="0" smtClean="0"/>
              <a:t>behaviors </a:t>
            </a:r>
            <a:r>
              <a:rPr lang="en-US" dirty="0"/>
              <a:t>(compulsions</a:t>
            </a:r>
            <a:r>
              <a:rPr lang="en-US" dirty="0" smtClean="0"/>
              <a:t>).</a:t>
            </a:r>
          </a:p>
          <a:p>
            <a:pPr algn="just">
              <a:buNone/>
            </a:pPr>
            <a:endParaRPr lang="en-US" dirty="0"/>
          </a:p>
          <a:p>
            <a:pPr algn="just">
              <a:buFont typeface="Wingdings" pitchFamily="2" charset="2"/>
              <a:buChar char="v"/>
            </a:pPr>
            <a:r>
              <a:rPr lang="en-US" dirty="0"/>
              <a:t>Obsessive-compulsive disorder is </a:t>
            </a:r>
            <a:r>
              <a:rPr lang="en-US" dirty="0" smtClean="0"/>
              <a:t>characterized </a:t>
            </a:r>
            <a:r>
              <a:rPr lang="en-US" dirty="0"/>
              <a:t>by unreasonable thoughts and fears (obsessions) that lead to compulsive </a:t>
            </a:r>
            <a:r>
              <a:rPr lang="en-US" dirty="0" smtClean="0"/>
              <a:t>behaviors</a:t>
            </a:r>
            <a:r>
              <a:rPr lang="en-US" dirty="0"/>
              <a:t>.</a:t>
            </a:r>
          </a:p>
          <a:p>
            <a:pPr>
              <a:buFont typeface="Wingdings" pitchFamily="2" charset="2"/>
              <a:buChar char="v"/>
            </a:pPr>
            <a:endParaRPr 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SYMPTOMS OF ANXIETY DISORDERS</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q"/>
            </a:pPr>
            <a:r>
              <a:rPr lang="en-US" dirty="0"/>
              <a:t>Common anxiety signs and symptoms include:</a:t>
            </a:r>
          </a:p>
          <a:p>
            <a:pPr lvl="0">
              <a:buFont typeface="Wingdings" pitchFamily="2" charset="2"/>
              <a:buChar char="v"/>
            </a:pPr>
            <a:r>
              <a:rPr lang="en-US" dirty="0"/>
              <a:t>Feeling nervous, restless or tense</a:t>
            </a:r>
          </a:p>
          <a:p>
            <a:pPr lvl="0">
              <a:buFont typeface="Wingdings" pitchFamily="2" charset="2"/>
              <a:buChar char="v"/>
            </a:pPr>
            <a:r>
              <a:rPr lang="en-US" dirty="0"/>
              <a:t>Having a sense of impending danger, panic or doom</a:t>
            </a:r>
          </a:p>
          <a:p>
            <a:pPr lvl="0">
              <a:buFont typeface="Wingdings" pitchFamily="2" charset="2"/>
              <a:buChar char="v"/>
            </a:pPr>
            <a:r>
              <a:rPr lang="en-US" dirty="0"/>
              <a:t>Having an increased heart rate</a:t>
            </a:r>
          </a:p>
          <a:p>
            <a:pPr lvl="0">
              <a:buFont typeface="Wingdings" pitchFamily="2" charset="2"/>
              <a:buChar char="v"/>
            </a:pPr>
            <a:r>
              <a:rPr lang="en-US" dirty="0"/>
              <a:t>Breathing rapidly (hyperventilation</a:t>
            </a:r>
            <a:r>
              <a:rPr lang="en-US" dirty="0" smtClean="0"/>
              <a:t>)</a:t>
            </a:r>
          </a:p>
          <a:p>
            <a:pPr lvl="0">
              <a:buFont typeface="Wingdings" pitchFamily="2" charset="2"/>
              <a:buChar char="v"/>
            </a:pPr>
            <a:r>
              <a:rPr lang="en-US" dirty="0"/>
              <a:t>Sweating</a:t>
            </a:r>
          </a:p>
          <a:p>
            <a:pPr lvl="0">
              <a:buFont typeface="Wingdings" pitchFamily="2" charset="2"/>
              <a:buChar char="v"/>
            </a:pPr>
            <a:r>
              <a:rPr lang="en-US" dirty="0"/>
              <a:t>Trembling</a:t>
            </a:r>
          </a:p>
          <a:p>
            <a:pPr lvl="0">
              <a:buFont typeface="Wingdings" pitchFamily="2" charset="2"/>
              <a:buChar char="v"/>
            </a:pPr>
            <a:r>
              <a:rPr lang="en-US" dirty="0"/>
              <a:t>Feeling weak or tired</a:t>
            </a:r>
          </a:p>
          <a:p>
            <a:pPr lvl="0">
              <a:buFont typeface="Wingdings" pitchFamily="2" charset="2"/>
              <a:buChar char="v"/>
            </a:pPr>
            <a:endParaRPr lang="en-US" dirty="0"/>
          </a:p>
          <a:p>
            <a:pPr marL="514350" indent="-514350">
              <a:buFont typeface="Wingdings" pitchFamily="2" charset="2"/>
              <a:buChar char="v"/>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SYMPTOMS OF ANXIETY DISORDERS</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Trouble concentrating or thinking about anything other than the present </a:t>
            </a:r>
            <a:r>
              <a:rPr lang="en-US" dirty="0" smtClean="0"/>
              <a:t>worry</a:t>
            </a:r>
          </a:p>
          <a:p>
            <a:pPr lvl="0">
              <a:buFont typeface="Wingdings" pitchFamily="2" charset="2"/>
              <a:buChar char="v"/>
            </a:pPr>
            <a:r>
              <a:rPr lang="en-US" dirty="0" smtClean="0"/>
              <a:t>Having troubled sleeping</a:t>
            </a:r>
          </a:p>
          <a:p>
            <a:pPr lvl="0">
              <a:buFont typeface="Wingdings" pitchFamily="2" charset="2"/>
              <a:buChar char="v"/>
            </a:pPr>
            <a:r>
              <a:rPr lang="en-US" dirty="0" smtClean="0"/>
              <a:t>Experiencing </a:t>
            </a:r>
            <a:r>
              <a:rPr lang="en-US" dirty="0"/>
              <a:t>gastrointestinal (GI) </a:t>
            </a:r>
            <a:r>
              <a:rPr lang="en-US" dirty="0" smtClean="0"/>
              <a:t>problems</a:t>
            </a:r>
          </a:p>
          <a:p>
            <a:pPr lvl="0">
              <a:buFont typeface="Wingdings" pitchFamily="2" charset="2"/>
              <a:buChar char="v"/>
            </a:pPr>
            <a:r>
              <a:rPr lang="en-US" dirty="0" smtClean="0"/>
              <a:t>Having </a:t>
            </a:r>
            <a:r>
              <a:rPr lang="en-US" dirty="0"/>
              <a:t>difficulty controlling </a:t>
            </a:r>
            <a:r>
              <a:rPr lang="en-US" dirty="0" smtClean="0"/>
              <a:t>worry</a:t>
            </a:r>
          </a:p>
          <a:p>
            <a:pPr lvl="0">
              <a:buFont typeface="Wingdings" pitchFamily="2" charset="2"/>
              <a:buChar char="v"/>
            </a:pPr>
            <a:r>
              <a:rPr lang="en-US" dirty="0" smtClean="0"/>
              <a:t>Having </a:t>
            </a:r>
            <a:r>
              <a:rPr lang="en-US" dirty="0"/>
              <a:t>the urge to avoid things that trigger anxiety</a:t>
            </a:r>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FACTORS</a:t>
            </a:r>
            <a:endParaRPr lang="en-US" dirty="0"/>
          </a:p>
        </p:txBody>
      </p:sp>
      <p:sp>
        <p:nvSpPr>
          <p:cNvPr id="3" name="Content Placeholder 2"/>
          <p:cNvSpPr>
            <a:spLocks noGrp="1"/>
          </p:cNvSpPr>
          <p:nvPr>
            <p:ph idx="1"/>
          </p:nvPr>
        </p:nvSpPr>
        <p:spPr/>
        <p:txBody>
          <a:bodyPr>
            <a:normAutofit fontScale="85000" lnSpcReduction="10000"/>
          </a:bodyPr>
          <a:lstStyle/>
          <a:p>
            <a:pPr lvl="0" algn="just">
              <a:buFont typeface="Wingdings" pitchFamily="2" charset="2"/>
              <a:buChar char="v"/>
            </a:pPr>
            <a:r>
              <a:rPr lang="en-US" b="1" dirty="0" smtClean="0"/>
              <a:t>Trauma:</a:t>
            </a:r>
            <a:r>
              <a:rPr lang="en-US" dirty="0"/>
              <a:t> Children who endured abuse or trauma or witnessed traumatic events are at higher risk of developing an anxiety disorder at some point in life. Adults who experience a traumatic event also can develop anxiety </a:t>
            </a:r>
            <a:r>
              <a:rPr lang="en-US" dirty="0" smtClean="0"/>
              <a:t>disorders.</a:t>
            </a:r>
            <a:endParaRPr lang="en-US" dirty="0"/>
          </a:p>
          <a:p>
            <a:pPr lvl="0" algn="just">
              <a:buFont typeface="Wingdings" pitchFamily="2" charset="2"/>
              <a:buChar char="v"/>
            </a:pPr>
            <a:r>
              <a:rPr lang="en-US" b="1" dirty="0"/>
              <a:t>Stress due to an </a:t>
            </a:r>
            <a:r>
              <a:rPr lang="en-US" b="1" dirty="0" smtClean="0"/>
              <a:t>illness:</a:t>
            </a:r>
            <a:r>
              <a:rPr lang="en-US" dirty="0"/>
              <a:t> Having a health condition or serious illness can cause significant worry about issues such as your treatment and your future</a:t>
            </a:r>
            <a:r>
              <a:rPr lang="en-US" dirty="0" smtClean="0"/>
              <a:t>.</a:t>
            </a:r>
            <a:endParaRPr lang="en-US" dirty="0"/>
          </a:p>
          <a:p>
            <a:pPr lvl="0" algn="just">
              <a:buFont typeface="Wingdings" pitchFamily="2" charset="2"/>
              <a:buChar char="v"/>
            </a:pPr>
            <a:r>
              <a:rPr lang="en-US" b="1" dirty="0"/>
              <a:t>Stress </a:t>
            </a:r>
            <a:r>
              <a:rPr lang="en-US" b="1" dirty="0" smtClean="0"/>
              <a:t>buildup:</a:t>
            </a:r>
            <a:r>
              <a:rPr lang="en-US" dirty="0"/>
              <a:t> A big event or a buildup of smaller stressful life situations may trigger excessive anxiety — for example, a death in the family, work stress or ongoing worry about finances.</a:t>
            </a:r>
          </a:p>
          <a:p>
            <a:pPr algn="just">
              <a:buFont typeface="Wingdings" pitchFamily="2" charset="2"/>
              <a:buChar char="v"/>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FACTORS</a:t>
            </a:r>
            <a:endParaRPr lang="en-US" dirty="0"/>
          </a:p>
        </p:txBody>
      </p:sp>
      <p:sp>
        <p:nvSpPr>
          <p:cNvPr id="3" name="Content Placeholder 2"/>
          <p:cNvSpPr>
            <a:spLocks noGrp="1"/>
          </p:cNvSpPr>
          <p:nvPr>
            <p:ph idx="1"/>
          </p:nvPr>
        </p:nvSpPr>
        <p:spPr>
          <a:xfrm>
            <a:off x="457200" y="1600200"/>
            <a:ext cx="8229600" cy="5029200"/>
          </a:xfrm>
        </p:spPr>
        <p:txBody>
          <a:bodyPr>
            <a:normAutofit fontScale="92500" lnSpcReduction="10000"/>
          </a:bodyPr>
          <a:lstStyle/>
          <a:p>
            <a:pPr lvl="0" algn="just">
              <a:buFont typeface="Wingdings" pitchFamily="2" charset="2"/>
              <a:buChar char="v"/>
            </a:pPr>
            <a:r>
              <a:rPr lang="en-US" b="1" dirty="0" smtClean="0"/>
              <a:t>Personality:</a:t>
            </a:r>
            <a:r>
              <a:rPr lang="en-US" dirty="0"/>
              <a:t> People with certain personality types are more prone to anxiety disorders than others are.</a:t>
            </a:r>
          </a:p>
          <a:p>
            <a:pPr lvl="0" algn="just">
              <a:buFont typeface="Wingdings" pitchFamily="2" charset="2"/>
              <a:buChar char="v"/>
            </a:pPr>
            <a:r>
              <a:rPr lang="en-US" b="1" dirty="0"/>
              <a:t>Other mental health </a:t>
            </a:r>
            <a:r>
              <a:rPr lang="en-US" b="1" dirty="0" smtClean="0"/>
              <a:t>disorders:</a:t>
            </a:r>
            <a:r>
              <a:rPr lang="en-US" dirty="0"/>
              <a:t> People with other mental health disorders, such as depression, often also have an anxiety disorder.</a:t>
            </a:r>
          </a:p>
          <a:p>
            <a:pPr lvl="0" algn="just">
              <a:buFont typeface="Wingdings" pitchFamily="2" charset="2"/>
              <a:buChar char="v"/>
            </a:pPr>
            <a:r>
              <a:rPr lang="en-US" b="1" dirty="0"/>
              <a:t>Having blood relatives with an anxiety </a:t>
            </a:r>
            <a:r>
              <a:rPr lang="en-US" b="1" dirty="0" smtClean="0"/>
              <a:t>disorder:</a:t>
            </a:r>
            <a:r>
              <a:rPr lang="en-US" dirty="0"/>
              <a:t> Anxiety disorders can run in families.</a:t>
            </a:r>
          </a:p>
          <a:p>
            <a:pPr lvl="0" algn="just">
              <a:buFont typeface="Wingdings" pitchFamily="2" charset="2"/>
              <a:buChar char="v"/>
            </a:pPr>
            <a:endParaRPr lang="en-US" b="1" dirty="0" smtClean="0"/>
          </a:p>
          <a:p>
            <a:pPr lvl="0" algn="just">
              <a:buFont typeface="Wingdings" pitchFamily="2" charset="2"/>
              <a:buChar char="v"/>
            </a:pPr>
            <a:r>
              <a:rPr lang="en-US" b="1" dirty="0" smtClean="0"/>
              <a:t>Drugs </a:t>
            </a:r>
            <a:r>
              <a:rPr lang="en-US" b="1" dirty="0"/>
              <a:t>or </a:t>
            </a:r>
            <a:r>
              <a:rPr lang="en-US" b="1" dirty="0" smtClean="0"/>
              <a:t>alcohol:</a:t>
            </a:r>
            <a:r>
              <a:rPr lang="en-US" dirty="0"/>
              <a:t> Drug or alcohol use or misuse or withdrawal can cause or worsen anxiety.</a:t>
            </a:r>
          </a:p>
          <a:p>
            <a:pPr>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COMPLICATIONS</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92500"/>
          </a:bodyPr>
          <a:lstStyle/>
          <a:p>
            <a:pPr>
              <a:buFont typeface="Wingdings" pitchFamily="2" charset="2"/>
              <a:buChar char="q"/>
            </a:pPr>
            <a:r>
              <a:rPr lang="en-US" dirty="0"/>
              <a:t>Having an anxiety disorder does more than make you worry. It can also lead to, or worsen, other mental and physical conditions, such as:</a:t>
            </a:r>
          </a:p>
          <a:p>
            <a:pPr lvl="0">
              <a:buFont typeface="Wingdings" pitchFamily="2" charset="2"/>
              <a:buChar char="v"/>
            </a:pPr>
            <a:r>
              <a:rPr lang="en-US" dirty="0"/>
              <a:t>Depression (which often occurs with an anxiety disorder) or other mental health disorders</a:t>
            </a:r>
          </a:p>
          <a:p>
            <a:pPr lvl="0">
              <a:buFont typeface="Wingdings" pitchFamily="2" charset="2"/>
              <a:buChar char="v"/>
            </a:pPr>
            <a:r>
              <a:rPr lang="en-US" dirty="0"/>
              <a:t>Substance misuse</a:t>
            </a:r>
          </a:p>
          <a:p>
            <a:pPr lvl="0">
              <a:buFont typeface="Wingdings" pitchFamily="2" charset="2"/>
              <a:buChar char="v"/>
            </a:pPr>
            <a:r>
              <a:rPr lang="en-US" dirty="0"/>
              <a:t>Trouble sleeping (insomnia)</a:t>
            </a:r>
          </a:p>
          <a:p>
            <a:pPr lvl="0">
              <a:buFont typeface="Wingdings" pitchFamily="2" charset="2"/>
              <a:buChar char="v"/>
            </a:pPr>
            <a:r>
              <a:rPr lang="en-US" dirty="0"/>
              <a:t>Digestive or bowel problems</a:t>
            </a:r>
          </a:p>
          <a:p>
            <a:pPr lvl="0">
              <a:buFont typeface="Wingdings" pitchFamily="2" charset="2"/>
              <a:buChar char="v"/>
            </a:pPr>
            <a:r>
              <a:rPr lang="en-US" dirty="0"/>
              <a:t>Headaches and chronic pain</a:t>
            </a:r>
          </a:p>
          <a:p>
            <a:pPr>
              <a:buFont typeface="Wingdings" pitchFamily="2" charset="2"/>
              <a:buChar char="v"/>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COMPLICATIONS</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Social </a:t>
            </a:r>
            <a:r>
              <a:rPr lang="en-US" dirty="0" smtClean="0"/>
              <a:t>isolation</a:t>
            </a:r>
          </a:p>
          <a:p>
            <a:pPr lvl="0">
              <a:buNone/>
            </a:pPr>
            <a:endParaRPr lang="en-US" dirty="0"/>
          </a:p>
          <a:p>
            <a:pPr lvl="0">
              <a:buFont typeface="Wingdings" pitchFamily="2" charset="2"/>
              <a:buChar char="v"/>
            </a:pPr>
            <a:r>
              <a:rPr lang="en-US" dirty="0"/>
              <a:t>Problems functioning at school or </a:t>
            </a:r>
            <a:r>
              <a:rPr lang="en-US" dirty="0" smtClean="0"/>
              <a:t>work</a:t>
            </a:r>
          </a:p>
          <a:p>
            <a:pPr lvl="0">
              <a:buNone/>
            </a:pPr>
            <a:endParaRPr lang="en-US" dirty="0"/>
          </a:p>
          <a:p>
            <a:pPr lvl="0">
              <a:buFont typeface="Wingdings" pitchFamily="2" charset="2"/>
              <a:buChar char="v"/>
            </a:pPr>
            <a:r>
              <a:rPr lang="en-US" dirty="0"/>
              <a:t>Poor quality of </a:t>
            </a:r>
            <a:r>
              <a:rPr lang="en-US" dirty="0" smtClean="0"/>
              <a:t>life</a:t>
            </a:r>
          </a:p>
          <a:p>
            <a:pPr lvl="0">
              <a:buNone/>
            </a:pPr>
            <a:endParaRPr lang="en-US" dirty="0"/>
          </a:p>
          <a:p>
            <a:pPr lvl="0">
              <a:buFont typeface="Wingdings" pitchFamily="2" charset="2"/>
              <a:buChar char="v"/>
            </a:pPr>
            <a:r>
              <a:rPr lang="en-US" dirty="0"/>
              <a:t>Suicide</a:t>
            </a:r>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PREVENTION</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pPr lvl="0" algn="just">
              <a:buFont typeface="Wingdings" pitchFamily="2" charset="2"/>
              <a:buChar char="v"/>
            </a:pPr>
            <a:r>
              <a:rPr lang="en-US" b="1" dirty="0"/>
              <a:t>Get help </a:t>
            </a:r>
            <a:r>
              <a:rPr lang="en-US" b="1" dirty="0" smtClean="0"/>
              <a:t>early:</a:t>
            </a:r>
            <a:r>
              <a:rPr lang="en-US" dirty="0"/>
              <a:t> Anxiety, like many other mental health conditions, can be harder to treat if you wait.</a:t>
            </a:r>
          </a:p>
          <a:p>
            <a:pPr lvl="0" algn="just">
              <a:buFont typeface="Wingdings" pitchFamily="2" charset="2"/>
              <a:buChar char="v"/>
            </a:pPr>
            <a:r>
              <a:rPr lang="en-US" b="1" dirty="0"/>
              <a:t>Stay </a:t>
            </a:r>
            <a:r>
              <a:rPr lang="en-US" b="1" dirty="0" smtClean="0"/>
              <a:t>active:</a:t>
            </a:r>
            <a:r>
              <a:rPr lang="en-US" dirty="0"/>
              <a:t> Participate in activities that you enjoy and that make you feel good about yourself. Enjoy social interaction and caring relationships, which can lessen your worries.</a:t>
            </a:r>
          </a:p>
          <a:p>
            <a:pPr lvl="0" algn="just">
              <a:buFont typeface="Wingdings" pitchFamily="2" charset="2"/>
              <a:buChar char="v"/>
            </a:pPr>
            <a:r>
              <a:rPr lang="en-US" b="1" dirty="0"/>
              <a:t>Avoid alcohol or drug </a:t>
            </a:r>
            <a:r>
              <a:rPr lang="en-US" b="1" dirty="0" smtClean="0"/>
              <a:t>use:</a:t>
            </a:r>
            <a:r>
              <a:rPr lang="en-US" dirty="0"/>
              <a:t> Alcohol and drug use can cause or worsen anxiety. If you're addicted to any of these substances, quitting can make you anxious. If you can't quit on your own, see your doctor or find a support group to help you.</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TREATMENT OF ANXIETY DISORDERS</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v"/>
            </a:pPr>
            <a:r>
              <a:rPr lang="en-US" dirty="0"/>
              <a:t>Not all anxiety disorders have to be treated when symptoms are mild, transient, and without associated impairment in social and occupational </a:t>
            </a:r>
            <a:r>
              <a:rPr lang="en-US" dirty="0" smtClean="0"/>
              <a:t>functions. </a:t>
            </a:r>
            <a:endParaRPr lang="en-US" dirty="0" smtClean="0"/>
          </a:p>
          <a:p>
            <a:pPr algn="just">
              <a:buFont typeface="Wingdings" pitchFamily="2" charset="2"/>
              <a:buChar char="v"/>
            </a:pPr>
            <a:r>
              <a:rPr lang="en-US" dirty="0" smtClean="0"/>
              <a:t>However</a:t>
            </a:r>
            <a:r>
              <a:rPr lang="en-US" dirty="0"/>
              <a:t>, treatment is indicated when a patient shows marked distress or suffers from complications resulting from the disorder (</a:t>
            </a:r>
            <a:r>
              <a:rPr lang="en-US" dirty="0" err="1" smtClean="0"/>
              <a:t>e.g</a:t>
            </a:r>
            <a:r>
              <a:rPr lang="en-US" dirty="0"/>
              <a:t>, secondary depression, suicidal ideation, or alcohol abuse).</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TREATMENT OF ANXIETY DISORDERS</a:t>
            </a:r>
            <a:endParaRPr lang="en-US" dirty="0"/>
          </a:p>
        </p:txBody>
      </p:sp>
      <p:sp>
        <p:nvSpPr>
          <p:cNvPr id="3" name="Content Placeholder 2"/>
          <p:cNvSpPr>
            <a:spLocks noGrp="1"/>
          </p:cNvSpPr>
          <p:nvPr>
            <p:ph idx="1"/>
          </p:nvPr>
        </p:nvSpPr>
        <p:spPr/>
        <p:txBody>
          <a:bodyPr/>
          <a:lstStyle/>
          <a:p>
            <a:pPr algn="just">
              <a:buFont typeface="Wingdings" pitchFamily="2" charset="2"/>
              <a:buChar char="v"/>
            </a:pPr>
            <a:r>
              <a:rPr lang="en-US" dirty="0"/>
              <a:t>Anxiety disorders can be treated mostly on an outpatient basis. </a:t>
            </a:r>
            <a:endParaRPr lang="en-US" dirty="0" smtClean="0"/>
          </a:p>
          <a:p>
            <a:pPr algn="just">
              <a:buNone/>
            </a:pPr>
            <a:endParaRPr lang="en-US" dirty="0" smtClean="0"/>
          </a:p>
          <a:p>
            <a:pPr algn="just">
              <a:buFont typeface="Wingdings" pitchFamily="2" charset="2"/>
              <a:buChar char="v"/>
            </a:pPr>
            <a:r>
              <a:rPr lang="en-US" dirty="0" smtClean="0"/>
              <a:t>Indications </a:t>
            </a:r>
            <a:r>
              <a:rPr lang="en-US" dirty="0"/>
              <a:t>for hospitalization include </a:t>
            </a:r>
            <a:r>
              <a:rPr lang="en-US" dirty="0" smtClean="0"/>
              <a:t>suicidal tendency, </a:t>
            </a:r>
            <a:r>
              <a:rPr lang="en-US" dirty="0"/>
              <a:t>unresponsiveness to standard treatments, or relevant co-morbidity, </a:t>
            </a:r>
            <a:r>
              <a:rPr lang="en-US" dirty="0" err="1" smtClean="0"/>
              <a:t>e.g</a:t>
            </a:r>
            <a:r>
              <a:rPr lang="en-US" dirty="0"/>
              <a:t>, with major depression, personality disorders, or substance abuse.</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TREATMENT OF ANXIETY DISORDERS</a:t>
            </a:r>
            <a:endParaRPr lang="en-US" dirty="0"/>
          </a:p>
        </p:txBody>
      </p:sp>
      <p:sp>
        <p:nvSpPr>
          <p:cNvPr id="3" name="Content Placeholder 2"/>
          <p:cNvSpPr>
            <a:spLocks noGrp="1"/>
          </p:cNvSpPr>
          <p:nvPr>
            <p:ph idx="1"/>
          </p:nvPr>
        </p:nvSpPr>
        <p:spPr/>
        <p:txBody>
          <a:bodyPr/>
          <a:lstStyle/>
          <a:p>
            <a:pPr algn="just">
              <a:buFont typeface="Wingdings" pitchFamily="2" charset="2"/>
              <a:buChar char="q"/>
            </a:pPr>
            <a:r>
              <a:rPr lang="en-US" dirty="0" smtClean="0"/>
              <a:t>There are three basic treatment options:</a:t>
            </a:r>
          </a:p>
          <a:p>
            <a:pPr algn="just">
              <a:buFont typeface="Wingdings" pitchFamily="2" charset="2"/>
              <a:buChar char="v"/>
            </a:pPr>
            <a:r>
              <a:rPr lang="en-US" b="1" dirty="0" smtClean="0"/>
              <a:t>Psychotherapy : </a:t>
            </a:r>
            <a:r>
              <a:rPr lang="en-US" dirty="0" smtClean="0"/>
              <a:t>lifestyle changes (increase sleep hours at night, moderate work, avoid alcohol, smoking, caffeine; limit social medial activity, read inspirational books. It also involves </a:t>
            </a:r>
            <a:r>
              <a:rPr lang="en-US" b="1" dirty="0" smtClean="0"/>
              <a:t>Counseling. </a:t>
            </a:r>
          </a:p>
          <a:p>
            <a:pPr algn="just">
              <a:buFont typeface="Wingdings" pitchFamily="2" charset="2"/>
              <a:buChar char="v"/>
            </a:pPr>
            <a:r>
              <a:rPr lang="en-US" b="1" dirty="0"/>
              <a:t>P</a:t>
            </a:r>
            <a:r>
              <a:rPr lang="en-US" b="1" dirty="0" smtClean="0"/>
              <a:t>harmacotherapy</a:t>
            </a:r>
            <a:r>
              <a:rPr lang="en-US" b="1" dirty="0"/>
              <a:t>, </a:t>
            </a:r>
            <a:endParaRPr lang="en-US" b="1" dirty="0" smtClean="0"/>
          </a:p>
          <a:p>
            <a:pPr algn="just">
              <a:buFont typeface="Wingdings" pitchFamily="2" charset="2"/>
              <a:buChar char="v"/>
            </a:pPr>
            <a:r>
              <a:rPr lang="en-US" b="1" dirty="0"/>
              <a:t>O</a:t>
            </a:r>
            <a:r>
              <a:rPr lang="en-US" b="1" dirty="0" smtClean="0"/>
              <a:t>r </a:t>
            </a:r>
            <a:r>
              <a:rPr lang="en-US" b="1" dirty="0"/>
              <a:t>a combination of both</a:t>
            </a:r>
            <a:endParaRPr lang="en-US" dirty="0"/>
          </a:p>
          <a:p>
            <a:pPr algn="just">
              <a:buFont typeface="Wingdings" pitchFamily="2" charset="2"/>
              <a:buChar char="v"/>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TREATMENT OF ANXIETY DISORDERS</a:t>
            </a:r>
            <a:endParaRPr lang="en-US" dirty="0"/>
          </a:p>
        </p:txBody>
      </p:sp>
      <p:sp>
        <p:nvSpPr>
          <p:cNvPr id="3" name="Content Placeholder 2"/>
          <p:cNvSpPr>
            <a:spLocks noGrp="1"/>
          </p:cNvSpPr>
          <p:nvPr>
            <p:ph idx="1"/>
          </p:nvPr>
        </p:nvSpPr>
        <p:spPr/>
        <p:txBody>
          <a:bodyPr/>
          <a:lstStyle/>
          <a:p>
            <a:pPr algn="just">
              <a:buFont typeface="Wingdings" pitchFamily="2" charset="2"/>
              <a:buChar char="v"/>
            </a:pPr>
            <a:r>
              <a:rPr lang="en-US" dirty="0" smtClean="0"/>
              <a:t> </a:t>
            </a:r>
            <a:r>
              <a:rPr lang="en-US" dirty="0"/>
              <a:t>However, life threatening side effects, remission, treatment resistance, incidences of withdrawal symptoms, costs, preference of the patient and interaction with other drugs have hugely characterized the use of these </a:t>
            </a:r>
            <a:r>
              <a:rPr lang="en-US" dirty="0" smtClean="0"/>
              <a:t>drugs. </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PHARMACOTHERAPY: ANXIOLYTICS</a:t>
            </a:r>
            <a:endParaRPr lang="en-US" dirty="0"/>
          </a:p>
        </p:txBody>
      </p:sp>
      <p:sp>
        <p:nvSpPr>
          <p:cNvPr id="3" name="Content Placeholder 2"/>
          <p:cNvSpPr>
            <a:spLocks noGrp="1"/>
          </p:cNvSpPr>
          <p:nvPr>
            <p:ph idx="1"/>
          </p:nvPr>
        </p:nvSpPr>
        <p:spPr/>
        <p:txBody>
          <a:bodyPr/>
          <a:lstStyle/>
          <a:p>
            <a:pPr marL="514350" indent="-514350" algn="just">
              <a:buFont typeface="Wingdings" pitchFamily="2" charset="2"/>
              <a:buChar char="v"/>
            </a:pPr>
            <a:r>
              <a:rPr lang="en-US" dirty="0" err="1" smtClean="0"/>
              <a:t>Anxiolytics</a:t>
            </a:r>
            <a:r>
              <a:rPr lang="en-US" dirty="0" smtClean="0"/>
              <a:t> are psychoactive drugs which reduce anxiety and exert a calming effect with little or no mental function. </a:t>
            </a:r>
          </a:p>
          <a:p>
            <a:pPr marL="514350" indent="-514350" algn="just">
              <a:buNone/>
            </a:pPr>
            <a:endParaRPr lang="en-US" dirty="0" smtClean="0"/>
          </a:p>
          <a:p>
            <a:pPr marL="514350" indent="-514350" algn="just">
              <a:buFont typeface="Wingdings" pitchFamily="2" charset="2"/>
              <a:buChar char="v"/>
            </a:pPr>
            <a:r>
              <a:rPr lang="en-US" dirty="0" smtClean="0"/>
              <a:t>Hypnotics are drugs that produce drowsiness and encourage the onset and maintenance of sleep. </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CLASSIFICATIONS</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v"/>
            </a:pPr>
            <a:r>
              <a:rPr lang="en-US" b="1" dirty="0"/>
              <a:t>B</a:t>
            </a:r>
            <a:r>
              <a:rPr lang="en-US" b="1" dirty="0" smtClean="0"/>
              <a:t>enzodiazepines</a:t>
            </a:r>
            <a:r>
              <a:rPr lang="en-US" dirty="0" smtClean="0"/>
              <a:t>: This is the most important group. It is used as both </a:t>
            </a:r>
            <a:r>
              <a:rPr lang="en-US" dirty="0" err="1" smtClean="0"/>
              <a:t>anxiolytic</a:t>
            </a:r>
            <a:r>
              <a:rPr lang="en-US" dirty="0" smtClean="0"/>
              <a:t> and hypnotics. </a:t>
            </a:r>
          </a:p>
          <a:p>
            <a:pPr algn="just">
              <a:buFont typeface="Wingdings" pitchFamily="2" charset="2"/>
              <a:buChar char="v"/>
            </a:pPr>
            <a:r>
              <a:rPr lang="en-US" b="1" dirty="0"/>
              <a:t>Selective serotonin reuptake inhibitors </a:t>
            </a:r>
            <a:r>
              <a:rPr lang="en-US" b="1" dirty="0" smtClean="0"/>
              <a:t>(SSRIs) </a:t>
            </a:r>
            <a:r>
              <a:rPr lang="en-US" dirty="0" err="1" smtClean="0"/>
              <a:t>eg</a:t>
            </a:r>
            <a:r>
              <a:rPr lang="en-US" dirty="0" smtClean="0"/>
              <a:t> </a:t>
            </a:r>
            <a:r>
              <a:rPr lang="en-US" dirty="0" err="1" smtClean="0"/>
              <a:t>Citalopram</a:t>
            </a:r>
            <a:r>
              <a:rPr lang="en-US" dirty="0" smtClean="0"/>
              <a:t>, </a:t>
            </a:r>
            <a:r>
              <a:rPr lang="en-US" dirty="0" err="1" smtClean="0"/>
              <a:t>Escitalopram</a:t>
            </a:r>
            <a:r>
              <a:rPr lang="en-US" dirty="0" smtClean="0"/>
              <a:t>, </a:t>
            </a:r>
            <a:r>
              <a:rPr lang="en-US" dirty="0" err="1" smtClean="0"/>
              <a:t>Fluoxetine</a:t>
            </a:r>
            <a:r>
              <a:rPr lang="en-US" dirty="0" smtClean="0"/>
              <a:t>, </a:t>
            </a:r>
            <a:r>
              <a:rPr lang="en-US" dirty="0" err="1" smtClean="0"/>
              <a:t>Paroxetine</a:t>
            </a:r>
            <a:r>
              <a:rPr lang="en-US" dirty="0" smtClean="0"/>
              <a:t>, </a:t>
            </a:r>
            <a:r>
              <a:rPr lang="en-US" dirty="0" err="1" smtClean="0"/>
              <a:t>Sertraline</a:t>
            </a:r>
            <a:r>
              <a:rPr lang="en-US" dirty="0" smtClean="0"/>
              <a:t>. </a:t>
            </a:r>
            <a:endParaRPr lang="en-US" dirty="0" smtClean="0"/>
          </a:p>
          <a:p>
            <a:pPr algn="just">
              <a:buFont typeface="Wingdings" pitchFamily="2" charset="2"/>
              <a:buChar char="v"/>
            </a:pPr>
            <a:r>
              <a:rPr lang="en-US" b="1" dirty="0" smtClean="0"/>
              <a:t>Selective </a:t>
            </a:r>
            <a:r>
              <a:rPr lang="en-US" b="1" dirty="0"/>
              <a:t>serotonin </a:t>
            </a:r>
            <a:r>
              <a:rPr lang="en-US" b="1" dirty="0" err="1"/>
              <a:t>norepinephrine</a:t>
            </a:r>
            <a:r>
              <a:rPr lang="en-US" b="1" dirty="0"/>
              <a:t> reuptake </a:t>
            </a:r>
            <a:r>
              <a:rPr lang="en-US" b="1" dirty="0" smtClean="0"/>
              <a:t>Inhibitors (SNRIs) </a:t>
            </a:r>
            <a:r>
              <a:rPr lang="en-US" dirty="0" err="1" smtClean="0"/>
              <a:t>eg</a:t>
            </a:r>
            <a:r>
              <a:rPr lang="en-US" dirty="0" smtClean="0"/>
              <a:t> </a:t>
            </a:r>
            <a:r>
              <a:rPr lang="en-US" dirty="0" err="1" smtClean="0"/>
              <a:t>Desvenlafaxine</a:t>
            </a:r>
            <a:r>
              <a:rPr lang="en-US" dirty="0" smtClean="0"/>
              <a:t>, </a:t>
            </a:r>
            <a:r>
              <a:rPr lang="en-US" dirty="0" err="1" smtClean="0"/>
              <a:t>venlafaxine</a:t>
            </a:r>
            <a:r>
              <a:rPr lang="en-US" dirty="0" smtClean="0"/>
              <a:t>, </a:t>
            </a:r>
            <a:r>
              <a:rPr lang="en-US" dirty="0" err="1" smtClean="0"/>
              <a:t>duloxetine</a:t>
            </a:r>
            <a:endParaRPr lang="en-US" dirty="0"/>
          </a:p>
          <a:p>
            <a:pPr algn="just">
              <a:buFont typeface="Wingdings" pitchFamily="2" charset="2"/>
              <a:buChar char="v"/>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CLASSIFICATIONS</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v"/>
            </a:pPr>
            <a:r>
              <a:rPr lang="en-US" b="1" dirty="0" err="1"/>
              <a:t>Tricyclic</a:t>
            </a:r>
            <a:r>
              <a:rPr lang="en-US" b="1" dirty="0"/>
              <a:t> </a:t>
            </a:r>
            <a:r>
              <a:rPr lang="en-US" b="1" dirty="0" smtClean="0"/>
              <a:t>antidepressants</a:t>
            </a:r>
            <a:r>
              <a:rPr lang="en-US" b="1" dirty="0"/>
              <a:t> </a:t>
            </a:r>
            <a:r>
              <a:rPr lang="en-US" dirty="0" err="1" smtClean="0"/>
              <a:t>eg</a:t>
            </a:r>
            <a:r>
              <a:rPr lang="en-US" dirty="0" smtClean="0"/>
              <a:t> </a:t>
            </a:r>
            <a:r>
              <a:rPr lang="en-US" dirty="0" err="1" smtClean="0"/>
              <a:t>Amitriptyline</a:t>
            </a:r>
            <a:r>
              <a:rPr lang="en-US" dirty="0" smtClean="0"/>
              <a:t>, </a:t>
            </a:r>
            <a:r>
              <a:rPr lang="en-US" dirty="0" err="1" smtClean="0"/>
              <a:t>Amoxapine</a:t>
            </a:r>
            <a:r>
              <a:rPr lang="en-US" dirty="0" smtClean="0"/>
              <a:t>, </a:t>
            </a:r>
            <a:r>
              <a:rPr lang="en-US" dirty="0" err="1" smtClean="0"/>
              <a:t>Desipramine</a:t>
            </a:r>
            <a:r>
              <a:rPr lang="en-US" dirty="0" smtClean="0"/>
              <a:t>, </a:t>
            </a:r>
            <a:r>
              <a:rPr lang="en-US" dirty="0" err="1" smtClean="0"/>
              <a:t>Doxepin</a:t>
            </a:r>
            <a:r>
              <a:rPr lang="en-US" dirty="0" smtClean="0"/>
              <a:t>, </a:t>
            </a:r>
            <a:r>
              <a:rPr lang="en-US" dirty="0" err="1" smtClean="0"/>
              <a:t>Imipramine</a:t>
            </a:r>
            <a:r>
              <a:rPr lang="en-US" dirty="0" smtClean="0"/>
              <a:t>, </a:t>
            </a:r>
            <a:r>
              <a:rPr lang="en-US" dirty="0" err="1" smtClean="0"/>
              <a:t>Nortriptyline</a:t>
            </a:r>
            <a:r>
              <a:rPr lang="en-US" dirty="0" smtClean="0"/>
              <a:t>, </a:t>
            </a:r>
            <a:r>
              <a:rPr lang="en-US" dirty="0" err="1" smtClean="0"/>
              <a:t>Protriptyline</a:t>
            </a:r>
            <a:r>
              <a:rPr lang="en-US" dirty="0" smtClean="0"/>
              <a:t>, </a:t>
            </a:r>
            <a:r>
              <a:rPr lang="en-US" dirty="0" err="1" smtClean="0"/>
              <a:t>Trimipramine</a:t>
            </a:r>
            <a:r>
              <a:rPr lang="en-US" dirty="0" smtClean="0"/>
              <a:t>.</a:t>
            </a:r>
          </a:p>
          <a:p>
            <a:pPr algn="just">
              <a:buFont typeface="Wingdings" pitchFamily="2" charset="2"/>
              <a:buChar char="v"/>
            </a:pPr>
            <a:endParaRPr lang="en-US" dirty="0" smtClean="0"/>
          </a:p>
          <a:p>
            <a:pPr algn="just">
              <a:buFont typeface="Wingdings" pitchFamily="2" charset="2"/>
              <a:buChar char="v"/>
            </a:pPr>
            <a:r>
              <a:rPr lang="en-US" b="1" dirty="0" err="1" smtClean="0"/>
              <a:t>Buspirone</a:t>
            </a:r>
            <a:r>
              <a:rPr lang="en-US" dirty="0" smtClean="0"/>
              <a:t>: This is a serotonin receptor agonist that produces </a:t>
            </a:r>
            <a:r>
              <a:rPr lang="en-US" dirty="0" err="1" smtClean="0"/>
              <a:t>anxiolytic</a:t>
            </a:r>
            <a:r>
              <a:rPr lang="en-US" dirty="0" smtClean="0"/>
              <a:t> effect but without appreciable sedative activity.  </a:t>
            </a:r>
            <a:r>
              <a:rPr lang="en-US" dirty="0" smtClean="0"/>
              <a:t>It has very little tendency to induce dependence. </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CLASSIFICATIONS</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v"/>
            </a:pPr>
            <a:r>
              <a:rPr lang="en-US" b="1" dirty="0" err="1" smtClean="0"/>
              <a:t>Zolpidem</a:t>
            </a:r>
            <a:r>
              <a:rPr lang="en-US" dirty="0" smtClean="0"/>
              <a:t>: </a:t>
            </a:r>
            <a:r>
              <a:rPr lang="en-US" dirty="0" err="1" smtClean="0"/>
              <a:t>Zolpidem</a:t>
            </a:r>
            <a:r>
              <a:rPr lang="en-US" dirty="0" smtClean="0"/>
              <a:t> is a non-benzodiazepine </a:t>
            </a:r>
            <a:r>
              <a:rPr lang="pt-BR" dirty="0" smtClean="0"/>
              <a:t>GABA</a:t>
            </a:r>
            <a:r>
              <a:rPr lang="pt-BR" baseline="-25000" dirty="0" smtClean="0"/>
              <a:t>A</a:t>
            </a:r>
            <a:r>
              <a:rPr lang="pt-BR" dirty="0" smtClean="0"/>
              <a:t> receptor agonist</a:t>
            </a:r>
            <a:r>
              <a:rPr lang="en-US" dirty="0" smtClean="0"/>
              <a:t> which acts as a sedative and </a:t>
            </a:r>
            <a:r>
              <a:rPr lang="en-US" dirty="0" smtClean="0"/>
              <a:t>hypnotic. It is used for the treatment of insomnia. </a:t>
            </a:r>
            <a:endParaRPr lang="en-US" dirty="0" smtClean="0"/>
          </a:p>
          <a:p>
            <a:pPr algn="just">
              <a:buNone/>
            </a:pPr>
            <a:endParaRPr lang="en-US" dirty="0" smtClean="0"/>
          </a:p>
          <a:p>
            <a:pPr algn="just">
              <a:buFont typeface="Wingdings" pitchFamily="2" charset="2"/>
              <a:buChar char="v"/>
            </a:pPr>
            <a:r>
              <a:rPr lang="en-US" dirty="0" smtClean="0"/>
              <a:t>It acts similar to BZPs, although chemically distinct, but lacks appreciable </a:t>
            </a:r>
            <a:r>
              <a:rPr lang="en-US" dirty="0" err="1" smtClean="0"/>
              <a:t>anxiolytic</a:t>
            </a:r>
            <a:r>
              <a:rPr lang="en-US" dirty="0" smtClean="0"/>
              <a:t> activity.  </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CLASSIFICATIONS</a:t>
            </a:r>
            <a:endParaRPr lang="en-US" dirty="0"/>
          </a:p>
        </p:txBody>
      </p:sp>
      <p:sp>
        <p:nvSpPr>
          <p:cNvPr id="3" name="Content Placeholder 2"/>
          <p:cNvSpPr>
            <a:spLocks noGrp="1"/>
          </p:cNvSpPr>
          <p:nvPr>
            <p:ph idx="1"/>
          </p:nvPr>
        </p:nvSpPr>
        <p:spPr/>
        <p:txBody>
          <a:bodyPr>
            <a:normAutofit lnSpcReduction="10000"/>
          </a:bodyPr>
          <a:lstStyle/>
          <a:p>
            <a:pPr algn="just">
              <a:buFont typeface="Wingdings" pitchFamily="2" charset="2"/>
              <a:buChar char="v"/>
            </a:pPr>
            <a:r>
              <a:rPr lang="en-US" b="1" dirty="0" err="1" smtClean="0"/>
              <a:t>Pregabalin</a:t>
            </a:r>
            <a:r>
              <a:rPr lang="en-US" dirty="0" smtClean="0"/>
              <a:t>: </a:t>
            </a:r>
            <a:r>
              <a:rPr lang="en-US" dirty="0" err="1"/>
              <a:t>Pregabalin</a:t>
            </a:r>
            <a:r>
              <a:rPr lang="en-US" dirty="0"/>
              <a:t> is a structural analog of the inhibitory neurotransmitter </a:t>
            </a:r>
            <a:r>
              <a:rPr lang="en-US" dirty="0" smtClean="0"/>
              <a:t>(</a:t>
            </a:r>
            <a:r>
              <a:rPr lang="en-US" dirty="0"/>
              <a:t>GABA) but is thought to exert its </a:t>
            </a:r>
            <a:r>
              <a:rPr lang="en-US" dirty="0" err="1"/>
              <a:t>anxiolytic</a:t>
            </a:r>
            <a:r>
              <a:rPr lang="en-US" dirty="0"/>
              <a:t> effects through </a:t>
            </a:r>
            <a:r>
              <a:rPr lang="en-US" b="1" dirty="0" smtClean="0"/>
              <a:t>modulation of excitatory neurotransmitter release</a:t>
            </a:r>
            <a:r>
              <a:rPr lang="en-US" dirty="0" smtClean="0"/>
              <a:t>. It is used to treat epilepsy and anxiety. </a:t>
            </a:r>
          </a:p>
          <a:p>
            <a:pPr algn="just">
              <a:buFont typeface="Wingdings" pitchFamily="2" charset="2"/>
              <a:buChar char="v"/>
            </a:pPr>
            <a:r>
              <a:rPr lang="en-US" b="1" dirty="0" smtClean="0"/>
              <a:t>Antipsychotics: </a:t>
            </a:r>
            <a:r>
              <a:rPr lang="en-US" dirty="0"/>
              <a:t>There is currently only one antipsychotic, </a:t>
            </a:r>
            <a:r>
              <a:rPr lang="en-US" b="1" dirty="0" err="1"/>
              <a:t>trifluoperazine</a:t>
            </a:r>
            <a:r>
              <a:rPr lang="en-US" dirty="0"/>
              <a:t>, a first-generation antipsychotic (FGA), which is FDA-approved for the treatment of anxiety. </a:t>
            </a:r>
          </a:p>
          <a:p>
            <a:pPr>
              <a:buFont typeface="Wingdings" pitchFamily="2" charset="2"/>
              <a:buChar char="v"/>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CLASSIFICATIONS</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v"/>
            </a:pPr>
            <a:r>
              <a:rPr lang="en-US" b="1" dirty="0" smtClean="0"/>
              <a:t>Antihistamines</a:t>
            </a:r>
            <a:r>
              <a:rPr lang="en-US" dirty="0" smtClean="0"/>
              <a:t>: </a:t>
            </a:r>
            <a:r>
              <a:rPr lang="en-US" dirty="0" err="1"/>
              <a:t>Hydroxyzine</a:t>
            </a:r>
            <a:r>
              <a:rPr lang="en-US" dirty="0"/>
              <a:t> &amp; </a:t>
            </a:r>
            <a:r>
              <a:rPr lang="en-US" dirty="0" err="1"/>
              <a:t>diphenhydramine</a:t>
            </a:r>
            <a:r>
              <a:rPr lang="en-US" dirty="0"/>
              <a:t> are the most studied antihistamine for anxiety and the only antihistamine which is FDA-approved for use in anxiety</a:t>
            </a:r>
            <a:r>
              <a:rPr lang="en-US" dirty="0" smtClean="0"/>
              <a:t>). </a:t>
            </a:r>
          </a:p>
          <a:p>
            <a:pPr algn="just">
              <a:buFont typeface="Wingdings" pitchFamily="2" charset="2"/>
              <a:buChar char="v"/>
            </a:pPr>
            <a:r>
              <a:rPr lang="en-US" b="1" dirty="0" smtClean="0"/>
              <a:t>Beta-blockers</a:t>
            </a:r>
            <a:r>
              <a:rPr lang="en-US" dirty="0" smtClean="0"/>
              <a:t>: Effective in treating anxiety. It acts by blocking sympathetic response rather than on any central effects. It is used to manage stage fright. </a:t>
            </a:r>
            <a:r>
              <a:rPr lang="en-US" dirty="0" err="1" smtClean="0"/>
              <a:t>Eg</a:t>
            </a:r>
            <a:r>
              <a:rPr lang="en-US" dirty="0" smtClean="0"/>
              <a:t> </a:t>
            </a:r>
            <a:r>
              <a:rPr lang="en-US" dirty="0" err="1" smtClean="0"/>
              <a:t>propranolol</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CLASSIFICATIONS</a:t>
            </a:r>
            <a:endParaRPr lang="en-US" dirty="0"/>
          </a:p>
        </p:txBody>
      </p:sp>
      <p:sp>
        <p:nvSpPr>
          <p:cNvPr id="3" name="Content Placeholder 2"/>
          <p:cNvSpPr>
            <a:spLocks noGrp="1"/>
          </p:cNvSpPr>
          <p:nvPr>
            <p:ph idx="1"/>
          </p:nvPr>
        </p:nvSpPr>
        <p:spPr/>
        <p:txBody>
          <a:bodyPr/>
          <a:lstStyle/>
          <a:p>
            <a:pPr algn="just">
              <a:buFont typeface="Wingdings" pitchFamily="2" charset="2"/>
              <a:buChar char="v"/>
            </a:pPr>
            <a:r>
              <a:rPr lang="en-US" b="1" dirty="0" smtClean="0"/>
              <a:t>Barbiturates</a:t>
            </a:r>
            <a:r>
              <a:rPr lang="en-US" dirty="0" smtClean="0"/>
              <a:t>: These are now largely obsolete or outdated. It is now replaced with BZPs. Their use is now reduced to anesthesia. </a:t>
            </a:r>
            <a:endParaRPr lang="en-US" dirty="0" smtClean="0"/>
          </a:p>
          <a:p>
            <a:pPr algn="just">
              <a:buFont typeface="Wingdings" pitchFamily="2" charset="2"/>
              <a:buChar char="v"/>
            </a:pPr>
            <a:endParaRPr lang="en-US" dirty="0" smtClean="0"/>
          </a:p>
          <a:p>
            <a:pPr algn="just">
              <a:buFont typeface="Wingdings" pitchFamily="2" charset="2"/>
              <a:buChar char="v"/>
            </a:pPr>
            <a:r>
              <a:rPr lang="en-US" b="1" dirty="0" smtClean="0"/>
              <a:t>Non-barbiturates</a:t>
            </a:r>
            <a:r>
              <a:rPr lang="en-US" dirty="0" smtClean="0"/>
              <a:t>: They are no longer recommended </a:t>
            </a:r>
            <a:r>
              <a:rPr lang="en-US" dirty="0" err="1" smtClean="0"/>
              <a:t>e.g</a:t>
            </a:r>
            <a:r>
              <a:rPr lang="en-US" dirty="0" smtClean="0"/>
              <a:t> Chloral hydrate, alcohol. </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BENZODIAZEPINES</a:t>
            </a:r>
            <a:endParaRPr lang="en-US" dirty="0"/>
          </a:p>
        </p:txBody>
      </p:sp>
      <p:sp>
        <p:nvSpPr>
          <p:cNvPr id="3" name="Content Placeholder 2"/>
          <p:cNvSpPr>
            <a:spLocks noGrp="1"/>
          </p:cNvSpPr>
          <p:nvPr>
            <p:ph idx="1"/>
          </p:nvPr>
        </p:nvSpPr>
        <p:spPr/>
        <p:txBody>
          <a:bodyPr/>
          <a:lstStyle/>
          <a:p>
            <a:pPr algn="just">
              <a:buFont typeface="Wingdings" pitchFamily="2" charset="2"/>
              <a:buChar char="v"/>
            </a:pPr>
            <a:r>
              <a:rPr lang="en-US" dirty="0" smtClean="0"/>
              <a:t> Short acting: </a:t>
            </a:r>
            <a:r>
              <a:rPr lang="en-US" dirty="0" err="1" smtClean="0"/>
              <a:t>Midazolam</a:t>
            </a:r>
            <a:r>
              <a:rPr lang="en-US" dirty="0" smtClean="0"/>
              <a:t>, </a:t>
            </a:r>
            <a:r>
              <a:rPr lang="en-US" dirty="0" err="1" smtClean="0"/>
              <a:t>Triazolam</a:t>
            </a:r>
            <a:endParaRPr lang="en-US" dirty="0" smtClean="0"/>
          </a:p>
          <a:p>
            <a:pPr algn="just">
              <a:buNone/>
            </a:pPr>
            <a:endParaRPr lang="en-US" dirty="0" smtClean="0"/>
          </a:p>
          <a:p>
            <a:pPr algn="just">
              <a:buFont typeface="Wingdings" pitchFamily="2" charset="2"/>
              <a:buChar char="v"/>
            </a:pPr>
            <a:r>
              <a:rPr lang="en-US" dirty="0"/>
              <a:t> </a:t>
            </a:r>
            <a:r>
              <a:rPr lang="en-US" dirty="0" smtClean="0"/>
              <a:t>Intermediate acting: </a:t>
            </a:r>
            <a:r>
              <a:rPr lang="en-US" dirty="0" err="1" smtClean="0"/>
              <a:t>Lorazepam</a:t>
            </a:r>
            <a:r>
              <a:rPr lang="en-US" dirty="0" smtClean="0"/>
              <a:t> (</a:t>
            </a:r>
            <a:r>
              <a:rPr lang="en-US" dirty="0" err="1" smtClean="0"/>
              <a:t>i.e</a:t>
            </a:r>
            <a:r>
              <a:rPr lang="en-US" dirty="0" smtClean="0"/>
              <a:t> safest in liver disease), </a:t>
            </a:r>
            <a:r>
              <a:rPr lang="en-US" dirty="0" err="1" smtClean="0"/>
              <a:t>Oxazepam</a:t>
            </a:r>
            <a:r>
              <a:rPr lang="en-US" dirty="0" smtClean="0"/>
              <a:t>, </a:t>
            </a:r>
            <a:r>
              <a:rPr lang="en-US" dirty="0" err="1" smtClean="0"/>
              <a:t>Temazepam</a:t>
            </a:r>
            <a:r>
              <a:rPr lang="en-US" dirty="0" smtClean="0"/>
              <a:t>, </a:t>
            </a:r>
            <a:r>
              <a:rPr lang="en-US" dirty="0" err="1" smtClean="0"/>
              <a:t>Alprazolam</a:t>
            </a:r>
            <a:r>
              <a:rPr lang="en-US" dirty="0" smtClean="0"/>
              <a:t>. </a:t>
            </a:r>
          </a:p>
          <a:p>
            <a:pPr algn="just">
              <a:buNone/>
            </a:pPr>
            <a:endParaRPr lang="en-US" dirty="0" smtClean="0"/>
          </a:p>
          <a:p>
            <a:pPr algn="just">
              <a:buFont typeface="Wingdings" pitchFamily="2" charset="2"/>
              <a:buChar char="v"/>
            </a:pPr>
            <a:r>
              <a:rPr lang="en-US" dirty="0"/>
              <a:t> </a:t>
            </a:r>
            <a:r>
              <a:rPr lang="en-US" dirty="0" smtClean="0"/>
              <a:t>Long acting: Diazepam</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MECHANISM OF ACTION</a:t>
            </a:r>
            <a:endParaRPr lang="en-US" dirty="0"/>
          </a:p>
        </p:txBody>
      </p:sp>
      <p:sp>
        <p:nvSpPr>
          <p:cNvPr id="3" name="Content Placeholder 2"/>
          <p:cNvSpPr>
            <a:spLocks noGrp="1"/>
          </p:cNvSpPr>
          <p:nvPr>
            <p:ph idx="1"/>
          </p:nvPr>
        </p:nvSpPr>
        <p:spPr/>
        <p:txBody>
          <a:bodyPr>
            <a:normAutofit fontScale="92500"/>
          </a:bodyPr>
          <a:lstStyle/>
          <a:p>
            <a:pPr algn="just">
              <a:buFont typeface="Wingdings" pitchFamily="2" charset="2"/>
              <a:buChar char="v"/>
            </a:pPr>
            <a:r>
              <a:rPr lang="en-US" dirty="0" smtClean="0"/>
              <a:t>The</a:t>
            </a:r>
            <a:r>
              <a:rPr lang="en-US" dirty="0"/>
              <a:t> </a:t>
            </a:r>
            <a:r>
              <a:rPr lang="en-US" b="1" dirty="0"/>
              <a:t>mechanism of action of </a:t>
            </a:r>
            <a:r>
              <a:rPr lang="en-US" dirty="0" smtClean="0"/>
              <a:t>benzodiazepines </a:t>
            </a:r>
            <a:r>
              <a:rPr lang="en-US" dirty="0"/>
              <a:t>in the central nervous system is by </a:t>
            </a:r>
            <a:r>
              <a:rPr lang="en-US" dirty="0" smtClean="0"/>
              <a:t>potentiating the </a:t>
            </a:r>
            <a:r>
              <a:rPr lang="en-US" dirty="0"/>
              <a:t>inhibitory </a:t>
            </a:r>
            <a:r>
              <a:rPr lang="en-US" b="1" dirty="0"/>
              <a:t>effect</a:t>
            </a:r>
            <a:r>
              <a:rPr lang="en-US" dirty="0"/>
              <a:t> of </a:t>
            </a:r>
            <a:r>
              <a:rPr lang="el-GR" dirty="0"/>
              <a:t>γ-</a:t>
            </a:r>
            <a:r>
              <a:rPr lang="en-US" dirty="0" err="1"/>
              <a:t>aminobutyric</a:t>
            </a:r>
            <a:r>
              <a:rPr lang="en-US" dirty="0"/>
              <a:t> acid </a:t>
            </a:r>
            <a:r>
              <a:rPr lang="en-US" dirty="0" smtClean="0"/>
              <a:t>(GABA</a:t>
            </a:r>
            <a:r>
              <a:rPr lang="en-US" sz="1600" dirty="0" smtClean="0"/>
              <a:t>A</a:t>
            </a:r>
            <a:r>
              <a:rPr lang="en-US" dirty="0" smtClean="0"/>
              <a:t>)on </a:t>
            </a:r>
            <a:r>
              <a:rPr lang="en-US" dirty="0"/>
              <a:t>neuronal transmission. </a:t>
            </a:r>
            <a:endParaRPr lang="en-US" dirty="0" smtClean="0"/>
          </a:p>
          <a:p>
            <a:pPr algn="just">
              <a:buNone/>
            </a:pPr>
            <a:endParaRPr lang="en-US" dirty="0" smtClean="0"/>
          </a:p>
          <a:p>
            <a:pPr algn="just">
              <a:buFont typeface="Wingdings" pitchFamily="2" charset="2"/>
              <a:buChar char="v"/>
            </a:pPr>
            <a:r>
              <a:rPr lang="en-US" dirty="0"/>
              <a:t> </a:t>
            </a:r>
            <a:r>
              <a:rPr lang="en-US" dirty="0" smtClean="0"/>
              <a:t>They facilitate the opening and activation of GABA linked chloride ion thereby permitting the influx of chloride ions in the cell membrane. This results in </a:t>
            </a:r>
            <a:r>
              <a:rPr lang="en-US" dirty="0" err="1" smtClean="0"/>
              <a:t>repolarisation</a:t>
            </a:r>
            <a:r>
              <a:rPr lang="en-US" dirty="0" smtClean="0"/>
              <a:t> of cell membrane.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MECHANISM OF ACTION</a:t>
            </a:r>
            <a:endParaRPr lang="en-US" dirty="0"/>
          </a:p>
        </p:txBody>
      </p:sp>
      <p:sp>
        <p:nvSpPr>
          <p:cNvPr id="3" name="Content Placeholder 2"/>
          <p:cNvSpPr>
            <a:spLocks noGrp="1"/>
          </p:cNvSpPr>
          <p:nvPr>
            <p:ph idx="1"/>
          </p:nvPr>
        </p:nvSpPr>
        <p:spPr/>
        <p:txBody>
          <a:bodyPr/>
          <a:lstStyle/>
          <a:p>
            <a:pPr>
              <a:buFont typeface="Wingdings" pitchFamily="2" charset="2"/>
              <a:buChar char="v"/>
            </a:pPr>
            <a:endParaRPr lang="en-US" dirty="0" smtClean="0"/>
          </a:p>
          <a:p>
            <a:pPr algn="just">
              <a:buFont typeface="Wingdings" pitchFamily="2" charset="2"/>
              <a:buChar char="v"/>
            </a:pPr>
            <a:r>
              <a:rPr lang="en-US" dirty="0" smtClean="0"/>
              <a:t>All Benzodiazepines have hypnotic, anticonvulsant, muscle relaxant, amnesic, and </a:t>
            </a:r>
            <a:r>
              <a:rPr lang="en-US" dirty="0" err="1" smtClean="0"/>
              <a:t>anxiolytic</a:t>
            </a:r>
            <a:r>
              <a:rPr lang="en-US" dirty="0" smtClean="0"/>
              <a:t> properties.</a:t>
            </a:r>
          </a:p>
          <a:p>
            <a:pPr>
              <a:buFont typeface="Wingdings" pitchFamily="2" charset="2"/>
              <a:buChar char="v"/>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PHARMACOLOGICAL ACTIONS</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v"/>
            </a:pPr>
            <a:r>
              <a:rPr lang="en-US" dirty="0" smtClean="0"/>
              <a:t> Reduction of anxiety and aggression</a:t>
            </a:r>
          </a:p>
          <a:p>
            <a:pPr algn="just">
              <a:buNone/>
            </a:pPr>
            <a:endParaRPr lang="en-US" dirty="0" smtClean="0"/>
          </a:p>
          <a:p>
            <a:pPr algn="just">
              <a:buFont typeface="Wingdings" pitchFamily="2" charset="2"/>
              <a:buChar char="v"/>
            </a:pPr>
            <a:r>
              <a:rPr lang="en-US" dirty="0" smtClean="0"/>
              <a:t>Sedation and induction of sleep</a:t>
            </a:r>
          </a:p>
          <a:p>
            <a:pPr algn="just">
              <a:buNone/>
            </a:pPr>
            <a:endParaRPr lang="en-US" dirty="0" smtClean="0"/>
          </a:p>
          <a:p>
            <a:pPr algn="just">
              <a:buFont typeface="Wingdings" pitchFamily="2" charset="2"/>
              <a:buChar char="v"/>
            </a:pPr>
            <a:r>
              <a:rPr lang="en-US" dirty="0" smtClean="0"/>
              <a:t>Muscle relaxant actions</a:t>
            </a:r>
          </a:p>
          <a:p>
            <a:pPr algn="just">
              <a:buNone/>
            </a:pPr>
            <a:endParaRPr lang="en-US" dirty="0" smtClean="0"/>
          </a:p>
          <a:p>
            <a:pPr algn="just">
              <a:buFont typeface="Wingdings" pitchFamily="2" charset="2"/>
              <a:buChar char="v"/>
            </a:pPr>
            <a:r>
              <a:rPr lang="en-US" dirty="0" smtClean="0"/>
              <a:t>Anticonvulsant activity</a:t>
            </a:r>
          </a:p>
          <a:p>
            <a:pPr algn="just">
              <a:buNone/>
            </a:pPr>
            <a:endParaRPr lang="en-US" dirty="0" smtClean="0"/>
          </a:p>
          <a:p>
            <a:pPr algn="just">
              <a:buFont typeface="Wingdings" pitchFamily="2" charset="2"/>
              <a:buChar char="v"/>
            </a:pPr>
            <a:r>
              <a:rPr lang="en-US" dirty="0" err="1" smtClean="0"/>
              <a:t>Anterograde</a:t>
            </a:r>
            <a:r>
              <a:rPr lang="en-US" dirty="0" smtClean="0"/>
              <a:t> amnesia:</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PHARMACOLOGICAL ACTIONS</a:t>
            </a:r>
            <a:endParaRPr lang="en-US" dirty="0"/>
          </a:p>
        </p:txBody>
      </p:sp>
      <p:sp>
        <p:nvSpPr>
          <p:cNvPr id="3" name="Content Placeholder 2"/>
          <p:cNvSpPr>
            <a:spLocks noGrp="1"/>
          </p:cNvSpPr>
          <p:nvPr>
            <p:ph idx="1"/>
          </p:nvPr>
        </p:nvSpPr>
        <p:spPr/>
        <p:txBody>
          <a:bodyPr>
            <a:normAutofit lnSpcReduction="10000"/>
          </a:bodyPr>
          <a:lstStyle/>
          <a:p>
            <a:pPr algn="just">
              <a:buFont typeface="Wingdings" pitchFamily="2" charset="2"/>
              <a:buChar char="v"/>
            </a:pPr>
            <a:r>
              <a:rPr lang="en-US" dirty="0" smtClean="0">
                <a:effectLst>
                  <a:outerShdw blurRad="38100" dist="38100" dir="2700000" algn="tl">
                    <a:srgbClr val="000000">
                      <a:alpha val="43137"/>
                    </a:srgbClr>
                  </a:outerShdw>
                </a:effectLst>
              </a:rPr>
              <a:t>Reduction of anxiety and aggression</a:t>
            </a:r>
            <a:r>
              <a:rPr lang="en-US" dirty="0" smtClean="0"/>
              <a:t>: BZPs reduce anxiety and aggression. </a:t>
            </a:r>
          </a:p>
          <a:p>
            <a:pPr algn="just">
              <a:buFont typeface="Wingdings" pitchFamily="2" charset="2"/>
              <a:buChar char="§"/>
            </a:pPr>
            <a:r>
              <a:rPr lang="en-US" dirty="0" smtClean="0"/>
              <a:t>They do not have antidepressant activity.</a:t>
            </a:r>
          </a:p>
          <a:p>
            <a:pPr algn="just">
              <a:buFont typeface="Wingdings" pitchFamily="2" charset="2"/>
              <a:buChar char="§"/>
            </a:pPr>
            <a:r>
              <a:rPr lang="en-US" b="1" dirty="0" smtClean="0"/>
              <a:t>Short &amp; ultra short acting agents produce paradoxical aggression </a:t>
            </a:r>
            <a:r>
              <a:rPr lang="en-US" dirty="0" smtClean="0"/>
              <a:t>which is probably a manifestation of BZPs withdrawal symptoms.</a:t>
            </a:r>
          </a:p>
          <a:p>
            <a:pPr algn="just">
              <a:buFont typeface="Wingdings" pitchFamily="2" charset="2"/>
              <a:buChar char="§"/>
            </a:pPr>
            <a:r>
              <a:rPr lang="en-US" dirty="0" smtClean="0"/>
              <a:t>Paradoxical effects may appear after chronic use of benzodiazepines especially those whose action wears off rapidly. </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PHARMACOLOGICAL ACTIONS</a:t>
            </a:r>
            <a:endParaRPr lang="en-US" dirty="0"/>
          </a:p>
        </p:txBody>
      </p:sp>
      <p:sp>
        <p:nvSpPr>
          <p:cNvPr id="3" name="Content Placeholder 2"/>
          <p:cNvSpPr>
            <a:spLocks noGrp="1"/>
          </p:cNvSpPr>
          <p:nvPr>
            <p:ph idx="1"/>
          </p:nvPr>
        </p:nvSpPr>
        <p:spPr/>
        <p:txBody>
          <a:bodyPr>
            <a:normAutofit fontScale="92500" lnSpcReduction="20000"/>
          </a:bodyPr>
          <a:lstStyle/>
          <a:p>
            <a:pPr algn="just">
              <a:buFont typeface="Wingdings" pitchFamily="2" charset="2"/>
              <a:buChar char="v"/>
            </a:pPr>
            <a:r>
              <a:rPr lang="en-US" dirty="0" smtClean="0">
                <a:effectLst>
                  <a:outerShdw blurRad="38100" dist="38100" dir="2700000" algn="tl">
                    <a:srgbClr val="000000">
                      <a:alpha val="43137"/>
                    </a:srgbClr>
                  </a:outerShdw>
                </a:effectLst>
              </a:rPr>
              <a:t>Sedation and induction of sleep</a:t>
            </a:r>
            <a:r>
              <a:rPr lang="en-US" dirty="0" smtClean="0"/>
              <a:t>: They decrease time taken to get to sleep and increase the total duration of sleep. </a:t>
            </a:r>
          </a:p>
          <a:p>
            <a:pPr algn="just">
              <a:buNone/>
            </a:pPr>
            <a:endParaRPr lang="en-US" dirty="0" smtClean="0">
              <a:effectLst>
                <a:outerShdw blurRad="38100" dist="38100" dir="2700000" algn="tl">
                  <a:srgbClr val="000000">
                    <a:alpha val="43137"/>
                  </a:srgbClr>
                </a:outerShdw>
              </a:effectLst>
            </a:endParaRPr>
          </a:p>
          <a:p>
            <a:pPr algn="just">
              <a:buFont typeface="Wingdings" pitchFamily="2" charset="2"/>
              <a:buChar char="v"/>
            </a:pPr>
            <a:endParaRPr lang="en-US" dirty="0" smtClean="0">
              <a:effectLst>
                <a:outerShdw blurRad="38100" dist="38100" dir="2700000" algn="tl">
                  <a:srgbClr val="000000">
                    <a:alpha val="43137"/>
                  </a:srgbClr>
                </a:outerShdw>
              </a:effectLst>
            </a:endParaRPr>
          </a:p>
          <a:p>
            <a:pPr algn="just"/>
            <a:r>
              <a:rPr lang="en-US" dirty="0" smtClean="0">
                <a:effectLst>
                  <a:outerShdw blurRad="38100" dist="38100" dir="2700000" algn="tl">
                    <a:srgbClr val="000000">
                      <a:alpha val="43137"/>
                    </a:srgbClr>
                  </a:outerShdw>
                </a:effectLst>
              </a:rPr>
              <a:t>Muscle relaxant actions: </a:t>
            </a:r>
            <a:r>
              <a:rPr lang="en-US" dirty="0" smtClean="0"/>
              <a:t>Benzodiazepines exert </a:t>
            </a:r>
            <a:r>
              <a:rPr lang="en-US" b="1" dirty="0" smtClean="0"/>
              <a:t>muscle relaxant effects</a:t>
            </a:r>
            <a:r>
              <a:rPr lang="en-US" dirty="0" smtClean="0"/>
              <a:t> by </a:t>
            </a:r>
            <a:r>
              <a:rPr lang="en-US" b="1" dirty="0" smtClean="0"/>
              <a:t>enhancing inhibitory </a:t>
            </a:r>
            <a:r>
              <a:rPr lang="en-US" b="1" dirty="0" err="1" smtClean="0"/>
              <a:t>GABAergic</a:t>
            </a:r>
            <a:r>
              <a:rPr lang="en-US" b="1" dirty="0" smtClean="0"/>
              <a:t> transmission</a:t>
            </a:r>
            <a:r>
              <a:rPr lang="en-US" dirty="0" smtClean="0"/>
              <a:t>, primarily in the </a:t>
            </a:r>
            <a:r>
              <a:rPr lang="en-US" b="1" dirty="0" smtClean="0"/>
              <a:t>central nervous system (CNS)</a:t>
            </a:r>
            <a:r>
              <a:rPr lang="en-US" dirty="0" smtClean="0"/>
              <a:t> — particularly in the </a:t>
            </a:r>
            <a:r>
              <a:rPr lang="en-US" b="1" dirty="0" smtClean="0"/>
              <a:t>spinal cord</a:t>
            </a:r>
            <a:r>
              <a:rPr lang="en-US" dirty="0" smtClean="0"/>
              <a:t> and </a:t>
            </a:r>
            <a:r>
              <a:rPr lang="en-US" b="1" dirty="0" smtClean="0"/>
              <a:t>brainstem</a:t>
            </a:r>
            <a:r>
              <a:rPr lang="en-US" dirty="0" smtClean="0"/>
              <a:t>, which are crucial for regulating muscle tone and reflexes.</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PHARMACOLOGICAL ACTIONS</a:t>
            </a:r>
            <a:endParaRPr lang="en-US" dirty="0"/>
          </a:p>
        </p:txBody>
      </p:sp>
      <p:sp>
        <p:nvSpPr>
          <p:cNvPr id="3" name="Content Placeholder 2"/>
          <p:cNvSpPr>
            <a:spLocks noGrp="1"/>
          </p:cNvSpPr>
          <p:nvPr>
            <p:ph idx="1"/>
          </p:nvPr>
        </p:nvSpPr>
        <p:spPr/>
        <p:txBody>
          <a:bodyPr>
            <a:normAutofit lnSpcReduction="10000"/>
          </a:bodyPr>
          <a:lstStyle/>
          <a:p>
            <a:pPr algn="just">
              <a:buFont typeface="Wingdings" pitchFamily="2" charset="2"/>
              <a:buChar char="v"/>
            </a:pPr>
            <a:r>
              <a:rPr lang="en-US" dirty="0" smtClean="0">
                <a:effectLst>
                  <a:outerShdw blurRad="38100" dist="38100" dir="2700000" algn="tl">
                    <a:srgbClr val="000000">
                      <a:alpha val="43137"/>
                    </a:srgbClr>
                  </a:outerShdw>
                </a:effectLst>
              </a:rPr>
              <a:t>Anticonvulsant action</a:t>
            </a:r>
            <a:r>
              <a:rPr lang="en-US" dirty="0" smtClean="0"/>
              <a:t>: All BZPs are highly effective against GABA mediated convulsion. </a:t>
            </a:r>
          </a:p>
          <a:p>
            <a:pPr algn="just">
              <a:buFont typeface="Wingdings" pitchFamily="2" charset="2"/>
              <a:buChar char="§"/>
            </a:pPr>
            <a:endParaRPr lang="en-US" dirty="0" smtClean="0"/>
          </a:p>
          <a:p>
            <a:pPr algn="just">
              <a:buFont typeface="Wingdings" pitchFamily="2" charset="2"/>
              <a:buChar char="§"/>
            </a:pPr>
            <a:r>
              <a:rPr lang="en-US" dirty="0" smtClean="0"/>
              <a:t>Chemical </a:t>
            </a:r>
            <a:r>
              <a:rPr lang="en-US" dirty="0" err="1" smtClean="0"/>
              <a:t>convulsants</a:t>
            </a:r>
            <a:r>
              <a:rPr lang="en-US" dirty="0" smtClean="0"/>
              <a:t> such as </a:t>
            </a:r>
            <a:r>
              <a:rPr lang="en-US" dirty="0" err="1" smtClean="0"/>
              <a:t>picrotoxin</a:t>
            </a:r>
            <a:r>
              <a:rPr lang="en-US" dirty="0" smtClean="0"/>
              <a:t>, </a:t>
            </a:r>
            <a:r>
              <a:rPr lang="en-US" dirty="0" err="1" smtClean="0"/>
              <a:t>bicuculline</a:t>
            </a:r>
            <a:r>
              <a:rPr lang="en-US" dirty="0" smtClean="0"/>
              <a:t>, </a:t>
            </a:r>
            <a:r>
              <a:rPr lang="en-US" dirty="0" err="1" smtClean="0"/>
              <a:t>leptazole</a:t>
            </a:r>
            <a:r>
              <a:rPr lang="en-US" dirty="0" smtClean="0"/>
              <a:t> </a:t>
            </a:r>
            <a:r>
              <a:rPr lang="en-US" dirty="0" err="1" smtClean="0"/>
              <a:t>amphenazole</a:t>
            </a:r>
            <a:r>
              <a:rPr lang="en-US" dirty="0" smtClean="0"/>
              <a:t> etc cause convulsion by antagonizing GABA. </a:t>
            </a:r>
          </a:p>
          <a:p>
            <a:pPr algn="just">
              <a:buFont typeface="Wingdings" pitchFamily="2" charset="2"/>
              <a:buChar char="§"/>
            </a:pPr>
            <a:endParaRPr lang="en-US" dirty="0" smtClean="0"/>
          </a:p>
          <a:p>
            <a:pPr algn="just">
              <a:buFont typeface="Wingdings" pitchFamily="2" charset="2"/>
              <a:buChar char="§"/>
            </a:pPr>
            <a:r>
              <a:rPr lang="en-US" dirty="0" smtClean="0"/>
              <a:t>BZPs are not effective against strychnine-induced convulsion (</a:t>
            </a:r>
            <a:r>
              <a:rPr lang="en-US" dirty="0" err="1" smtClean="0"/>
              <a:t>glycine</a:t>
            </a:r>
            <a:r>
              <a:rPr lang="en-US" dirty="0" smtClean="0"/>
              <a:t> antagonist) in experimental animals. </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PHARMACOLOGICAL ACTIONS</a:t>
            </a:r>
            <a:endParaRPr lang="en-US" dirty="0"/>
          </a:p>
        </p:txBody>
      </p:sp>
      <p:sp>
        <p:nvSpPr>
          <p:cNvPr id="3" name="Content Placeholder 2"/>
          <p:cNvSpPr>
            <a:spLocks noGrp="1"/>
          </p:cNvSpPr>
          <p:nvPr>
            <p:ph idx="1"/>
          </p:nvPr>
        </p:nvSpPr>
        <p:spPr/>
        <p:txBody>
          <a:bodyPr/>
          <a:lstStyle/>
          <a:p>
            <a:pPr algn="just">
              <a:buFont typeface="Wingdings" pitchFamily="2" charset="2"/>
              <a:buChar char="§"/>
            </a:pPr>
            <a:r>
              <a:rPr lang="en-US" dirty="0" smtClean="0"/>
              <a:t>Clearly, BZPs enhance the action of GABA but not </a:t>
            </a:r>
            <a:r>
              <a:rPr lang="en-US" dirty="0" err="1" smtClean="0"/>
              <a:t>glycine</a:t>
            </a:r>
            <a:endParaRPr lang="en-US" dirty="0" smtClean="0"/>
          </a:p>
          <a:p>
            <a:pPr algn="just">
              <a:buFont typeface="Wingdings" pitchFamily="2" charset="2"/>
              <a:buChar char="§"/>
            </a:pPr>
            <a:endParaRPr lang="en-US" dirty="0" smtClean="0">
              <a:effectLst>
                <a:outerShdw blurRad="38100" dist="38100" dir="2700000" algn="tl">
                  <a:srgbClr val="000000">
                    <a:alpha val="43137"/>
                  </a:srgbClr>
                </a:outerShdw>
              </a:effectLst>
            </a:endParaRPr>
          </a:p>
          <a:p>
            <a:pPr algn="just">
              <a:buFont typeface="Wingdings" pitchFamily="2" charset="2"/>
              <a:buChar char="v"/>
            </a:pPr>
            <a:r>
              <a:rPr lang="en-US" dirty="0" err="1" smtClean="0">
                <a:effectLst>
                  <a:outerShdw blurRad="38100" dist="38100" dir="2700000" algn="tl">
                    <a:srgbClr val="000000">
                      <a:alpha val="43137"/>
                    </a:srgbClr>
                  </a:outerShdw>
                </a:effectLst>
              </a:rPr>
              <a:t>Anterograde</a:t>
            </a:r>
            <a:r>
              <a:rPr lang="en-US" dirty="0" smtClean="0">
                <a:effectLst>
                  <a:outerShdw blurRad="38100" dist="38100" dir="2700000" algn="tl">
                    <a:srgbClr val="000000">
                      <a:alpha val="43137"/>
                    </a:srgbClr>
                  </a:outerShdw>
                </a:effectLst>
              </a:rPr>
              <a:t> amnesia: </a:t>
            </a:r>
            <a:r>
              <a:rPr lang="en-US" dirty="0" smtClean="0"/>
              <a:t>BZPs obliterate memory of events experienced while under their influence. </a:t>
            </a:r>
          </a:p>
          <a:p>
            <a:pPr algn="just">
              <a:buFont typeface="Wingdings" pitchFamily="2" charset="2"/>
              <a:buChar char="v"/>
            </a:pPr>
            <a:endParaRPr lang="en-US" dirty="0" smtClean="0"/>
          </a:p>
          <a:p>
            <a:pPr algn="just">
              <a:buFont typeface="Wingdings" pitchFamily="2" charset="2"/>
              <a:buChar char="§"/>
            </a:pPr>
            <a:r>
              <a:rPr lang="en-US" dirty="0" smtClean="0"/>
              <a:t>Minor surgical procedure can be performed without leaving unpleasant memories. </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PHARMACOKINETICS</a:t>
            </a:r>
            <a:endParaRPr lang="en-US" dirty="0"/>
          </a:p>
        </p:txBody>
      </p:sp>
      <p:sp>
        <p:nvSpPr>
          <p:cNvPr id="3" name="Content Placeholder 2"/>
          <p:cNvSpPr>
            <a:spLocks noGrp="1"/>
          </p:cNvSpPr>
          <p:nvPr>
            <p:ph idx="1"/>
          </p:nvPr>
        </p:nvSpPr>
        <p:spPr/>
        <p:txBody>
          <a:bodyPr>
            <a:normAutofit fontScale="92500" lnSpcReduction="20000"/>
          </a:bodyPr>
          <a:lstStyle/>
          <a:p>
            <a:pPr algn="just">
              <a:buFont typeface="Wingdings" pitchFamily="2" charset="2"/>
              <a:buChar char="v"/>
            </a:pPr>
            <a:r>
              <a:rPr lang="en-US" dirty="0" smtClean="0"/>
              <a:t>BZPs </a:t>
            </a:r>
            <a:r>
              <a:rPr lang="en-US" dirty="0" smtClean="0"/>
              <a:t>are absorbed from oral and par-</a:t>
            </a:r>
            <a:r>
              <a:rPr lang="en-US" dirty="0" err="1" smtClean="0"/>
              <a:t>enteral</a:t>
            </a:r>
            <a:r>
              <a:rPr lang="en-US" dirty="0" smtClean="0"/>
              <a:t> routes. </a:t>
            </a:r>
          </a:p>
          <a:p>
            <a:pPr algn="just">
              <a:buFont typeface="Wingdings" pitchFamily="2" charset="2"/>
              <a:buChar char="v"/>
            </a:pPr>
            <a:r>
              <a:rPr lang="en-US" dirty="0" smtClean="0"/>
              <a:t>BZPs have extensive plasma binding capacity (80%-98%). </a:t>
            </a:r>
          </a:p>
          <a:p>
            <a:pPr algn="just">
              <a:buFont typeface="Wingdings" pitchFamily="2" charset="2"/>
              <a:buChar char="v"/>
            </a:pPr>
            <a:endParaRPr lang="en-US" dirty="0" smtClean="0"/>
          </a:p>
          <a:p>
            <a:pPr algn="just">
              <a:buFont typeface="Wingdings" pitchFamily="2" charset="2"/>
              <a:buChar char="v"/>
            </a:pPr>
            <a:r>
              <a:rPr lang="en-US" dirty="0" smtClean="0"/>
              <a:t>Because they are highly lipid soluble, BZPs can cross the blood-brain barrier.</a:t>
            </a:r>
          </a:p>
          <a:p>
            <a:pPr algn="just">
              <a:buFont typeface="Wingdings" pitchFamily="2" charset="2"/>
              <a:buChar char="v"/>
            </a:pPr>
            <a:endParaRPr lang="en-US" dirty="0" smtClean="0"/>
          </a:p>
          <a:p>
            <a:pPr algn="just">
              <a:buFont typeface="Wingdings" pitchFamily="2" charset="2"/>
              <a:buChar char="v"/>
            </a:pPr>
            <a:r>
              <a:rPr lang="en-US" dirty="0" smtClean="0"/>
              <a:t>All BZPs are metabolized by the liver.</a:t>
            </a:r>
          </a:p>
          <a:p>
            <a:pPr algn="just">
              <a:buFont typeface="Wingdings" pitchFamily="2" charset="2"/>
              <a:buChar char="v"/>
            </a:pPr>
            <a:endParaRPr lang="en-US" dirty="0" smtClean="0"/>
          </a:p>
          <a:p>
            <a:pPr algn="just">
              <a:buFont typeface="Wingdings" pitchFamily="2" charset="2"/>
              <a:buChar char="v"/>
            </a:pPr>
            <a:r>
              <a:rPr lang="en-US" dirty="0" smtClean="0"/>
              <a:t>The drugs and its metabolites are excreted in urine as </a:t>
            </a:r>
            <a:r>
              <a:rPr lang="en-US" dirty="0" err="1" smtClean="0"/>
              <a:t>glucoronides</a:t>
            </a:r>
            <a:r>
              <a:rPr lang="en-US" dirty="0" smtClean="0"/>
              <a:t>.</a:t>
            </a:r>
          </a:p>
          <a:p>
            <a:pPr algn="just">
              <a:buNone/>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INDICATIONS</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 Anxiety disorders</a:t>
            </a:r>
          </a:p>
          <a:p>
            <a:pPr>
              <a:buFont typeface="Wingdings" pitchFamily="2" charset="2"/>
              <a:buChar char="v"/>
            </a:pPr>
            <a:r>
              <a:rPr lang="en-US" dirty="0"/>
              <a:t> </a:t>
            </a:r>
            <a:r>
              <a:rPr lang="en-US" dirty="0" smtClean="0"/>
              <a:t>Skeletal muscle spasm</a:t>
            </a:r>
          </a:p>
          <a:p>
            <a:pPr>
              <a:buFont typeface="Wingdings" pitchFamily="2" charset="2"/>
              <a:buChar char="v"/>
            </a:pPr>
            <a:r>
              <a:rPr lang="en-US" dirty="0" smtClean="0"/>
              <a:t>Seizures/convulsion</a:t>
            </a:r>
          </a:p>
          <a:p>
            <a:pPr>
              <a:buFont typeface="Wingdings" pitchFamily="2" charset="2"/>
              <a:buChar char="v"/>
            </a:pPr>
            <a:r>
              <a:rPr lang="en-US" dirty="0"/>
              <a:t> </a:t>
            </a:r>
            <a:r>
              <a:rPr lang="en-US" dirty="0" smtClean="0"/>
              <a:t>Sleep disorders (insomnia)</a:t>
            </a:r>
          </a:p>
          <a:p>
            <a:pPr>
              <a:buFont typeface="Wingdings" pitchFamily="2" charset="2"/>
              <a:buChar char="v"/>
            </a:pPr>
            <a:r>
              <a:rPr lang="en-US" dirty="0"/>
              <a:t> </a:t>
            </a:r>
            <a:r>
              <a:rPr lang="en-US" dirty="0" smtClean="0"/>
              <a:t>Alcohol withdrawal</a:t>
            </a:r>
          </a:p>
          <a:p>
            <a:pPr>
              <a:buFont typeface="Wingdings" pitchFamily="2" charset="2"/>
              <a:buChar char="v"/>
            </a:pPr>
            <a:r>
              <a:rPr lang="en-US" dirty="0"/>
              <a:t> </a:t>
            </a:r>
            <a:r>
              <a:rPr lang="en-US" dirty="0" smtClean="0"/>
              <a:t>Agitation</a:t>
            </a:r>
          </a:p>
          <a:p>
            <a:pPr>
              <a:buFont typeface="Wingdings" pitchFamily="2" charset="2"/>
              <a:buChar char="v"/>
            </a:pPr>
            <a:r>
              <a:rPr lang="en-US" dirty="0"/>
              <a:t> </a:t>
            </a:r>
            <a:r>
              <a:rPr lang="en-US" dirty="0" smtClean="0"/>
              <a:t>As pre-anesthetic medication</a:t>
            </a:r>
          </a:p>
          <a:p>
            <a:pPr>
              <a:buFont typeface="Wingdings" pitchFamily="2" charset="2"/>
              <a:buChar char="v"/>
            </a:pP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UNWANTED EFFECTS</a:t>
            </a:r>
            <a:endParaRPr lang="en-US" dirty="0"/>
          </a:p>
        </p:txBody>
      </p:sp>
      <p:sp>
        <p:nvSpPr>
          <p:cNvPr id="3" name="Content Placeholder 2"/>
          <p:cNvSpPr>
            <a:spLocks noGrp="1"/>
          </p:cNvSpPr>
          <p:nvPr>
            <p:ph idx="1"/>
          </p:nvPr>
        </p:nvSpPr>
        <p:spPr/>
        <p:txBody>
          <a:bodyPr/>
          <a:lstStyle/>
          <a:p>
            <a:pPr>
              <a:buFont typeface="Wingdings" pitchFamily="2" charset="2"/>
              <a:buChar char="q"/>
            </a:pPr>
            <a:r>
              <a:rPr lang="en-US" dirty="0" smtClean="0"/>
              <a:t> These are divide into 3: </a:t>
            </a:r>
          </a:p>
          <a:p>
            <a:pPr>
              <a:buFont typeface="Wingdings" pitchFamily="2" charset="2"/>
              <a:buChar char="q"/>
            </a:pPr>
            <a:endParaRPr lang="en-US" dirty="0" smtClean="0"/>
          </a:p>
          <a:p>
            <a:pPr>
              <a:buFont typeface="Wingdings" pitchFamily="2" charset="2"/>
              <a:buChar char="v"/>
            </a:pPr>
            <a:r>
              <a:rPr lang="en-US" dirty="0" smtClean="0"/>
              <a:t>Toxic effect (overdose)</a:t>
            </a:r>
          </a:p>
          <a:p>
            <a:pPr>
              <a:buFont typeface="Wingdings" pitchFamily="2" charset="2"/>
              <a:buChar char="v"/>
            </a:pPr>
            <a:endParaRPr lang="en-US" dirty="0" smtClean="0"/>
          </a:p>
          <a:p>
            <a:pPr>
              <a:buFont typeface="Wingdings" pitchFamily="2" charset="2"/>
              <a:buChar char="v"/>
            </a:pPr>
            <a:r>
              <a:rPr lang="en-US" dirty="0" smtClean="0"/>
              <a:t>Side effects (Therapeutic dose)</a:t>
            </a:r>
          </a:p>
          <a:p>
            <a:pPr>
              <a:buFont typeface="Wingdings" pitchFamily="2" charset="2"/>
              <a:buChar char="v"/>
            </a:pPr>
            <a:endParaRPr lang="en-US" dirty="0" smtClean="0"/>
          </a:p>
          <a:p>
            <a:pPr>
              <a:buFont typeface="Wingdings" pitchFamily="2" charset="2"/>
              <a:buChar char="v"/>
            </a:pPr>
            <a:r>
              <a:rPr lang="en-US" dirty="0" smtClean="0"/>
              <a:t>Tolerance and dependence </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Toxic effect (overdose)</a:t>
            </a:r>
            <a:br>
              <a:rPr lang="en-US" dirty="0" smtClean="0"/>
            </a:br>
            <a:endParaRPr lang="en-US" dirty="0"/>
          </a:p>
        </p:txBody>
      </p:sp>
      <p:sp>
        <p:nvSpPr>
          <p:cNvPr id="3" name="Content Placeholder 2"/>
          <p:cNvSpPr>
            <a:spLocks noGrp="1"/>
          </p:cNvSpPr>
          <p:nvPr>
            <p:ph idx="1"/>
          </p:nvPr>
        </p:nvSpPr>
        <p:spPr/>
        <p:txBody>
          <a:bodyPr>
            <a:normAutofit/>
          </a:bodyPr>
          <a:lstStyle/>
          <a:p>
            <a:pPr>
              <a:buNone/>
            </a:pPr>
            <a:endParaRPr lang="en-US" dirty="0"/>
          </a:p>
          <a:p>
            <a:pPr algn="just">
              <a:buFont typeface="Wingdings" pitchFamily="2" charset="2"/>
              <a:buChar char="v"/>
            </a:pPr>
            <a:r>
              <a:rPr lang="en-US" dirty="0" smtClean="0">
                <a:effectLst>
                  <a:outerShdw blurRad="38100" dist="38100" dir="2700000" algn="tl">
                    <a:srgbClr val="000000">
                      <a:alpha val="43137"/>
                    </a:srgbClr>
                  </a:outerShdw>
                </a:effectLst>
              </a:rPr>
              <a:t>Toxic effects: </a:t>
            </a:r>
            <a:r>
              <a:rPr lang="en-US" dirty="0" smtClean="0"/>
              <a:t>Toxic effect is due to overdose. In overdose, BZPs cause prolonged sleep without serious depression of respiratory or cardiovascular function. </a:t>
            </a:r>
          </a:p>
          <a:p>
            <a:pPr algn="just">
              <a:buFont typeface="Wingdings" pitchFamily="2" charset="2"/>
              <a:buChar char="§"/>
            </a:pPr>
            <a:endParaRPr lang="en-US" dirty="0" smtClean="0"/>
          </a:p>
          <a:p>
            <a:pPr algn="just">
              <a:buFont typeface="Wingdings" pitchFamily="2" charset="2"/>
              <a:buChar char="v"/>
            </a:pPr>
            <a:r>
              <a:rPr lang="en-US" dirty="0" err="1" smtClean="0"/>
              <a:t>Flumazenil</a:t>
            </a:r>
            <a:r>
              <a:rPr lang="en-US" dirty="0" smtClean="0"/>
              <a:t>, a BZPs antagonist can be used to manage its overdose.  </a:t>
            </a:r>
            <a:endParaRPr lang="en-US" dirty="0">
              <a:effectLst>
                <a:outerShdw blurRad="38100" dist="38100" dir="2700000" algn="tl">
                  <a:srgbClr val="000000">
                    <a:alpha val="43137"/>
                  </a:srgbClr>
                </a:outerShdw>
              </a:effectLs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Side effects (Therapeutic dose)</a:t>
            </a:r>
            <a:br>
              <a:rPr lang="en-US" dirty="0" smtClean="0"/>
            </a:br>
            <a:endParaRPr lang="en-US" dirty="0"/>
          </a:p>
        </p:txBody>
      </p:sp>
      <p:sp>
        <p:nvSpPr>
          <p:cNvPr id="3" name="Content Placeholder 2"/>
          <p:cNvSpPr>
            <a:spLocks noGrp="1"/>
          </p:cNvSpPr>
          <p:nvPr>
            <p:ph idx="1"/>
          </p:nvPr>
        </p:nvSpPr>
        <p:spPr/>
        <p:txBody>
          <a:bodyPr/>
          <a:lstStyle/>
          <a:p>
            <a:pPr algn="just">
              <a:buFont typeface="Wingdings" pitchFamily="2" charset="2"/>
              <a:buChar char="v"/>
            </a:pPr>
            <a:r>
              <a:rPr lang="en-US" dirty="0" smtClean="0"/>
              <a:t>These include drowsiness, confusion, amnesia, impaired coordination, cognitive impairment, impairment of sexual function. </a:t>
            </a:r>
          </a:p>
          <a:p>
            <a:pPr algn="just">
              <a:buFont typeface="Wingdings" pitchFamily="2" charset="2"/>
              <a:buChar char="v"/>
            </a:pPr>
            <a:endParaRPr lang="en-US" dirty="0" smtClean="0"/>
          </a:p>
          <a:p>
            <a:pPr algn="just">
              <a:buFont typeface="Wingdings" pitchFamily="2" charset="2"/>
              <a:buChar char="v"/>
            </a:pPr>
            <a:r>
              <a:rPr lang="en-US" dirty="0" smtClean="0"/>
              <a:t>This may result in cases of abuse. BZPs have tendencies to induce tolerance and dependence following prolong use. </a:t>
            </a:r>
          </a:p>
          <a:p>
            <a:pPr>
              <a:buFont typeface="Wingdings" pitchFamily="2" charset="2"/>
              <a:buChar char="v"/>
            </a:pP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BENZODIAZEPINES ANTAGONISTS</a:t>
            </a:r>
            <a:endParaRPr lang="en-US" dirty="0"/>
          </a:p>
        </p:txBody>
      </p:sp>
      <p:sp>
        <p:nvSpPr>
          <p:cNvPr id="3" name="Content Placeholder 2"/>
          <p:cNvSpPr>
            <a:spLocks noGrp="1"/>
          </p:cNvSpPr>
          <p:nvPr>
            <p:ph idx="1"/>
          </p:nvPr>
        </p:nvSpPr>
        <p:spPr/>
        <p:txBody>
          <a:bodyPr/>
          <a:lstStyle/>
          <a:p>
            <a:pPr>
              <a:buFont typeface="Wingdings" pitchFamily="2" charset="2"/>
              <a:buChar char="v"/>
            </a:pPr>
            <a:endParaRPr lang="en-US" dirty="0" smtClean="0"/>
          </a:p>
          <a:p>
            <a:pPr>
              <a:buFont typeface="Wingdings" pitchFamily="2" charset="2"/>
              <a:buChar char="v"/>
            </a:pPr>
            <a:endParaRPr lang="en-US" dirty="0"/>
          </a:p>
          <a:p>
            <a:pPr algn="just">
              <a:buFont typeface="Wingdings" pitchFamily="2" charset="2"/>
              <a:buChar char="v"/>
            </a:pPr>
            <a:r>
              <a:rPr lang="en-US" dirty="0" smtClean="0"/>
              <a:t>The best known compound is </a:t>
            </a:r>
            <a:r>
              <a:rPr lang="en-US" b="1" dirty="0" err="1" smtClean="0"/>
              <a:t>Flumazenil</a:t>
            </a:r>
            <a:r>
              <a:rPr lang="en-US" dirty="0" smtClean="0"/>
              <a:t>. It is GABA</a:t>
            </a:r>
            <a:r>
              <a:rPr lang="en-US" sz="1800" dirty="0" smtClean="0"/>
              <a:t>A </a:t>
            </a:r>
            <a:r>
              <a:rPr lang="en-US" sz="2800" dirty="0" smtClean="0"/>
              <a:t>receptor antagonist. It is used to reverse the effect of BZPs overdose. It acts quickly and effectively when given by injection but its action lasts for only about 2hours. </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SIDE EFFECTS OF FLUMAZENIL</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a:t> </a:t>
            </a:r>
            <a:r>
              <a:rPr lang="en-US" b="1" dirty="0" smtClean="0"/>
              <a:t>            Common</a:t>
            </a:r>
            <a:r>
              <a:rPr lang="en-US" b="1" dirty="0"/>
              <a:t> side effects </a:t>
            </a:r>
            <a:r>
              <a:rPr lang="en-US" b="1" dirty="0" smtClean="0"/>
              <a:t>include</a:t>
            </a:r>
            <a:r>
              <a:rPr lang="en-US" b="1" dirty="0"/>
              <a:t>:</a:t>
            </a:r>
            <a:endParaRPr lang="en-US" dirty="0"/>
          </a:p>
          <a:p>
            <a:pPr>
              <a:buFont typeface="Wingdings" pitchFamily="2" charset="2"/>
              <a:buChar char="v"/>
            </a:pPr>
            <a:r>
              <a:rPr lang="en-US" dirty="0"/>
              <a:t>pain or irritation where the medicine was injected,</a:t>
            </a:r>
          </a:p>
          <a:p>
            <a:pPr>
              <a:buFont typeface="Wingdings" pitchFamily="2" charset="2"/>
              <a:buChar char="v"/>
            </a:pPr>
            <a:r>
              <a:rPr lang="en-US" dirty="0"/>
              <a:t>agitation or tremors (shaking),</a:t>
            </a:r>
          </a:p>
          <a:p>
            <a:pPr>
              <a:buFont typeface="Wingdings" pitchFamily="2" charset="2"/>
              <a:buChar char="v"/>
            </a:pPr>
            <a:r>
              <a:rPr lang="en-US" dirty="0"/>
              <a:t>flushing (warmth, redness, or tingly feeling under your skin),</a:t>
            </a:r>
          </a:p>
          <a:p>
            <a:pPr>
              <a:buFont typeface="Wingdings" pitchFamily="2" charset="2"/>
              <a:buChar char="v"/>
            </a:pPr>
            <a:r>
              <a:rPr lang="en-US" dirty="0"/>
              <a:t>dizziness,</a:t>
            </a:r>
          </a:p>
          <a:p>
            <a:pPr>
              <a:buFont typeface="Wingdings" pitchFamily="2" charset="2"/>
              <a:buChar char="v"/>
            </a:pPr>
            <a:r>
              <a:rPr lang="en-US" dirty="0"/>
              <a:t>sweating or shivering,</a:t>
            </a:r>
          </a:p>
          <a:p>
            <a:pPr>
              <a:buFont typeface="Wingdings" pitchFamily="2" charset="2"/>
              <a:buChar char="v"/>
            </a:pPr>
            <a:r>
              <a:rPr lang="en-US" dirty="0"/>
              <a:t>headache,</a:t>
            </a:r>
          </a:p>
          <a:p>
            <a:pPr>
              <a:buFont typeface="Wingdings" pitchFamily="2" charset="2"/>
              <a:buChar char="v"/>
            </a:pPr>
            <a:r>
              <a:rPr lang="en-US" dirty="0"/>
              <a:t>blurred vision, or.</a:t>
            </a:r>
          </a:p>
          <a:p>
            <a:pPr>
              <a:buFont typeface="Wingdings" pitchFamily="2" charset="2"/>
              <a:buChar char="v"/>
            </a:pPr>
            <a:r>
              <a:rPr lang="en-US" dirty="0"/>
              <a:t>ringing in your ears.</a:t>
            </a:r>
          </a:p>
          <a:p>
            <a:pPr>
              <a:buNone/>
            </a:pPr>
            <a:r>
              <a:rPr lang="en-US" dirty="0" smtClean="0"/>
              <a:t/>
            </a:r>
            <a:br>
              <a:rPr lang="en-US" dirty="0" smtClean="0"/>
            </a:b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1074</TotalTime>
  <Words>1591</Words>
  <Application>Microsoft Office PowerPoint</Application>
  <PresentationFormat>On-screen Show (4:3)</PresentationFormat>
  <Paragraphs>247</Paragraphs>
  <Slides>48</Slides>
  <Notes>0</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Module</vt:lpstr>
      <vt:lpstr>ANXIOLYTIC AND HYPNOTIC DRUGS</vt:lpstr>
      <vt:lpstr>ANXIETY DISORDERS</vt:lpstr>
      <vt:lpstr>ANXIETY DISORDERS</vt:lpstr>
      <vt:lpstr>NEUROCHEMICAL BASIS OF ANXIETY DISORDERS</vt:lpstr>
      <vt:lpstr>NEUROCHEMICAL BASIS OF ANXIETY DISORDERS</vt:lpstr>
      <vt:lpstr>NEUROCHEMICAL BASIS OF ANXIETY DISORDERS</vt:lpstr>
      <vt:lpstr>NEUROCHEMICAL BASIS OF ANXIETY DISORDERS</vt:lpstr>
      <vt:lpstr>NEUROCHEMICAL BASIS OF ANXIETY DISORDERS</vt:lpstr>
      <vt:lpstr>TYPES OF ANXIETY DISORDERS</vt:lpstr>
      <vt:lpstr>TYPES OF ANXIETY DISORDERS</vt:lpstr>
      <vt:lpstr>TYPES OF ANXIETY DISORDERS</vt:lpstr>
      <vt:lpstr>TYPES OF ANXIETY DISORDERS</vt:lpstr>
      <vt:lpstr>TYPES OF ANXIETY DISORDERS</vt:lpstr>
      <vt:lpstr>TYPES OF ANXIETY DISORDERS</vt:lpstr>
      <vt:lpstr>TYPES OF ANXIETY DISORDERS</vt:lpstr>
      <vt:lpstr>SYMPTOMS OF ANXIETY DISORDERS</vt:lpstr>
      <vt:lpstr>SYMPTOMS OF ANXIETY DISORDERS</vt:lpstr>
      <vt:lpstr>RISK FACTORS</vt:lpstr>
      <vt:lpstr>RISK FACTORS</vt:lpstr>
      <vt:lpstr>COMPLICATIONS </vt:lpstr>
      <vt:lpstr>COMPLICATIONS </vt:lpstr>
      <vt:lpstr>PREVENTION </vt:lpstr>
      <vt:lpstr>TREATMENT OF ANXIETY DISORDERS</vt:lpstr>
      <vt:lpstr>TREATMENT OF ANXIETY DISORDERS</vt:lpstr>
      <vt:lpstr>TREATMENT OF ANXIETY DISORDERS</vt:lpstr>
      <vt:lpstr>TREATMENT OF ANXIETY DISORDERS</vt:lpstr>
      <vt:lpstr>PHARMACOTHERAPY: ANXIOLYTICS</vt:lpstr>
      <vt:lpstr>CLASSIFICATIONS</vt:lpstr>
      <vt:lpstr>CLASSIFICATIONS</vt:lpstr>
      <vt:lpstr>CLASSIFICATIONS</vt:lpstr>
      <vt:lpstr>CLASSIFICATIONS</vt:lpstr>
      <vt:lpstr>CLASSIFICATIONS</vt:lpstr>
      <vt:lpstr>CLASSIFICATIONS</vt:lpstr>
      <vt:lpstr>BENZODIAZEPINES</vt:lpstr>
      <vt:lpstr>MECHANISM OF ACTION</vt:lpstr>
      <vt:lpstr>MECHANISM OF ACTION</vt:lpstr>
      <vt:lpstr>PHARMACOLOGICAL ACTIONS</vt:lpstr>
      <vt:lpstr>PHARMACOLOGICAL ACTIONS</vt:lpstr>
      <vt:lpstr>PHARMACOLOGICAL ACTIONS</vt:lpstr>
      <vt:lpstr>PHARMACOLOGICAL ACTIONS</vt:lpstr>
      <vt:lpstr>PHARMACOLOGICAL ACTIONS</vt:lpstr>
      <vt:lpstr>PHARMACOKINETICS</vt:lpstr>
      <vt:lpstr>INDICATIONS</vt:lpstr>
      <vt:lpstr>UNWANTED EFFECTS</vt:lpstr>
      <vt:lpstr>Toxic effect (overdose) </vt:lpstr>
      <vt:lpstr>Side effects (Therapeutic dose) </vt:lpstr>
      <vt:lpstr>BENZODIAZEPINES ANTAGONISTS</vt:lpstr>
      <vt:lpstr>SIDE EFFECTS OF FLUMAZENIL</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ANXIOLYTIC AND HYPNOTIC DRUGS</dc:title>
  <dc:creator>user</dc:creator>
  <cp:lastModifiedBy>user</cp:lastModifiedBy>
  <cp:revision>54</cp:revision>
  <dcterms:created xsi:type="dcterms:W3CDTF">2021-06-06T09:10:18Z</dcterms:created>
  <dcterms:modified xsi:type="dcterms:W3CDTF">2025-11-04T13:49:09Z</dcterms:modified>
</cp:coreProperties>
</file>